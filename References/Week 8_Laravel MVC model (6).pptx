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5" r:id="rId1"/>
  </p:sldMasterIdLst>
  <p:sldIdLst>
    <p:sldId id="257" r:id="rId2"/>
    <p:sldId id="296" r:id="rId3"/>
    <p:sldId id="278" r:id="rId4"/>
    <p:sldId id="274" r:id="rId5"/>
    <p:sldId id="275" r:id="rId6"/>
    <p:sldId id="276" r:id="rId7"/>
    <p:sldId id="273" r:id="rId8"/>
    <p:sldId id="279" r:id="rId9"/>
    <p:sldId id="287" r:id="rId10"/>
    <p:sldId id="294" r:id="rId11"/>
    <p:sldId id="299" r:id="rId12"/>
    <p:sldId id="290" r:id="rId13"/>
    <p:sldId id="302" r:id="rId14"/>
    <p:sldId id="291" r:id="rId15"/>
    <p:sldId id="300" r:id="rId16"/>
    <p:sldId id="297" r:id="rId17"/>
    <p:sldId id="29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55"/>
    <p:restoredTop sz="95833"/>
  </p:normalViewPr>
  <p:slideViewPr>
    <p:cSldViewPr snapToGrid="0" snapToObjects="1">
      <p:cViewPr varScale="1">
        <p:scale>
          <a:sx n="108" d="100"/>
          <a:sy n="108" d="100"/>
        </p:scale>
        <p:origin x="208" y="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93F31F-4CB8-4AF7-88B4-B73FE033570D}"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28A18807-2BAA-4016-9FC6-3F382BCB620D}">
      <dgm:prSet/>
      <dgm:spPr/>
      <dgm:t>
        <a:bodyPr/>
        <a:lstStyle/>
        <a:p>
          <a:r>
            <a:rPr lang="en-MY"/>
            <a:t>If you go to an e-commerce website, the different pages you see are provided by the View layer. </a:t>
          </a:r>
          <a:endParaRPr lang="en-US"/>
        </a:p>
      </dgm:t>
    </dgm:pt>
    <dgm:pt modelId="{5FD40BF5-C02E-40FE-8795-23D82D762925}" type="parTrans" cxnId="{17C10896-9607-4D29-A47C-676DD666C06B}">
      <dgm:prSet/>
      <dgm:spPr/>
      <dgm:t>
        <a:bodyPr/>
        <a:lstStyle/>
        <a:p>
          <a:endParaRPr lang="en-US"/>
        </a:p>
      </dgm:t>
    </dgm:pt>
    <dgm:pt modelId="{FD5360CA-EAB7-49B3-84FB-A325FAD36941}" type="sibTrans" cxnId="{17C10896-9607-4D29-A47C-676DD666C06B}">
      <dgm:prSet/>
      <dgm:spPr/>
      <dgm:t>
        <a:bodyPr/>
        <a:lstStyle/>
        <a:p>
          <a:endParaRPr lang="en-US"/>
        </a:p>
      </dgm:t>
    </dgm:pt>
    <dgm:pt modelId="{002D4029-AB7B-4820-A884-2AF57681F597}">
      <dgm:prSet/>
      <dgm:spPr/>
      <dgm:t>
        <a:bodyPr/>
        <a:lstStyle/>
        <a:p>
          <a:r>
            <a:rPr lang="en-MY"/>
            <a:t>When you click on a particular product to view more, the Controller layer processes the user’s action. </a:t>
          </a:r>
          <a:endParaRPr lang="en-US"/>
        </a:p>
      </dgm:t>
    </dgm:pt>
    <dgm:pt modelId="{14B1D6FE-C47E-4F8B-9C93-BE92D5F2874F}" type="parTrans" cxnId="{EC587D5E-2157-4BE2-9194-E82D9643AD1A}">
      <dgm:prSet/>
      <dgm:spPr/>
      <dgm:t>
        <a:bodyPr/>
        <a:lstStyle/>
        <a:p>
          <a:endParaRPr lang="en-US"/>
        </a:p>
      </dgm:t>
    </dgm:pt>
    <dgm:pt modelId="{CD6D7320-776C-40B4-8F63-4A1A89BB1D23}" type="sibTrans" cxnId="{EC587D5E-2157-4BE2-9194-E82D9643AD1A}">
      <dgm:prSet/>
      <dgm:spPr/>
      <dgm:t>
        <a:bodyPr/>
        <a:lstStyle/>
        <a:p>
          <a:endParaRPr lang="en-US"/>
        </a:p>
      </dgm:t>
    </dgm:pt>
    <dgm:pt modelId="{95C83987-B37A-4833-A77A-A6BBCDA0107B}">
      <dgm:prSet/>
      <dgm:spPr/>
      <dgm:t>
        <a:bodyPr/>
        <a:lstStyle/>
        <a:p>
          <a:r>
            <a:rPr lang="en-MY"/>
            <a:t>This may involve getting data from a data source using the Model layer.</a:t>
          </a:r>
          <a:endParaRPr lang="en-US"/>
        </a:p>
      </dgm:t>
    </dgm:pt>
    <dgm:pt modelId="{23F611A0-47E9-4B65-956C-BA45ED33769A}" type="parTrans" cxnId="{B89BABC9-A2E0-4D70-8505-EF11E6639BE6}">
      <dgm:prSet/>
      <dgm:spPr/>
      <dgm:t>
        <a:bodyPr/>
        <a:lstStyle/>
        <a:p>
          <a:endParaRPr lang="en-US"/>
        </a:p>
      </dgm:t>
    </dgm:pt>
    <dgm:pt modelId="{D370DF8F-C988-40A1-98DA-01B6AC07AD25}" type="sibTrans" cxnId="{B89BABC9-A2E0-4D70-8505-EF11E6639BE6}">
      <dgm:prSet/>
      <dgm:spPr/>
      <dgm:t>
        <a:bodyPr/>
        <a:lstStyle/>
        <a:p>
          <a:endParaRPr lang="en-US"/>
        </a:p>
      </dgm:t>
    </dgm:pt>
    <dgm:pt modelId="{42D83805-4788-41ED-9241-3D200C596CDF}">
      <dgm:prSet/>
      <dgm:spPr/>
      <dgm:t>
        <a:bodyPr/>
        <a:lstStyle/>
        <a:p>
          <a:r>
            <a:rPr lang="en-MY"/>
            <a:t>The data is then bundled up together and arranged in a View layer and displayed to the user. </a:t>
          </a:r>
          <a:endParaRPr lang="en-US"/>
        </a:p>
      </dgm:t>
    </dgm:pt>
    <dgm:pt modelId="{2080E0E8-BF32-465A-A0A0-238CAF5DC1AD}" type="parTrans" cxnId="{33B92048-7840-4C7F-A3B7-8B6805CD0FA8}">
      <dgm:prSet/>
      <dgm:spPr/>
      <dgm:t>
        <a:bodyPr/>
        <a:lstStyle/>
        <a:p>
          <a:endParaRPr lang="en-US"/>
        </a:p>
      </dgm:t>
    </dgm:pt>
    <dgm:pt modelId="{BAA1D7C1-5516-4DC5-BC2C-3C8797170D85}" type="sibTrans" cxnId="{33B92048-7840-4C7F-A3B7-8B6805CD0FA8}">
      <dgm:prSet/>
      <dgm:spPr/>
      <dgm:t>
        <a:bodyPr/>
        <a:lstStyle/>
        <a:p>
          <a:endParaRPr lang="en-US"/>
        </a:p>
      </dgm:t>
    </dgm:pt>
    <dgm:pt modelId="{1069286B-62D2-499A-BED0-872C3025BDAE}" type="pres">
      <dgm:prSet presAssocID="{9693F31F-4CB8-4AF7-88B4-B73FE033570D}" presName="root" presStyleCnt="0">
        <dgm:presLayoutVars>
          <dgm:dir/>
          <dgm:resizeHandles val="exact"/>
        </dgm:presLayoutVars>
      </dgm:prSet>
      <dgm:spPr/>
    </dgm:pt>
    <dgm:pt modelId="{3D4C27FC-9887-4D4B-824B-66C6D8D2D170}" type="pres">
      <dgm:prSet presAssocID="{28A18807-2BAA-4016-9FC6-3F382BCB620D}" presName="compNode" presStyleCnt="0"/>
      <dgm:spPr/>
    </dgm:pt>
    <dgm:pt modelId="{91090423-CE04-40AD-9C57-BB363535574B}" type="pres">
      <dgm:prSet presAssocID="{28A18807-2BAA-4016-9FC6-3F382BCB620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59FB63AD-1978-4C02-BD76-3D8ED8360731}" type="pres">
      <dgm:prSet presAssocID="{28A18807-2BAA-4016-9FC6-3F382BCB620D}" presName="spaceRect" presStyleCnt="0"/>
      <dgm:spPr/>
    </dgm:pt>
    <dgm:pt modelId="{30CD598D-1E16-49E3-946D-CEE04FD2CBEC}" type="pres">
      <dgm:prSet presAssocID="{28A18807-2BAA-4016-9FC6-3F382BCB620D}" presName="textRect" presStyleLbl="revTx" presStyleIdx="0" presStyleCnt="4">
        <dgm:presLayoutVars>
          <dgm:chMax val="1"/>
          <dgm:chPref val="1"/>
        </dgm:presLayoutVars>
      </dgm:prSet>
      <dgm:spPr/>
    </dgm:pt>
    <dgm:pt modelId="{677AAE59-97AA-4BDF-BA0B-D9DD452FDD7B}" type="pres">
      <dgm:prSet presAssocID="{FD5360CA-EAB7-49B3-84FB-A325FAD36941}" presName="sibTrans" presStyleCnt="0"/>
      <dgm:spPr/>
    </dgm:pt>
    <dgm:pt modelId="{69312B44-F2BB-47A3-8E1C-9E16C4AE43F3}" type="pres">
      <dgm:prSet presAssocID="{002D4029-AB7B-4820-A884-2AF57681F597}" presName="compNode" presStyleCnt="0"/>
      <dgm:spPr/>
    </dgm:pt>
    <dgm:pt modelId="{590525CD-919E-4FA6-A437-F7E481F752EC}" type="pres">
      <dgm:prSet presAssocID="{002D4029-AB7B-4820-A884-2AF57681F59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me controller"/>
        </a:ext>
      </dgm:extLst>
    </dgm:pt>
    <dgm:pt modelId="{DCD32937-5233-4B93-A58A-0C908894AD86}" type="pres">
      <dgm:prSet presAssocID="{002D4029-AB7B-4820-A884-2AF57681F597}" presName="spaceRect" presStyleCnt="0"/>
      <dgm:spPr/>
    </dgm:pt>
    <dgm:pt modelId="{6073DE12-1CA4-464E-8BBF-3C36DA5CE6E5}" type="pres">
      <dgm:prSet presAssocID="{002D4029-AB7B-4820-A884-2AF57681F597}" presName="textRect" presStyleLbl="revTx" presStyleIdx="1" presStyleCnt="4">
        <dgm:presLayoutVars>
          <dgm:chMax val="1"/>
          <dgm:chPref val="1"/>
        </dgm:presLayoutVars>
      </dgm:prSet>
      <dgm:spPr/>
    </dgm:pt>
    <dgm:pt modelId="{F2C9FE73-48CF-46C7-B2AE-E9372A644A6C}" type="pres">
      <dgm:prSet presAssocID="{CD6D7320-776C-40B4-8F63-4A1A89BB1D23}" presName="sibTrans" presStyleCnt="0"/>
      <dgm:spPr/>
    </dgm:pt>
    <dgm:pt modelId="{E72BA2FE-AB11-4701-9487-BEDB6850E1B6}" type="pres">
      <dgm:prSet presAssocID="{95C83987-B37A-4833-A77A-A6BBCDA0107B}" presName="compNode" presStyleCnt="0"/>
      <dgm:spPr/>
    </dgm:pt>
    <dgm:pt modelId="{9A383777-8212-452E-BB6C-E581D4B9EFE1}" type="pres">
      <dgm:prSet presAssocID="{95C83987-B37A-4833-A77A-A6BBCDA0107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rver"/>
        </a:ext>
      </dgm:extLst>
    </dgm:pt>
    <dgm:pt modelId="{62CBC115-CC87-4C09-AB12-2212404B95A4}" type="pres">
      <dgm:prSet presAssocID="{95C83987-B37A-4833-A77A-A6BBCDA0107B}" presName="spaceRect" presStyleCnt="0"/>
      <dgm:spPr/>
    </dgm:pt>
    <dgm:pt modelId="{BEFB49D9-F724-46A4-8412-8147F02AFA51}" type="pres">
      <dgm:prSet presAssocID="{95C83987-B37A-4833-A77A-A6BBCDA0107B}" presName="textRect" presStyleLbl="revTx" presStyleIdx="2" presStyleCnt="4">
        <dgm:presLayoutVars>
          <dgm:chMax val="1"/>
          <dgm:chPref val="1"/>
        </dgm:presLayoutVars>
      </dgm:prSet>
      <dgm:spPr/>
    </dgm:pt>
    <dgm:pt modelId="{557DE5EE-EE1F-4C78-8719-B8BC52398118}" type="pres">
      <dgm:prSet presAssocID="{D370DF8F-C988-40A1-98DA-01B6AC07AD25}" presName="sibTrans" presStyleCnt="0"/>
      <dgm:spPr/>
    </dgm:pt>
    <dgm:pt modelId="{2B497590-A047-4599-8324-CEA0E536617F}" type="pres">
      <dgm:prSet presAssocID="{42D83805-4788-41ED-9241-3D200C596CDF}" presName="compNode" presStyleCnt="0"/>
      <dgm:spPr/>
    </dgm:pt>
    <dgm:pt modelId="{5320AB12-C670-4E87-8822-D0AD86AF19B4}" type="pres">
      <dgm:prSet presAssocID="{42D83805-4788-41ED-9241-3D200C596CD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owchart"/>
        </a:ext>
      </dgm:extLst>
    </dgm:pt>
    <dgm:pt modelId="{334C2412-4755-4125-AED4-8B1556018BB3}" type="pres">
      <dgm:prSet presAssocID="{42D83805-4788-41ED-9241-3D200C596CDF}" presName="spaceRect" presStyleCnt="0"/>
      <dgm:spPr/>
    </dgm:pt>
    <dgm:pt modelId="{E399DE65-E5B3-4BC9-9E1B-D4D14F965A07}" type="pres">
      <dgm:prSet presAssocID="{42D83805-4788-41ED-9241-3D200C596CDF}" presName="textRect" presStyleLbl="revTx" presStyleIdx="3" presStyleCnt="4">
        <dgm:presLayoutVars>
          <dgm:chMax val="1"/>
          <dgm:chPref val="1"/>
        </dgm:presLayoutVars>
      </dgm:prSet>
      <dgm:spPr/>
    </dgm:pt>
  </dgm:ptLst>
  <dgm:cxnLst>
    <dgm:cxn modelId="{33B92048-7840-4C7F-A3B7-8B6805CD0FA8}" srcId="{9693F31F-4CB8-4AF7-88B4-B73FE033570D}" destId="{42D83805-4788-41ED-9241-3D200C596CDF}" srcOrd="3" destOrd="0" parTransId="{2080E0E8-BF32-465A-A0A0-238CAF5DC1AD}" sibTransId="{BAA1D7C1-5516-4DC5-BC2C-3C8797170D85}"/>
    <dgm:cxn modelId="{390F9851-D174-4177-B4A8-B9B9D44DFC24}" type="presOf" srcId="{95C83987-B37A-4833-A77A-A6BBCDA0107B}" destId="{BEFB49D9-F724-46A4-8412-8147F02AFA51}" srcOrd="0" destOrd="0" presId="urn:microsoft.com/office/officeart/2018/2/layout/IconLabelList"/>
    <dgm:cxn modelId="{EC587D5E-2157-4BE2-9194-E82D9643AD1A}" srcId="{9693F31F-4CB8-4AF7-88B4-B73FE033570D}" destId="{002D4029-AB7B-4820-A884-2AF57681F597}" srcOrd="1" destOrd="0" parTransId="{14B1D6FE-C47E-4F8B-9C93-BE92D5F2874F}" sibTransId="{CD6D7320-776C-40B4-8F63-4A1A89BB1D23}"/>
    <dgm:cxn modelId="{D7BFF281-814A-4E7D-B6B1-D0BE235AD902}" type="presOf" srcId="{002D4029-AB7B-4820-A884-2AF57681F597}" destId="{6073DE12-1CA4-464E-8BBF-3C36DA5CE6E5}" srcOrd="0" destOrd="0" presId="urn:microsoft.com/office/officeart/2018/2/layout/IconLabelList"/>
    <dgm:cxn modelId="{17C10896-9607-4D29-A47C-676DD666C06B}" srcId="{9693F31F-4CB8-4AF7-88B4-B73FE033570D}" destId="{28A18807-2BAA-4016-9FC6-3F382BCB620D}" srcOrd="0" destOrd="0" parTransId="{5FD40BF5-C02E-40FE-8795-23D82D762925}" sibTransId="{FD5360CA-EAB7-49B3-84FB-A325FAD36941}"/>
    <dgm:cxn modelId="{FC469F9C-31FB-4876-851E-39F23B6EAF74}" type="presOf" srcId="{42D83805-4788-41ED-9241-3D200C596CDF}" destId="{E399DE65-E5B3-4BC9-9E1B-D4D14F965A07}" srcOrd="0" destOrd="0" presId="urn:microsoft.com/office/officeart/2018/2/layout/IconLabelList"/>
    <dgm:cxn modelId="{49B194A3-F9CC-47B1-8166-B433300144F6}" type="presOf" srcId="{28A18807-2BAA-4016-9FC6-3F382BCB620D}" destId="{30CD598D-1E16-49E3-946D-CEE04FD2CBEC}" srcOrd="0" destOrd="0" presId="urn:microsoft.com/office/officeart/2018/2/layout/IconLabelList"/>
    <dgm:cxn modelId="{B89BABC9-A2E0-4D70-8505-EF11E6639BE6}" srcId="{9693F31F-4CB8-4AF7-88B4-B73FE033570D}" destId="{95C83987-B37A-4833-A77A-A6BBCDA0107B}" srcOrd="2" destOrd="0" parTransId="{23F611A0-47E9-4B65-956C-BA45ED33769A}" sibTransId="{D370DF8F-C988-40A1-98DA-01B6AC07AD25}"/>
    <dgm:cxn modelId="{35F54DE4-ECB6-41DE-828F-BEACE1E4B633}" type="presOf" srcId="{9693F31F-4CB8-4AF7-88B4-B73FE033570D}" destId="{1069286B-62D2-499A-BED0-872C3025BDAE}" srcOrd="0" destOrd="0" presId="urn:microsoft.com/office/officeart/2018/2/layout/IconLabelList"/>
    <dgm:cxn modelId="{E468FF0B-E0D2-4667-A3C3-EC03F85B9DD6}" type="presParOf" srcId="{1069286B-62D2-499A-BED0-872C3025BDAE}" destId="{3D4C27FC-9887-4D4B-824B-66C6D8D2D170}" srcOrd="0" destOrd="0" presId="urn:microsoft.com/office/officeart/2018/2/layout/IconLabelList"/>
    <dgm:cxn modelId="{75A0E744-1797-4C94-A495-F638A37114B6}" type="presParOf" srcId="{3D4C27FC-9887-4D4B-824B-66C6D8D2D170}" destId="{91090423-CE04-40AD-9C57-BB363535574B}" srcOrd="0" destOrd="0" presId="urn:microsoft.com/office/officeart/2018/2/layout/IconLabelList"/>
    <dgm:cxn modelId="{45F85930-3DFF-4528-84B5-B6FECBE24833}" type="presParOf" srcId="{3D4C27FC-9887-4D4B-824B-66C6D8D2D170}" destId="{59FB63AD-1978-4C02-BD76-3D8ED8360731}" srcOrd="1" destOrd="0" presId="urn:microsoft.com/office/officeart/2018/2/layout/IconLabelList"/>
    <dgm:cxn modelId="{18066492-6773-467F-B6C2-FA63241B047D}" type="presParOf" srcId="{3D4C27FC-9887-4D4B-824B-66C6D8D2D170}" destId="{30CD598D-1E16-49E3-946D-CEE04FD2CBEC}" srcOrd="2" destOrd="0" presId="urn:microsoft.com/office/officeart/2018/2/layout/IconLabelList"/>
    <dgm:cxn modelId="{9517E4BC-8C08-4D29-9B85-1476BD611545}" type="presParOf" srcId="{1069286B-62D2-499A-BED0-872C3025BDAE}" destId="{677AAE59-97AA-4BDF-BA0B-D9DD452FDD7B}" srcOrd="1" destOrd="0" presId="urn:microsoft.com/office/officeart/2018/2/layout/IconLabelList"/>
    <dgm:cxn modelId="{BF3C93F0-EDE0-4146-9F48-B0AB46500CC5}" type="presParOf" srcId="{1069286B-62D2-499A-BED0-872C3025BDAE}" destId="{69312B44-F2BB-47A3-8E1C-9E16C4AE43F3}" srcOrd="2" destOrd="0" presId="urn:microsoft.com/office/officeart/2018/2/layout/IconLabelList"/>
    <dgm:cxn modelId="{54B4E3E3-DF1D-45E4-96F6-D59F1A350FE7}" type="presParOf" srcId="{69312B44-F2BB-47A3-8E1C-9E16C4AE43F3}" destId="{590525CD-919E-4FA6-A437-F7E481F752EC}" srcOrd="0" destOrd="0" presId="urn:microsoft.com/office/officeart/2018/2/layout/IconLabelList"/>
    <dgm:cxn modelId="{EBB6E164-D562-4AC4-99DF-D20577E0BD29}" type="presParOf" srcId="{69312B44-F2BB-47A3-8E1C-9E16C4AE43F3}" destId="{DCD32937-5233-4B93-A58A-0C908894AD86}" srcOrd="1" destOrd="0" presId="urn:microsoft.com/office/officeart/2018/2/layout/IconLabelList"/>
    <dgm:cxn modelId="{A579D5D3-B346-41D5-9F18-9A7A20D95079}" type="presParOf" srcId="{69312B44-F2BB-47A3-8E1C-9E16C4AE43F3}" destId="{6073DE12-1CA4-464E-8BBF-3C36DA5CE6E5}" srcOrd="2" destOrd="0" presId="urn:microsoft.com/office/officeart/2018/2/layout/IconLabelList"/>
    <dgm:cxn modelId="{036525F8-D05F-442F-8622-185E54C5387E}" type="presParOf" srcId="{1069286B-62D2-499A-BED0-872C3025BDAE}" destId="{F2C9FE73-48CF-46C7-B2AE-E9372A644A6C}" srcOrd="3" destOrd="0" presId="urn:microsoft.com/office/officeart/2018/2/layout/IconLabelList"/>
    <dgm:cxn modelId="{19B8F704-1D8A-45CE-B706-06C654F86379}" type="presParOf" srcId="{1069286B-62D2-499A-BED0-872C3025BDAE}" destId="{E72BA2FE-AB11-4701-9487-BEDB6850E1B6}" srcOrd="4" destOrd="0" presId="urn:microsoft.com/office/officeart/2018/2/layout/IconLabelList"/>
    <dgm:cxn modelId="{18C7197D-44B5-4021-9AD1-38E2A650A369}" type="presParOf" srcId="{E72BA2FE-AB11-4701-9487-BEDB6850E1B6}" destId="{9A383777-8212-452E-BB6C-E581D4B9EFE1}" srcOrd="0" destOrd="0" presId="urn:microsoft.com/office/officeart/2018/2/layout/IconLabelList"/>
    <dgm:cxn modelId="{CC04B9AD-868A-43FC-BC52-C1F251D3A067}" type="presParOf" srcId="{E72BA2FE-AB11-4701-9487-BEDB6850E1B6}" destId="{62CBC115-CC87-4C09-AB12-2212404B95A4}" srcOrd="1" destOrd="0" presId="urn:microsoft.com/office/officeart/2018/2/layout/IconLabelList"/>
    <dgm:cxn modelId="{D8DB0E0C-89ED-40F9-B35C-23574890925C}" type="presParOf" srcId="{E72BA2FE-AB11-4701-9487-BEDB6850E1B6}" destId="{BEFB49D9-F724-46A4-8412-8147F02AFA51}" srcOrd="2" destOrd="0" presId="urn:microsoft.com/office/officeart/2018/2/layout/IconLabelList"/>
    <dgm:cxn modelId="{FEFDC498-25EA-4E34-9F1E-BBF6067DD874}" type="presParOf" srcId="{1069286B-62D2-499A-BED0-872C3025BDAE}" destId="{557DE5EE-EE1F-4C78-8719-B8BC52398118}" srcOrd="5" destOrd="0" presId="urn:microsoft.com/office/officeart/2018/2/layout/IconLabelList"/>
    <dgm:cxn modelId="{9572A9F8-CE51-4754-9C31-BF68F49DC030}" type="presParOf" srcId="{1069286B-62D2-499A-BED0-872C3025BDAE}" destId="{2B497590-A047-4599-8324-CEA0E536617F}" srcOrd="6" destOrd="0" presId="urn:microsoft.com/office/officeart/2018/2/layout/IconLabelList"/>
    <dgm:cxn modelId="{85AF61CA-BCA1-4D5C-902B-D62DBED973EA}" type="presParOf" srcId="{2B497590-A047-4599-8324-CEA0E536617F}" destId="{5320AB12-C670-4E87-8822-D0AD86AF19B4}" srcOrd="0" destOrd="0" presId="urn:microsoft.com/office/officeart/2018/2/layout/IconLabelList"/>
    <dgm:cxn modelId="{CFF3E1B0-FDAF-4D1E-A5FA-7FE6DDD42BA1}" type="presParOf" srcId="{2B497590-A047-4599-8324-CEA0E536617F}" destId="{334C2412-4755-4125-AED4-8B1556018BB3}" srcOrd="1" destOrd="0" presId="urn:microsoft.com/office/officeart/2018/2/layout/IconLabelList"/>
    <dgm:cxn modelId="{2557867C-2284-4E07-BD8E-7EC8D848A359}" type="presParOf" srcId="{2B497590-A047-4599-8324-CEA0E536617F}" destId="{E399DE65-E5B3-4BC9-9E1B-D4D14F965A07}"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D73DD2-D079-4C95-9F3C-CCAA0A37F058}"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4CE6C0F0-A142-4E4D-8DC5-D16035F0B416}">
      <dgm:prSet/>
      <dgm:spPr/>
      <dgm:t>
        <a:bodyPr/>
        <a:lstStyle/>
        <a:p>
          <a:r>
            <a:rPr lang="en-US"/>
            <a:t>&lt;h1&gt; Home&lt;/h1&gt;</a:t>
          </a:r>
        </a:p>
      </dgm:t>
    </dgm:pt>
    <dgm:pt modelId="{9E16C012-7D28-4C58-B49C-A7A53870DE58}" type="parTrans" cxnId="{9B71CB03-4809-4EB5-88BD-1C7C71CE7A13}">
      <dgm:prSet/>
      <dgm:spPr/>
      <dgm:t>
        <a:bodyPr/>
        <a:lstStyle/>
        <a:p>
          <a:endParaRPr lang="en-US"/>
        </a:p>
      </dgm:t>
    </dgm:pt>
    <dgm:pt modelId="{D9C8AD60-ECA4-498A-9A63-A7D474872CDC}" type="sibTrans" cxnId="{9B71CB03-4809-4EB5-88BD-1C7C71CE7A13}">
      <dgm:prSet/>
      <dgm:spPr/>
      <dgm:t>
        <a:bodyPr/>
        <a:lstStyle/>
        <a:p>
          <a:endParaRPr lang="en-US"/>
        </a:p>
      </dgm:t>
    </dgm:pt>
    <dgm:pt modelId="{D0B796EB-9AEC-44D2-9104-C039CC3E66BC}">
      <dgm:prSet/>
      <dgm:spPr/>
      <dgm:t>
        <a:bodyPr/>
        <a:lstStyle/>
        <a:p>
          <a:r>
            <a:rPr lang="en-US"/>
            <a:t>&lt;a href=”URL"&gt; About&lt;/a&gt; &lt;br&gt;</a:t>
          </a:r>
        </a:p>
      </dgm:t>
    </dgm:pt>
    <dgm:pt modelId="{706F54EA-B5AA-4213-9F1F-EEF1F44466F6}" type="parTrans" cxnId="{F9523F01-5892-42A2-8031-91F0A1DEABC5}">
      <dgm:prSet/>
      <dgm:spPr/>
      <dgm:t>
        <a:bodyPr/>
        <a:lstStyle/>
        <a:p>
          <a:endParaRPr lang="en-US"/>
        </a:p>
      </dgm:t>
    </dgm:pt>
    <dgm:pt modelId="{8B208521-03BC-4DB1-8533-A344B5549973}" type="sibTrans" cxnId="{F9523F01-5892-42A2-8031-91F0A1DEABC5}">
      <dgm:prSet/>
      <dgm:spPr/>
      <dgm:t>
        <a:bodyPr/>
        <a:lstStyle/>
        <a:p>
          <a:endParaRPr lang="en-US"/>
        </a:p>
      </dgm:t>
    </dgm:pt>
    <dgm:pt modelId="{9107B911-D7C9-4B7F-869A-EA2BB1060302}">
      <dgm:prSet/>
      <dgm:spPr/>
      <dgm:t>
        <a:bodyPr/>
        <a:lstStyle/>
        <a:p>
          <a:r>
            <a:rPr lang="en-US"/>
            <a:t>&lt;a href="contact"&gt; Contact&lt;/a&gt; &lt;br&gt;</a:t>
          </a:r>
        </a:p>
      </dgm:t>
    </dgm:pt>
    <dgm:pt modelId="{A2592920-026A-4050-9DA1-7A654C4C62ED}" type="parTrans" cxnId="{2E0D456D-07DF-4629-9AF0-7557D9B1FA7C}">
      <dgm:prSet/>
      <dgm:spPr/>
      <dgm:t>
        <a:bodyPr/>
        <a:lstStyle/>
        <a:p>
          <a:endParaRPr lang="en-US"/>
        </a:p>
      </dgm:t>
    </dgm:pt>
    <dgm:pt modelId="{6C7F1E64-2532-42A6-B9DD-DD534768C2B1}" type="sibTrans" cxnId="{2E0D456D-07DF-4629-9AF0-7557D9B1FA7C}">
      <dgm:prSet/>
      <dgm:spPr/>
      <dgm:t>
        <a:bodyPr/>
        <a:lstStyle/>
        <a:p>
          <a:endParaRPr lang="en-US"/>
        </a:p>
      </dgm:t>
    </dgm:pt>
    <dgm:pt modelId="{ECEA0C6D-EAB2-48C2-AB99-DA4C72222676}" type="pres">
      <dgm:prSet presAssocID="{E7D73DD2-D079-4C95-9F3C-CCAA0A37F058}" presName="root" presStyleCnt="0">
        <dgm:presLayoutVars>
          <dgm:dir/>
          <dgm:resizeHandles val="exact"/>
        </dgm:presLayoutVars>
      </dgm:prSet>
      <dgm:spPr/>
    </dgm:pt>
    <dgm:pt modelId="{E0871ED7-8D85-4DDE-B562-736BC003E846}" type="pres">
      <dgm:prSet presAssocID="{4CE6C0F0-A142-4E4D-8DC5-D16035F0B416}" presName="compNode" presStyleCnt="0"/>
      <dgm:spPr/>
    </dgm:pt>
    <dgm:pt modelId="{5915AE9C-08F0-4487-84A1-4577E6D6562C}" type="pres">
      <dgm:prSet presAssocID="{4CE6C0F0-A142-4E4D-8DC5-D16035F0B41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me"/>
        </a:ext>
      </dgm:extLst>
    </dgm:pt>
    <dgm:pt modelId="{84E17DED-C362-4B56-A526-437DBBA02A57}" type="pres">
      <dgm:prSet presAssocID="{4CE6C0F0-A142-4E4D-8DC5-D16035F0B416}" presName="spaceRect" presStyleCnt="0"/>
      <dgm:spPr/>
    </dgm:pt>
    <dgm:pt modelId="{91437BE4-82F0-46BC-BCC5-C3D3B4C6DD54}" type="pres">
      <dgm:prSet presAssocID="{4CE6C0F0-A142-4E4D-8DC5-D16035F0B416}" presName="textRect" presStyleLbl="revTx" presStyleIdx="0" presStyleCnt="3">
        <dgm:presLayoutVars>
          <dgm:chMax val="1"/>
          <dgm:chPref val="1"/>
        </dgm:presLayoutVars>
      </dgm:prSet>
      <dgm:spPr/>
    </dgm:pt>
    <dgm:pt modelId="{024BE85A-392A-4B07-A1DF-CF47F6DAEA17}" type="pres">
      <dgm:prSet presAssocID="{D9C8AD60-ECA4-498A-9A63-A7D474872CDC}" presName="sibTrans" presStyleCnt="0"/>
      <dgm:spPr/>
    </dgm:pt>
    <dgm:pt modelId="{034C2BC8-9462-4848-8AB2-BBB1904F2650}" type="pres">
      <dgm:prSet presAssocID="{D0B796EB-9AEC-44D2-9104-C039CC3E66BC}" presName="compNode" presStyleCnt="0"/>
      <dgm:spPr/>
    </dgm:pt>
    <dgm:pt modelId="{830B31A6-3E5F-4C7A-9E14-B7936DD5809F}" type="pres">
      <dgm:prSet presAssocID="{D0B796EB-9AEC-44D2-9104-C039CC3E66B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lter"/>
        </a:ext>
      </dgm:extLst>
    </dgm:pt>
    <dgm:pt modelId="{1C696450-3837-4B56-BFCE-965F96D34CE1}" type="pres">
      <dgm:prSet presAssocID="{D0B796EB-9AEC-44D2-9104-C039CC3E66BC}" presName="spaceRect" presStyleCnt="0"/>
      <dgm:spPr/>
    </dgm:pt>
    <dgm:pt modelId="{01536C2E-47BA-4BD0-94DE-F11FA1B0A1E1}" type="pres">
      <dgm:prSet presAssocID="{D0B796EB-9AEC-44D2-9104-C039CC3E66BC}" presName="textRect" presStyleLbl="revTx" presStyleIdx="1" presStyleCnt="3">
        <dgm:presLayoutVars>
          <dgm:chMax val="1"/>
          <dgm:chPref val="1"/>
        </dgm:presLayoutVars>
      </dgm:prSet>
      <dgm:spPr/>
    </dgm:pt>
    <dgm:pt modelId="{FF38488D-77DA-43DB-913C-3DD1DBD88A43}" type="pres">
      <dgm:prSet presAssocID="{8B208521-03BC-4DB1-8533-A344B5549973}" presName="sibTrans" presStyleCnt="0"/>
      <dgm:spPr/>
    </dgm:pt>
    <dgm:pt modelId="{58CC6009-37A1-47B2-A793-EE50BA6773F1}" type="pres">
      <dgm:prSet presAssocID="{9107B911-D7C9-4B7F-869A-EA2BB1060302}" presName="compNode" presStyleCnt="0"/>
      <dgm:spPr/>
    </dgm:pt>
    <dgm:pt modelId="{55317912-37D3-4F79-87FA-185928EA73AB}" type="pres">
      <dgm:prSet presAssocID="{9107B911-D7C9-4B7F-869A-EA2BB106030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ffice Worker"/>
        </a:ext>
      </dgm:extLst>
    </dgm:pt>
    <dgm:pt modelId="{65E7C948-D471-4211-B063-9D405017F68E}" type="pres">
      <dgm:prSet presAssocID="{9107B911-D7C9-4B7F-869A-EA2BB1060302}" presName="spaceRect" presStyleCnt="0"/>
      <dgm:spPr/>
    </dgm:pt>
    <dgm:pt modelId="{CB08B37A-7BA8-453C-8139-7DEEBA5573BA}" type="pres">
      <dgm:prSet presAssocID="{9107B911-D7C9-4B7F-869A-EA2BB1060302}" presName="textRect" presStyleLbl="revTx" presStyleIdx="2" presStyleCnt="3">
        <dgm:presLayoutVars>
          <dgm:chMax val="1"/>
          <dgm:chPref val="1"/>
        </dgm:presLayoutVars>
      </dgm:prSet>
      <dgm:spPr/>
    </dgm:pt>
  </dgm:ptLst>
  <dgm:cxnLst>
    <dgm:cxn modelId="{F9523F01-5892-42A2-8031-91F0A1DEABC5}" srcId="{E7D73DD2-D079-4C95-9F3C-CCAA0A37F058}" destId="{D0B796EB-9AEC-44D2-9104-C039CC3E66BC}" srcOrd="1" destOrd="0" parTransId="{706F54EA-B5AA-4213-9F1F-EEF1F44466F6}" sibTransId="{8B208521-03BC-4DB1-8533-A344B5549973}"/>
    <dgm:cxn modelId="{9B71CB03-4809-4EB5-88BD-1C7C71CE7A13}" srcId="{E7D73DD2-D079-4C95-9F3C-CCAA0A37F058}" destId="{4CE6C0F0-A142-4E4D-8DC5-D16035F0B416}" srcOrd="0" destOrd="0" parTransId="{9E16C012-7D28-4C58-B49C-A7A53870DE58}" sibTransId="{D9C8AD60-ECA4-498A-9A63-A7D474872CDC}"/>
    <dgm:cxn modelId="{44702038-CBEB-40BA-87FC-CB309119A876}" type="presOf" srcId="{9107B911-D7C9-4B7F-869A-EA2BB1060302}" destId="{CB08B37A-7BA8-453C-8139-7DEEBA5573BA}" srcOrd="0" destOrd="0" presId="urn:microsoft.com/office/officeart/2018/2/layout/IconLabelList"/>
    <dgm:cxn modelId="{2E0D456D-07DF-4629-9AF0-7557D9B1FA7C}" srcId="{E7D73DD2-D079-4C95-9F3C-CCAA0A37F058}" destId="{9107B911-D7C9-4B7F-869A-EA2BB1060302}" srcOrd="2" destOrd="0" parTransId="{A2592920-026A-4050-9DA1-7A654C4C62ED}" sibTransId="{6C7F1E64-2532-42A6-B9DD-DD534768C2B1}"/>
    <dgm:cxn modelId="{F58FA182-A1C9-40AB-9344-9D7AA71F57FA}" type="presOf" srcId="{4CE6C0F0-A142-4E4D-8DC5-D16035F0B416}" destId="{91437BE4-82F0-46BC-BCC5-C3D3B4C6DD54}" srcOrd="0" destOrd="0" presId="urn:microsoft.com/office/officeart/2018/2/layout/IconLabelList"/>
    <dgm:cxn modelId="{31CC8094-E30C-4703-8F21-AA850DE31898}" type="presOf" srcId="{E7D73DD2-D079-4C95-9F3C-CCAA0A37F058}" destId="{ECEA0C6D-EAB2-48C2-AB99-DA4C72222676}" srcOrd="0" destOrd="0" presId="urn:microsoft.com/office/officeart/2018/2/layout/IconLabelList"/>
    <dgm:cxn modelId="{DBBAFDC3-A865-4BF1-B642-533D566668E8}" type="presOf" srcId="{D0B796EB-9AEC-44D2-9104-C039CC3E66BC}" destId="{01536C2E-47BA-4BD0-94DE-F11FA1B0A1E1}" srcOrd="0" destOrd="0" presId="urn:microsoft.com/office/officeart/2018/2/layout/IconLabelList"/>
    <dgm:cxn modelId="{E5C1850F-8BC3-4C4D-AE29-E6E28FF383D3}" type="presParOf" srcId="{ECEA0C6D-EAB2-48C2-AB99-DA4C72222676}" destId="{E0871ED7-8D85-4DDE-B562-736BC003E846}" srcOrd="0" destOrd="0" presId="urn:microsoft.com/office/officeart/2018/2/layout/IconLabelList"/>
    <dgm:cxn modelId="{36F5471D-14FD-4DA6-95A8-316C9C16CD1B}" type="presParOf" srcId="{E0871ED7-8D85-4DDE-B562-736BC003E846}" destId="{5915AE9C-08F0-4487-84A1-4577E6D6562C}" srcOrd="0" destOrd="0" presId="urn:microsoft.com/office/officeart/2018/2/layout/IconLabelList"/>
    <dgm:cxn modelId="{728CB1C8-1C62-4722-8E4B-080E9DFB9170}" type="presParOf" srcId="{E0871ED7-8D85-4DDE-B562-736BC003E846}" destId="{84E17DED-C362-4B56-A526-437DBBA02A57}" srcOrd="1" destOrd="0" presId="urn:microsoft.com/office/officeart/2018/2/layout/IconLabelList"/>
    <dgm:cxn modelId="{6FCE48F3-A546-41B8-B1A1-04ECDF9829BA}" type="presParOf" srcId="{E0871ED7-8D85-4DDE-B562-736BC003E846}" destId="{91437BE4-82F0-46BC-BCC5-C3D3B4C6DD54}" srcOrd="2" destOrd="0" presId="urn:microsoft.com/office/officeart/2018/2/layout/IconLabelList"/>
    <dgm:cxn modelId="{F6931FDC-D908-4D67-B85A-6ECCFE891190}" type="presParOf" srcId="{ECEA0C6D-EAB2-48C2-AB99-DA4C72222676}" destId="{024BE85A-392A-4B07-A1DF-CF47F6DAEA17}" srcOrd="1" destOrd="0" presId="urn:microsoft.com/office/officeart/2018/2/layout/IconLabelList"/>
    <dgm:cxn modelId="{27C2B69F-0C77-4C39-B442-95A019A505F1}" type="presParOf" srcId="{ECEA0C6D-EAB2-48C2-AB99-DA4C72222676}" destId="{034C2BC8-9462-4848-8AB2-BBB1904F2650}" srcOrd="2" destOrd="0" presId="urn:microsoft.com/office/officeart/2018/2/layout/IconLabelList"/>
    <dgm:cxn modelId="{07E97069-0A05-4C62-8562-9890C0E1D8F8}" type="presParOf" srcId="{034C2BC8-9462-4848-8AB2-BBB1904F2650}" destId="{830B31A6-3E5F-4C7A-9E14-B7936DD5809F}" srcOrd="0" destOrd="0" presId="urn:microsoft.com/office/officeart/2018/2/layout/IconLabelList"/>
    <dgm:cxn modelId="{4EC6B6AA-266B-42E9-AE13-4B3F92F3331F}" type="presParOf" srcId="{034C2BC8-9462-4848-8AB2-BBB1904F2650}" destId="{1C696450-3837-4B56-BFCE-965F96D34CE1}" srcOrd="1" destOrd="0" presId="urn:microsoft.com/office/officeart/2018/2/layout/IconLabelList"/>
    <dgm:cxn modelId="{12029805-BB51-4533-A275-511DB8485642}" type="presParOf" srcId="{034C2BC8-9462-4848-8AB2-BBB1904F2650}" destId="{01536C2E-47BA-4BD0-94DE-F11FA1B0A1E1}" srcOrd="2" destOrd="0" presId="urn:microsoft.com/office/officeart/2018/2/layout/IconLabelList"/>
    <dgm:cxn modelId="{B34B7C07-F93E-44D3-8DFD-74535AFEFD80}" type="presParOf" srcId="{ECEA0C6D-EAB2-48C2-AB99-DA4C72222676}" destId="{FF38488D-77DA-43DB-913C-3DD1DBD88A43}" srcOrd="3" destOrd="0" presId="urn:microsoft.com/office/officeart/2018/2/layout/IconLabelList"/>
    <dgm:cxn modelId="{BE559F25-5C84-4670-A268-7E6C763BD9BE}" type="presParOf" srcId="{ECEA0C6D-EAB2-48C2-AB99-DA4C72222676}" destId="{58CC6009-37A1-47B2-A793-EE50BA6773F1}" srcOrd="4" destOrd="0" presId="urn:microsoft.com/office/officeart/2018/2/layout/IconLabelList"/>
    <dgm:cxn modelId="{511EEEEC-03C5-463D-96B0-9CC9CF645C47}" type="presParOf" srcId="{58CC6009-37A1-47B2-A793-EE50BA6773F1}" destId="{55317912-37D3-4F79-87FA-185928EA73AB}" srcOrd="0" destOrd="0" presId="urn:microsoft.com/office/officeart/2018/2/layout/IconLabelList"/>
    <dgm:cxn modelId="{76210535-B99C-425F-90E1-4CA6F34E4A92}" type="presParOf" srcId="{58CC6009-37A1-47B2-A793-EE50BA6773F1}" destId="{65E7C948-D471-4211-B063-9D405017F68E}" srcOrd="1" destOrd="0" presId="urn:microsoft.com/office/officeart/2018/2/layout/IconLabelList"/>
    <dgm:cxn modelId="{BD36145A-AB94-403F-9802-7B9568DC2E85}" type="presParOf" srcId="{58CC6009-37A1-47B2-A793-EE50BA6773F1}" destId="{CB08B37A-7BA8-453C-8139-7DEEBA5573BA}"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090423-CE04-40AD-9C57-BB363535574B}">
      <dsp:nvSpPr>
        <dsp:cNvPr id="0" name=""/>
        <dsp:cNvSpPr/>
      </dsp:nvSpPr>
      <dsp:spPr>
        <a:xfrm>
          <a:off x="938775" y="840541"/>
          <a:ext cx="926133" cy="9261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0CD598D-1E16-49E3-946D-CEE04FD2CBEC}">
      <dsp:nvSpPr>
        <dsp:cNvPr id="0" name=""/>
        <dsp:cNvSpPr/>
      </dsp:nvSpPr>
      <dsp:spPr>
        <a:xfrm>
          <a:off x="372805" y="2057303"/>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MY" sz="1200" kern="1200"/>
            <a:t>If you go to an e-commerce website, the different pages you see are provided by the View layer. </a:t>
          </a:r>
          <a:endParaRPr lang="en-US" sz="1200" kern="1200"/>
        </a:p>
      </dsp:txBody>
      <dsp:txXfrm>
        <a:off x="372805" y="2057303"/>
        <a:ext cx="2058075" cy="720000"/>
      </dsp:txXfrm>
    </dsp:sp>
    <dsp:sp modelId="{590525CD-919E-4FA6-A437-F7E481F752EC}">
      <dsp:nvSpPr>
        <dsp:cNvPr id="0" name=""/>
        <dsp:cNvSpPr/>
      </dsp:nvSpPr>
      <dsp:spPr>
        <a:xfrm>
          <a:off x="3357014" y="840541"/>
          <a:ext cx="926133" cy="9261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73DE12-1CA4-464E-8BBF-3C36DA5CE6E5}">
      <dsp:nvSpPr>
        <dsp:cNvPr id="0" name=""/>
        <dsp:cNvSpPr/>
      </dsp:nvSpPr>
      <dsp:spPr>
        <a:xfrm>
          <a:off x="2791043" y="2057303"/>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MY" sz="1200" kern="1200"/>
            <a:t>When you click on a particular product to view more, the Controller layer processes the user’s action. </a:t>
          </a:r>
          <a:endParaRPr lang="en-US" sz="1200" kern="1200"/>
        </a:p>
      </dsp:txBody>
      <dsp:txXfrm>
        <a:off x="2791043" y="2057303"/>
        <a:ext cx="2058075" cy="720000"/>
      </dsp:txXfrm>
    </dsp:sp>
    <dsp:sp modelId="{9A383777-8212-452E-BB6C-E581D4B9EFE1}">
      <dsp:nvSpPr>
        <dsp:cNvPr id="0" name=""/>
        <dsp:cNvSpPr/>
      </dsp:nvSpPr>
      <dsp:spPr>
        <a:xfrm>
          <a:off x="5775252" y="840541"/>
          <a:ext cx="926133" cy="9261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FB49D9-F724-46A4-8412-8147F02AFA51}">
      <dsp:nvSpPr>
        <dsp:cNvPr id="0" name=""/>
        <dsp:cNvSpPr/>
      </dsp:nvSpPr>
      <dsp:spPr>
        <a:xfrm>
          <a:off x="5209281" y="2057303"/>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MY" sz="1200" kern="1200"/>
            <a:t>This may involve getting data from a data source using the Model layer.</a:t>
          </a:r>
          <a:endParaRPr lang="en-US" sz="1200" kern="1200"/>
        </a:p>
      </dsp:txBody>
      <dsp:txXfrm>
        <a:off x="5209281" y="2057303"/>
        <a:ext cx="2058075" cy="720000"/>
      </dsp:txXfrm>
    </dsp:sp>
    <dsp:sp modelId="{5320AB12-C670-4E87-8822-D0AD86AF19B4}">
      <dsp:nvSpPr>
        <dsp:cNvPr id="0" name=""/>
        <dsp:cNvSpPr/>
      </dsp:nvSpPr>
      <dsp:spPr>
        <a:xfrm>
          <a:off x="8193490" y="840541"/>
          <a:ext cx="926133" cy="92613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99DE65-E5B3-4BC9-9E1B-D4D14F965A07}">
      <dsp:nvSpPr>
        <dsp:cNvPr id="0" name=""/>
        <dsp:cNvSpPr/>
      </dsp:nvSpPr>
      <dsp:spPr>
        <a:xfrm>
          <a:off x="7627519" y="2057303"/>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MY" sz="1200" kern="1200"/>
            <a:t>The data is then bundled up together and arranged in a View layer and displayed to the user. </a:t>
          </a:r>
          <a:endParaRPr lang="en-US" sz="1200" kern="1200"/>
        </a:p>
      </dsp:txBody>
      <dsp:txXfrm>
        <a:off x="7627519" y="2057303"/>
        <a:ext cx="2058075"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15AE9C-08F0-4487-84A1-4577E6D6562C}">
      <dsp:nvSpPr>
        <dsp:cNvPr id="0" name=""/>
        <dsp:cNvSpPr/>
      </dsp:nvSpPr>
      <dsp:spPr>
        <a:xfrm>
          <a:off x="1063980" y="635603"/>
          <a:ext cx="1274535" cy="12745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437BE4-82F0-46BC-BCC5-C3D3B4C6DD54}">
      <dsp:nvSpPr>
        <dsp:cNvPr id="0" name=""/>
        <dsp:cNvSpPr/>
      </dsp:nvSpPr>
      <dsp:spPr>
        <a:xfrm>
          <a:off x="285097"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&lt;h1&gt; Home&lt;/h1&gt;</a:t>
          </a:r>
        </a:p>
      </dsp:txBody>
      <dsp:txXfrm>
        <a:off x="285097" y="2262241"/>
        <a:ext cx="2832300" cy="720000"/>
      </dsp:txXfrm>
    </dsp:sp>
    <dsp:sp modelId="{830B31A6-3E5F-4C7A-9E14-B7936DD5809F}">
      <dsp:nvSpPr>
        <dsp:cNvPr id="0" name=""/>
        <dsp:cNvSpPr/>
      </dsp:nvSpPr>
      <dsp:spPr>
        <a:xfrm>
          <a:off x="4391932" y="635603"/>
          <a:ext cx="1274535" cy="12745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536C2E-47BA-4BD0-94DE-F11FA1B0A1E1}">
      <dsp:nvSpPr>
        <dsp:cNvPr id="0" name=""/>
        <dsp:cNvSpPr/>
      </dsp:nvSpPr>
      <dsp:spPr>
        <a:xfrm>
          <a:off x="3613050"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&lt;a href=”URL"&gt; About&lt;/a&gt; &lt;br&gt;</a:t>
          </a:r>
        </a:p>
      </dsp:txBody>
      <dsp:txXfrm>
        <a:off x="3613050" y="2262241"/>
        <a:ext cx="2832300" cy="720000"/>
      </dsp:txXfrm>
    </dsp:sp>
    <dsp:sp modelId="{55317912-37D3-4F79-87FA-185928EA73AB}">
      <dsp:nvSpPr>
        <dsp:cNvPr id="0" name=""/>
        <dsp:cNvSpPr/>
      </dsp:nvSpPr>
      <dsp:spPr>
        <a:xfrm>
          <a:off x="7719885" y="635603"/>
          <a:ext cx="1274535" cy="12745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08B37A-7BA8-453C-8139-7DEEBA5573BA}">
      <dsp:nvSpPr>
        <dsp:cNvPr id="0" name=""/>
        <dsp:cNvSpPr/>
      </dsp:nvSpPr>
      <dsp:spPr>
        <a:xfrm>
          <a:off x="6941002" y="2262241"/>
          <a:ext cx="2832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&lt;a href="contact"&gt; Contact&lt;/a&gt; &lt;br&gt;</a:t>
          </a:r>
        </a:p>
      </dsp:txBody>
      <dsp:txXfrm>
        <a:off x="6941002" y="2262241"/>
        <a:ext cx="28323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GB"/>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4DA93AD-4AAB-354D-B39C-AA59DBCD400A}"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FDD0C4B2-057A-4D45-BE47-9368B5F12AC5}" type="slidenum">
              <a:rPr lang="en-US" smtClean="0"/>
              <a:t>‹#›</a:t>
            </a:fld>
            <a:endParaRPr lang="en-US"/>
          </a:p>
        </p:txBody>
      </p:sp>
    </p:spTree>
    <p:extLst>
      <p:ext uri="{BB962C8B-B14F-4D97-AF65-F5344CB8AC3E}">
        <p14:creationId xmlns:p14="http://schemas.microsoft.com/office/powerpoint/2010/main" val="4026998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4DA93AD-4AAB-354D-B39C-AA59DBCD400A}"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D0C4B2-057A-4D45-BE47-9368B5F12AC5}" type="slidenum">
              <a:rPr lang="en-US" smtClean="0"/>
              <a:t>‹#›</a:t>
            </a:fld>
            <a:endParaRPr lang="en-US"/>
          </a:p>
        </p:txBody>
      </p:sp>
    </p:spTree>
    <p:extLst>
      <p:ext uri="{BB962C8B-B14F-4D97-AF65-F5344CB8AC3E}">
        <p14:creationId xmlns:p14="http://schemas.microsoft.com/office/powerpoint/2010/main" val="3478641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GB"/>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74DA93AD-4AAB-354D-B39C-AA59DBCD400A}" type="datetimeFigureOut">
              <a:rPr lang="en-US" smtClean="0"/>
              <a:t>4/13/26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FDD0C4B2-057A-4D45-BE47-9368B5F12AC5}" type="slidenum">
              <a:rPr lang="en-US" smtClean="0"/>
              <a:t>‹#›</a:t>
            </a:fld>
            <a:endParaRPr lang="en-US"/>
          </a:p>
        </p:txBody>
      </p:sp>
    </p:spTree>
    <p:extLst>
      <p:ext uri="{BB962C8B-B14F-4D97-AF65-F5344CB8AC3E}">
        <p14:creationId xmlns:p14="http://schemas.microsoft.com/office/powerpoint/2010/main" val="3724477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4DA93AD-4AAB-354D-B39C-AA59DBCD400A}"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D0C4B2-057A-4D45-BE47-9368B5F12AC5}" type="slidenum">
              <a:rPr lang="en-US" smtClean="0"/>
              <a:t>‹#›</a:t>
            </a:fld>
            <a:endParaRPr lang="en-US"/>
          </a:p>
        </p:txBody>
      </p:sp>
    </p:spTree>
    <p:extLst>
      <p:ext uri="{BB962C8B-B14F-4D97-AF65-F5344CB8AC3E}">
        <p14:creationId xmlns:p14="http://schemas.microsoft.com/office/powerpoint/2010/main" val="668928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4DA93AD-4AAB-354D-B39C-AA59DBCD400A}" type="datetimeFigureOut">
              <a:rPr lang="en-US" smtClean="0"/>
              <a:t>4/13/26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D0C4B2-057A-4D45-BE47-9368B5F12AC5}" type="slidenum">
              <a:rPr lang="en-US" smtClean="0"/>
              <a:t>‹#›</a:t>
            </a:fld>
            <a:endParaRPr lang="en-US"/>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4175156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4DA93AD-4AAB-354D-B39C-AA59DBCD400A}" type="datetimeFigureOut">
              <a:rPr lang="en-US" smtClean="0"/>
              <a:t>4/13/26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D0C4B2-057A-4D45-BE47-9368B5F12AC5}" type="slidenum">
              <a:rPr lang="en-US" smtClean="0"/>
              <a:t>‹#›</a:t>
            </a:fld>
            <a:endParaRPr lang="en-US"/>
          </a:p>
        </p:txBody>
      </p:sp>
      <p:sp>
        <p:nvSpPr>
          <p:cNvPr id="6" name="Title 5"/>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224239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DA93AD-4AAB-354D-B39C-AA59DBCD400A}" type="datetimeFigureOut">
              <a:rPr lang="en-US" smtClean="0"/>
              <a:t>4/13/26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D0C4B2-057A-4D45-BE47-9368B5F12AC5}" type="slidenum">
              <a:rPr lang="en-US" smtClean="0"/>
              <a:t>‹#›</a:t>
            </a:fld>
            <a:endParaRPr lang="en-US"/>
          </a:p>
        </p:txBody>
      </p:sp>
    </p:spTree>
    <p:extLst>
      <p:ext uri="{BB962C8B-B14F-4D97-AF65-F5344CB8AC3E}">
        <p14:creationId xmlns:p14="http://schemas.microsoft.com/office/powerpoint/2010/main" val="2673743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4DA93AD-4AAB-354D-B39C-AA59DBCD400A}"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FDD0C4B2-057A-4D45-BE47-9368B5F12AC5}" type="slidenum">
              <a:rPr lang="en-US" smtClean="0"/>
              <a:t>‹#›</a:t>
            </a:fld>
            <a:endParaRPr lang="en-US"/>
          </a:p>
        </p:txBody>
      </p:sp>
    </p:spTree>
    <p:extLst>
      <p:ext uri="{BB962C8B-B14F-4D97-AF65-F5344CB8AC3E}">
        <p14:creationId xmlns:p14="http://schemas.microsoft.com/office/powerpoint/2010/main" val="3251738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4DA93AD-4AAB-354D-B39C-AA59DBCD400A}" type="datetimeFigureOut">
              <a:rPr lang="en-US" smtClean="0"/>
              <a:t>4/13/26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FDD0C4B2-057A-4D45-BE47-9368B5F12AC5}" type="slidenum">
              <a:rPr lang="en-US" smtClean="0"/>
              <a:t>‹#›</a:t>
            </a:fld>
            <a:endParaRPr lang="en-US"/>
          </a:p>
        </p:txBody>
      </p:sp>
    </p:spTree>
    <p:extLst>
      <p:ext uri="{BB962C8B-B14F-4D97-AF65-F5344CB8AC3E}">
        <p14:creationId xmlns:p14="http://schemas.microsoft.com/office/powerpoint/2010/main" val="2862786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4DA93AD-4AAB-354D-B39C-AA59DBCD400A}"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D0C4B2-057A-4D45-BE47-9368B5F12AC5}" type="slidenum">
              <a:rPr lang="en-US" smtClean="0"/>
              <a:t>‹#›</a:t>
            </a:fld>
            <a:endParaRPr lang="en-US"/>
          </a:p>
        </p:txBody>
      </p:sp>
    </p:spTree>
    <p:extLst>
      <p:ext uri="{BB962C8B-B14F-4D97-AF65-F5344CB8AC3E}">
        <p14:creationId xmlns:p14="http://schemas.microsoft.com/office/powerpoint/2010/main" val="2637842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4DA93AD-4AAB-354D-B39C-AA59DBCD400A}"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D0C4B2-057A-4D45-BE47-9368B5F12AC5}" type="slidenum">
              <a:rPr lang="en-US" smtClean="0"/>
              <a:t>‹#›</a:t>
            </a:fld>
            <a:endParaRPr lang="en-US"/>
          </a:p>
        </p:txBody>
      </p:sp>
    </p:spTree>
    <p:extLst>
      <p:ext uri="{BB962C8B-B14F-4D97-AF65-F5344CB8AC3E}">
        <p14:creationId xmlns:p14="http://schemas.microsoft.com/office/powerpoint/2010/main" val="3797910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74DA93AD-4AAB-354D-B39C-AA59DBCD400A}" type="datetimeFigureOut">
              <a:rPr lang="en-US" smtClean="0"/>
              <a:t>4/13/26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FDD0C4B2-057A-4D45-BE47-9368B5F12AC5}" type="slidenum">
              <a:rPr lang="en-US" smtClean="0"/>
              <a:t>‹#›</a:t>
            </a:fld>
            <a:endParaRPr lang="en-US"/>
          </a:p>
        </p:txBody>
      </p:sp>
    </p:spTree>
    <p:extLst>
      <p:ext uri="{BB962C8B-B14F-4D97-AF65-F5344CB8AC3E}">
        <p14:creationId xmlns:p14="http://schemas.microsoft.com/office/powerpoint/2010/main" val="3912113327"/>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07/relationships/hdphoto" Target="../media/hdphoto2.wdp"/><Relationship Id="rId7" Type="http://schemas.openxmlformats.org/officeDocument/2006/relationships/diagramColors" Target="../diagrams/colors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2.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3.emf"/><Relationship Id="rId5" Type="http://schemas.microsoft.com/office/2007/relationships/hdphoto" Target="../media/hdphoto1.wdp"/><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microsoft.com/office/2007/relationships/diagramDrawing" Target="../diagrams/drawing2.xml"/><Relationship Id="rId3" Type="http://schemas.microsoft.com/office/2007/relationships/hdphoto" Target="../media/hdphoto2.wdp"/><Relationship Id="rId7" Type="http://schemas.openxmlformats.org/officeDocument/2006/relationships/diagramColors" Target="../diagrams/colors2.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7.xml.rels><?xml version="1.0" encoding="UTF-8" standalone="yes"?>
<Relationships xmlns="http://schemas.openxmlformats.org/package/2006/relationships"><Relationship Id="rId2" Type="http://schemas.openxmlformats.org/officeDocument/2006/relationships/image" Target="../media/image31.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8" name="Rectangle 2057">
            <a:extLst>
              <a:ext uri="{FF2B5EF4-FFF2-40B4-BE49-F238E27FC236}">
                <a16:creationId xmlns:a16="http://schemas.microsoft.com/office/drawing/2014/main" id="{EDF3BDB2-0586-430E-811A-74BAFDEE6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60" name="Rectangle 2059">
            <a:extLst>
              <a:ext uri="{FF2B5EF4-FFF2-40B4-BE49-F238E27FC236}">
                <a16:creationId xmlns:a16="http://schemas.microsoft.com/office/drawing/2014/main" id="{821E305B-0351-4E03-8C1B-F23D3A346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928117"/>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3C848660-F9C2-4F86-A218-6AE0FB4CC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1336" y="1110053"/>
            <a:ext cx="6630506"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2">
            <a:extLst>
              <a:ext uri="{FF2B5EF4-FFF2-40B4-BE49-F238E27FC236}">
                <a16:creationId xmlns:a16="http://schemas.microsoft.com/office/drawing/2014/main" id="{2C1E13E7-E118-C847-89B9-C478B24A64ED}"/>
              </a:ext>
            </a:extLst>
          </p:cNvPr>
          <p:cNvSpPr>
            <a:spLocks noGrp="1" noChangeArrowheads="1"/>
          </p:cNvSpPr>
          <p:nvPr>
            <p:ph type="ctrTitle"/>
          </p:nvPr>
        </p:nvSpPr>
        <p:spPr>
          <a:xfrm>
            <a:off x="4641336" y="1432223"/>
            <a:ext cx="6630506" cy="3357976"/>
          </a:xfrm>
        </p:spPr>
        <p:txBody>
          <a:bodyPr>
            <a:normAutofit fontScale="90000"/>
          </a:bodyPr>
          <a:lstStyle/>
          <a:p>
            <a:pPr>
              <a:defRPr/>
            </a:pPr>
            <a:r>
              <a:rPr lang="en-US" sz="5000" dirty="0"/>
              <a:t>BIIT 2305</a:t>
            </a:r>
            <a:br>
              <a:rPr lang="en-US" sz="5000" dirty="0"/>
            </a:br>
            <a:r>
              <a:rPr lang="en-US" sz="5000" dirty="0"/>
              <a:t>Web Application Development</a:t>
            </a:r>
            <a:br>
              <a:rPr lang="en-US" sz="5000" dirty="0"/>
            </a:br>
            <a:br>
              <a:rPr lang="en-US" sz="5000" dirty="0"/>
            </a:br>
            <a:r>
              <a:rPr lang="en-US" sz="5000" dirty="0"/>
              <a:t>Chapter 8: </a:t>
            </a:r>
            <a:r>
              <a:rPr lang="en-US" sz="5000" dirty="0" err="1"/>
              <a:t>laravel</a:t>
            </a:r>
            <a:r>
              <a:rPr lang="en-US" sz="5000" dirty="0"/>
              <a:t> </a:t>
            </a:r>
            <a:r>
              <a:rPr lang="en-US" sz="5000" dirty="0" err="1"/>
              <a:t>Mvc</a:t>
            </a:r>
            <a:r>
              <a:rPr lang="en-US" sz="5000" dirty="0"/>
              <a:t> model</a:t>
            </a:r>
          </a:p>
        </p:txBody>
      </p:sp>
      <p:sp>
        <p:nvSpPr>
          <p:cNvPr id="2064" name="Rectangle 2063">
            <a:extLst>
              <a:ext uri="{FF2B5EF4-FFF2-40B4-BE49-F238E27FC236}">
                <a16:creationId xmlns:a16="http://schemas.microsoft.com/office/drawing/2014/main" id="{5CABD882-B7CE-4433-B509-99205DB70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5780565"/>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66" name="Group 2065">
            <a:extLst>
              <a:ext uri="{FF2B5EF4-FFF2-40B4-BE49-F238E27FC236}">
                <a16:creationId xmlns:a16="http://schemas.microsoft.com/office/drawing/2014/main" id="{49F6A645-6137-4F43-8E88-D91CC337D5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2067" name="Oval 2066">
              <a:extLst>
                <a:ext uri="{FF2B5EF4-FFF2-40B4-BE49-F238E27FC236}">
                  <a16:creationId xmlns:a16="http://schemas.microsoft.com/office/drawing/2014/main" id="{3A2C783A-4EEE-481B-815A-A1BB14F4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068" name="Oval 2067">
              <a:extLst>
                <a:ext uri="{FF2B5EF4-FFF2-40B4-BE49-F238E27FC236}">
                  <a16:creationId xmlns:a16="http://schemas.microsoft.com/office/drawing/2014/main" id="{A0186437-0053-4886-B612-804E4DC90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051" name="Rectangle 3">
            <a:extLst>
              <a:ext uri="{FF2B5EF4-FFF2-40B4-BE49-F238E27FC236}">
                <a16:creationId xmlns:a16="http://schemas.microsoft.com/office/drawing/2014/main" id="{E22DE8B3-CCA4-DF4B-A7E7-BD5F9650A5F0}"/>
              </a:ext>
            </a:extLst>
          </p:cNvPr>
          <p:cNvSpPr>
            <a:spLocks noGrp="1" noChangeArrowheads="1"/>
          </p:cNvSpPr>
          <p:nvPr>
            <p:ph type="subTitle" idx="1"/>
          </p:nvPr>
        </p:nvSpPr>
        <p:spPr>
          <a:xfrm>
            <a:off x="4938490" y="4790198"/>
            <a:ext cx="6080030" cy="687058"/>
          </a:xfrm>
        </p:spPr>
        <p:txBody>
          <a:bodyPr rtlCol="0">
            <a:normAutofit fontScale="62500" lnSpcReduction="20000"/>
          </a:bodyPr>
          <a:lstStyle/>
          <a:p>
            <a:pPr>
              <a:defRPr/>
            </a:pPr>
            <a:r>
              <a:rPr lang="en-US" sz="500">
                <a:solidFill>
                  <a:srgbClr val="000000"/>
                </a:solidFill>
                <a:latin typeface="Arial" charset="0"/>
              </a:rPr>
              <a:t>Instructor :</a:t>
            </a:r>
          </a:p>
          <a:p>
            <a:pPr>
              <a:defRPr/>
            </a:pPr>
            <a:r>
              <a:rPr lang="en-US" sz="500">
                <a:solidFill>
                  <a:srgbClr val="000000"/>
                </a:solidFill>
                <a:latin typeface="Arial" charset="0"/>
              </a:rPr>
              <a:t>Dr. Najhan M. Ibrahim</a:t>
            </a:r>
          </a:p>
          <a:p>
            <a:pPr>
              <a:defRPr/>
            </a:pPr>
            <a:r>
              <a:rPr lang="en-US" sz="500">
                <a:solidFill>
                  <a:srgbClr val="000000"/>
                </a:solidFill>
                <a:latin typeface="Arial" charset="0"/>
              </a:rPr>
              <a:t>Department of Information Systems</a:t>
            </a:r>
          </a:p>
          <a:p>
            <a:pPr>
              <a:defRPr/>
            </a:pPr>
            <a:r>
              <a:rPr lang="en-US" sz="500">
                <a:solidFill>
                  <a:srgbClr val="000000"/>
                </a:solidFill>
                <a:latin typeface="Arial" charset="0"/>
              </a:rPr>
              <a:t>Kulliyyah of ICT, IIUM.</a:t>
            </a:r>
          </a:p>
        </p:txBody>
      </p:sp>
      <p:pic>
        <p:nvPicPr>
          <p:cNvPr id="2055" name="Graphic 2054" descr="Open Source">
            <a:extLst>
              <a:ext uri="{FF2B5EF4-FFF2-40B4-BE49-F238E27FC236}">
                <a16:creationId xmlns:a16="http://schemas.microsoft.com/office/drawing/2014/main" id="{FAF64847-DF33-8166-9F01-88E4526AA05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915" y="1686320"/>
            <a:ext cx="3416725" cy="3416725"/>
          </a:xfrm>
          <a:prstGeom prst="rect">
            <a:avLst/>
          </a:prstGeom>
        </p:spPr>
      </p:pic>
    </p:spTree>
    <p:extLst>
      <p:ext uri="{BB962C8B-B14F-4D97-AF65-F5344CB8AC3E}">
        <p14:creationId xmlns:p14="http://schemas.microsoft.com/office/powerpoint/2010/main" val="2324954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F6367A-3EAE-8A47-8351-EF7D12C5D158}"/>
              </a:ext>
            </a:extLst>
          </p:cNvPr>
          <p:cNvSpPr>
            <a:spLocks noGrp="1"/>
          </p:cNvSpPr>
          <p:nvPr>
            <p:ph type="title"/>
          </p:nvPr>
        </p:nvSpPr>
        <p:spPr>
          <a:xfrm>
            <a:off x="6587544" y="1382165"/>
            <a:ext cx="4869179" cy="1517984"/>
          </a:xfrm>
        </p:spPr>
        <p:txBody>
          <a:bodyPr>
            <a:normAutofit/>
          </a:bodyPr>
          <a:lstStyle/>
          <a:p>
            <a:r>
              <a:rPr lang="en-US" sz="4800">
                <a:solidFill>
                  <a:srgbClr val="000000"/>
                </a:solidFill>
                <a:highlight>
                  <a:srgbClr val="FFFF00"/>
                </a:highlight>
              </a:rPr>
              <a:t>outline</a:t>
            </a:r>
          </a:p>
        </p:txBody>
      </p:sp>
      <p:pic>
        <p:nvPicPr>
          <p:cNvPr id="5" name="Picture 4" descr="Colorful knotted rope">
            <a:extLst>
              <a:ext uri="{FF2B5EF4-FFF2-40B4-BE49-F238E27FC236}">
                <a16:creationId xmlns:a16="http://schemas.microsoft.com/office/drawing/2014/main" id="{F00AD692-4512-1409-6131-42C7DC77E6E9}"/>
              </a:ext>
            </a:extLst>
          </p:cNvPr>
          <p:cNvPicPr>
            <a:picLocks noChangeAspect="1"/>
          </p:cNvPicPr>
          <p:nvPr/>
        </p:nvPicPr>
        <p:blipFill>
          <a:blip r:embed="rId2"/>
          <a:srcRect l="16087" r="20681" b="1"/>
          <a:stretch>
            <a:fillRect/>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11" name="Freeform: Shape 10">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Content Placeholder 2">
            <a:extLst>
              <a:ext uri="{FF2B5EF4-FFF2-40B4-BE49-F238E27FC236}">
                <a16:creationId xmlns:a16="http://schemas.microsoft.com/office/drawing/2014/main" id="{279823BE-1FD2-E141-B65F-226DFB2BDBA2}"/>
              </a:ext>
            </a:extLst>
          </p:cNvPr>
          <p:cNvSpPr>
            <a:spLocks noGrp="1"/>
          </p:cNvSpPr>
          <p:nvPr>
            <p:ph idx="1"/>
          </p:nvPr>
        </p:nvSpPr>
        <p:spPr>
          <a:xfrm>
            <a:off x="6587545" y="3007389"/>
            <a:ext cx="4869179" cy="3065865"/>
          </a:xfrm>
        </p:spPr>
        <p:txBody>
          <a:bodyPr anchor="t">
            <a:normAutofit/>
          </a:bodyPr>
          <a:lstStyle/>
          <a:p>
            <a:pPr marL="0" indent="0">
              <a:buNone/>
            </a:pPr>
            <a:r>
              <a:rPr lang="en-US" sz="1800">
                <a:solidFill>
                  <a:srgbClr val="000000"/>
                </a:solidFill>
              </a:rPr>
              <a:t>1.  MVC concept</a:t>
            </a:r>
          </a:p>
          <a:p>
            <a:pPr marL="0" indent="0">
              <a:buNone/>
            </a:pPr>
            <a:endParaRPr lang="en-US" sz="1800">
              <a:solidFill>
                <a:srgbClr val="000000"/>
              </a:solidFill>
            </a:endParaRPr>
          </a:p>
          <a:p>
            <a:pPr marL="0" indent="0">
              <a:buNone/>
            </a:pPr>
            <a:r>
              <a:rPr lang="en-US" sz="1800">
                <a:solidFill>
                  <a:srgbClr val="000000"/>
                </a:solidFill>
              </a:rPr>
              <a:t>2. Route</a:t>
            </a:r>
          </a:p>
          <a:p>
            <a:r>
              <a:rPr lang="en-US" sz="1800">
                <a:solidFill>
                  <a:srgbClr val="000000"/>
                </a:solidFill>
              </a:rPr>
              <a:t>2.1 what is route</a:t>
            </a:r>
          </a:p>
          <a:p>
            <a:r>
              <a:rPr lang="en-US" sz="1800">
                <a:solidFill>
                  <a:srgbClr val="000000"/>
                </a:solidFill>
              </a:rPr>
              <a:t>2.2 How to make routing</a:t>
            </a:r>
          </a:p>
          <a:p>
            <a:r>
              <a:rPr lang="en-US" sz="1800">
                <a:solidFill>
                  <a:srgbClr val="000000"/>
                </a:solidFill>
              </a:rPr>
              <a:t>2.3 Anchor tag (linking page)</a:t>
            </a:r>
          </a:p>
          <a:p>
            <a:endParaRPr lang="en-US" sz="1800">
              <a:solidFill>
                <a:srgbClr val="000000"/>
              </a:solidFill>
            </a:endParaRPr>
          </a:p>
        </p:txBody>
      </p:sp>
      <p:grpSp>
        <p:nvGrpSpPr>
          <p:cNvPr id="13" name="Group 12">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5" name="Oval 14">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Tree>
    <p:extLst>
      <p:ext uri="{BB962C8B-B14F-4D97-AF65-F5344CB8AC3E}">
        <p14:creationId xmlns:p14="http://schemas.microsoft.com/office/powerpoint/2010/main" val="2004277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97106-321F-6E4E-8332-ACCA66AF8F83}"/>
              </a:ext>
            </a:extLst>
          </p:cNvPr>
          <p:cNvSpPr>
            <a:spLocks noGrp="1"/>
          </p:cNvSpPr>
          <p:nvPr>
            <p:ph type="title"/>
          </p:nvPr>
        </p:nvSpPr>
        <p:spPr>
          <a:xfrm>
            <a:off x="1069848" y="484632"/>
            <a:ext cx="10058400" cy="1609344"/>
          </a:xfrm>
        </p:spPr>
        <p:txBody>
          <a:bodyPr>
            <a:normAutofit/>
          </a:bodyPr>
          <a:lstStyle/>
          <a:p>
            <a:r>
              <a:rPr lang="en-US" dirty="0">
                <a:highlight>
                  <a:srgbClr val="FFFF00"/>
                </a:highlight>
              </a:rPr>
              <a:t>Laravel MVC Model</a:t>
            </a:r>
          </a:p>
        </p:txBody>
      </p:sp>
      <p:pic>
        <p:nvPicPr>
          <p:cNvPr id="4" name="Picture 3">
            <a:extLst>
              <a:ext uri="{FF2B5EF4-FFF2-40B4-BE49-F238E27FC236}">
                <a16:creationId xmlns:a16="http://schemas.microsoft.com/office/drawing/2014/main" id="{9A4608C3-150D-D644-ADA0-5FF39C27B564}"/>
              </a:ext>
            </a:extLst>
          </p:cNvPr>
          <p:cNvPicPr>
            <a:picLocks noChangeAspect="1"/>
          </p:cNvPicPr>
          <p:nvPr/>
        </p:nvPicPr>
        <p:blipFill>
          <a:blip r:embed="rId2"/>
          <a:stretch>
            <a:fillRect/>
          </a:stretch>
        </p:blipFill>
        <p:spPr>
          <a:xfrm>
            <a:off x="1063942" y="3188970"/>
            <a:ext cx="4773168" cy="1988820"/>
          </a:xfrm>
          <a:prstGeom prst="rect">
            <a:avLst/>
          </a:prstGeom>
        </p:spPr>
      </p:pic>
      <p:sp>
        <p:nvSpPr>
          <p:cNvPr id="3" name="Content Placeholder 2">
            <a:extLst>
              <a:ext uri="{FF2B5EF4-FFF2-40B4-BE49-F238E27FC236}">
                <a16:creationId xmlns:a16="http://schemas.microsoft.com/office/drawing/2014/main" id="{DC3C0D80-6E30-664E-80FF-6BC7A9C09A6A}"/>
              </a:ext>
            </a:extLst>
          </p:cNvPr>
          <p:cNvSpPr>
            <a:spLocks noGrp="1"/>
          </p:cNvSpPr>
          <p:nvPr>
            <p:ph idx="1"/>
          </p:nvPr>
        </p:nvSpPr>
        <p:spPr>
          <a:xfrm>
            <a:off x="6355080" y="2121408"/>
            <a:ext cx="4773168" cy="4050792"/>
          </a:xfrm>
        </p:spPr>
        <p:txBody>
          <a:bodyPr>
            <a:normAutofit/>
          </a:bodyPr>
          <a:lstStyle/>
          <a:p>
            <a:r>
              <a:rPr lang="en-US" dirty="0"/>
              <a:t>MVC is an acronym for ‘Model View Controller’. </a:t>
            </a:r>
          </a:p>
          <a:p>
            <a:endParaRPr lang="en-US" dirty="0"/>
          </a:p>
          <a:p>
            <a:r>
              <a:rPr lang="en-US" dirty="0"/>
              <a:t>It represents architecture adoption when building applications. </a:t>
            </a:r>
          </a:p>
          <a:p>
            <a:endParaRPr lang="en-US" dirty="0"/>
          </a:p>
          <a:p>
            <a:r>
              <a:rPr lang="en-US" dirty="0"/>
              <a:t>With the MVC architecture, we look at the application structure with regards to how the data flow of our application works. </a:t>
            </a:r>
          </a:p>
        </p:txBody>
      </p:sp>
    </p:spTree>
    <p:extLst>
      <p:ext uri="{BB962C8B-B14F-4D97-AF65-F5344CB8AC3E}">
        <p14:creationId xmlns:p14="http://schemas.microsoft.com/office/powerpoint/2010/main" val="2779576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9" name="Group 1038">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040" name="Oval 1039">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41" name="Oval 1040">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1043" name="Rectangle 1042">
            <a:extLst>
              <a:ext uri="{FF2B5EF4-FFF2-40B4-BE49-F238E27FC236}">
                <a16:creationId xmlns:a16="http://schemas.microsoft.com/office/drawing/2014/main" id="{0680B5D0-24EC-465A-A0E6-C4DF951E00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5" name="Rectangle 1044">
            <a:extLst>
              <a:ext uri="{FF2B5EF4-FFF2-40B4-BE49-F238E27FC236}">
                <a16:creationId xmlns:a16="http://schemas.microsoft.com/office/drawing/2014/main" id="{30BF1B50-A83E-4ED6-A2AA-C943C1F89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1F31E8B2-210B-4B90-83BB-3B180732E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5470" y="1110053"/>
            <a:ext cx="3386371"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0F99A6-7B0F-B74B-B782-F2A5BAEFE209}"/>
              </a:ext>
            </a:extLst>
          </p:cNvPr>
          <p:cNvSpPr>
            <a:spLocks noGrp="1"/>
          </p:cNvSpPr>
          <p:nvPr>
            <p:ph type="title"/>
          </p:nvPr>
        </p:nvSpPr>
        <p:spPr>
          <a:xfrm>
            <a:off x="8200102" y="1432223"/>
            <a:ext cx="2818417" cy="3357976"/>
          </a:xfrm>
        </p:spPr>
        <p:txBody>
          <a:bodyPr vert="horz" lIns="91440" tIns="45720" rIns="91440" bIns="45720" rtlCol="0" anchor="ctr">
            <a:normAutofit/>
          </a:bodyPr>
          <a:lstStyle/>
          <a:p>
            <a:pPr>
              <a:lnSpc>
                <a:spcPct val="80000"/>
              </a:lnSpc>
            </a:pPr>
            <a:r>
              <a:rPr lang="en-US" sz="6000">
                <a:blipFill dpi="0" rotWithShape="1">
                  <a:blip r:embed="rId4"/>
                  <a:srcRect/>
                  <a:tile tx="6350" ty="-127000" sx="65000" sy="64000" flip="none" algn="tl"/>
                </a:blipFill>
                <a:highlight>
                  <a:srgbClr val="FFFF00"/>
                </a:highlight>
              </a:rPr>
              <a:t>MVC</a:t>
            </a:r>
          </a:p>
        </p:txBody>
      </p:sp>
      <p:sp>
        <p:nvSpPr>
          <p:cNvPr id="1049" name="Rectangle 1048">
            <a:extLst>
              <a:ext uri="{FF2B5EF4-FFF2-40B4-BE49-F238E27FC236}">
                <a16:creationId xmlns:a16="http://schemas.microsoft.com/office/drawing/2014/main" id="{6B387409-2B98-40F8-A65F-EF7CF989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1" name="Group 1050">
            <a:extLst>
              <a:ext uri="{FF2B5EF4-FFF2-40B4-BE49-F238E27FC236}">
                <a16:creationId xmlns:a16="http://schemas.microsoft.com/office/drawing/2014/main" id="{C9E5F284-A588-4AE7-A36D-1C93E4FD02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1052" name="Oval 1051">
              <a:extLst>
                <a:ext uri="{FF2B5EF4-FFF2-40B4-BE49-F238E27FC236}">
                  <a16:creationId xmlns:a16="http://schemas.microsoft.com/office/drawing/2014/main" id="{45D7D540-5CF2-4FC1-BE53-277CC22C0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53" name="Oval 1052">
              <a:extLst>
                <a:ext uri="{FF2B5EF4-FFF2-40B4-BE49-F238E27FC236}">
                  <a16:creationId xmlns:a16="http://schemas.microsoft.com/office/drawing/2014/main" id="{916C9AA0-DC0C-49A1-ACDF-10BD6D739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1028" name="Picture 4" descr="Diagram illustrating MVC concepts">
            <a:extLst>
              <a:ext uri="{FF2B5EF4-FFF2-40B4-BE49-F238E27FC236}">
                <a16:creationId xmlns:a16="http://schemas.microsoft.com/office/drawing/2014/main" id="{10D02BB7-60A5-3C44-89A2-F764059281CB}"/>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920834" y="1405160"/>
            <a:ext cx="6631744" cy="3979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174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0EBBB8-F746-4744-8320-370E3156D2ED}"/>
              </a:ext>
            </a:extLst>
          </p:cNvPr>
          <p:cNvSpPr>
            <a:spLocks noGrp="1"/>
          </p:cNvSpPr>
          <p:nvPr>
            <p:ph type="title"/>
          </p:nvPr>
        </p:nvSpPr>
        <p:spPr>
          <a:xfrm>
            <a:off x="6587544" y="1382165"/>
            <a:ext cx="4869179" cy="1517984"/>
          </a:xfrm>
        </p:spPr>
        <p:txBody>
          <a:bodyPr>
            <a:normAutofit/>
          </a:bodyPr>
          <a:lstStyle/>
          <a:p>
            <a:r>
              <a:rPr lang="en-US" sz="4800">
                <a:solidFill>
                  <a:srgbClr val="000000"/>
                </a:solidFill>
                <a:highlight>
                  <a:srgbClr val="FFFF00"/>
                </a:highlight>
              </a:rPr>
              <a:t>M (Model)</a:t>
            </a:r>
          </a:p>
        </p:txBody>
      </p:sp>
      <p:pic>
        <p:nvPicPr>
          <p:cNvPr id="5" name="Picture 4" descr="Cubes connected with a red line">
            <a:extLst>
              <a:ext uri="{FF2B5EF4-FFF2-40B4-BE49-F238E27FC236}">
                <a16:creationId xmlns:a16="http://schemas.microsoft.com/office/drawing/2014/main" id="{50E919F5-B5F3-7381-89B3-3C4B3FC02A38}"/>
              </a:ext>
            </a:extLst>
          </p:cNvPr>
          <p:cNvPicPr>
            <a:picLocks noChangeAspect="1"/>
          </p:cNvPicPr>
          <p:nvPr/>
        </p:nvPicPr>
        <p:blipFill>
          <a:blip r:embed="rId2"/>
          <a:srcRect l="19244" r="7814" b="-1"/>
          <a:stretch>
            <a:fillRect/>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11" name="Freeform: Shape 10">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Content Placeholder 2">
            <a:extLst>
              <a:ext uri="{FF2B5EF4-FFF2-40B4-BE49-F238E27FC236}">
                <a16:creationId xmlns:a16="http://schemas.microsoft.com/office/drawing/2014/main" id="{40A60527-5940-A649-AB06-F87E9A11F931}"/>
              </a:ext>
            </a:extLst>
          </p:cNvPr>
          <p:cNvSpPr>
            <a:spLocks noGrp="1"/>
          </p:cNvSpPr>
          <p:nvPr>
            <p:ph idx="1"/>
          </p:nvPr>
        </p:nvSpPr>
        <p:spPr>
          <a:xfrm>
            <a:off x="6587545" y="3007389"/>
            <a:ext cx="4869179" cy="3065865"/>
          </a:xfrm>
        </p:spPr>
        <p:txBody>
          <a:bodyPr anchor="t">
            <a:normAutofit fontScale="92500" lnSpcReduction="20000"/>
          </a:bodyPr>
          <a:lstStyle/>
          <a:p>
            <a:r>
              <a:rPr lang="en-MY" sz="1800" dirty="0">
                <a:solidFill>
                  <a:srgbClr val="000000"/>
                </a:solidFill>
              </a:rPr>
              <a:t>A Model is a PHP class that acts as a blueprint for interacting with a specific table in your database. </a:t>
            </a:r>
          </a:p>
          <a:p>
            <a:endParaRPr lang="en-US" sz="1800" dirty="0">
              <a:solidFill>
                <a:srgbClr val="000000"/>
              </a:solidFill>
            </a:endParaRPr>
          </a:p>
          <a:p>
            <a:r>
              <a:rPr lang="en-US" sz="1800" dirty="0">
                <a:solidFill>
                  <a:srgbClr val="000000"/>
                </a:solidFill>
              </a:rPr>
              <a:t>Think of a Model as a translator between your PHP code and your relational database. Instead of writing complex, raw SQL queries to get or save data, you interact with your Model using simple PHP methods</a:t>
            </a:r>
          </a:p>
          <a:p>
            <a:endParaRPr lang="en-US" sz="1800" dirty="0">
              <a:solidFill>
                <a:srgbClr val="000000"/>
              </a:solidFill>
            </a:endParaRPr>
          </a:p>
          <a:p>
            <a:r>
              <a:rPr lang="en-US" sz="1800" dirty="0">
                <a:solidFill>
                  <a:srgbClr val="000000"/>
                </a:solidFill>
              </a:rPr>
              <a:t>It is inside app folder such </a:t>
            </a:r>
            <a:r>
              <a:rPr lang="en-US" sz="1800" dirty="0" err="1">
                <a:solidFill>
                  <a:srgbClr val="000000"/>
                </a:solidFill>
              </a:rPr>
              <a:t>user.php</a:t>
            </a:r>
            <a:r>
              <a:rPr lang="en-US" sz="1800" dirty="0">
                <a:solidFill>
                  <a:srgbClr val="000000"/>
                </a:solidFill>
              </a:rPr>
              <a:t> which extends authenticatable that model mean user is the model</a:t>
            </a:r>
          </a:p>
        </p:txBody>
      </p:sp>
      <p:grpSp>
        <p:nvGrpSpPr>
          <p:cNvPr id="13" name="Group 12">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5" name="Oval 14">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Tree>
    <p:extLst>
      <p:ext uri="{BB962C8B-B14F-4D97-AF65-F5344CB8AC3E}">
        <p14:creationId xmlns:p14="http://schemas.microsoft.com/office/powerpoint/2010/main" val="3512464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411402-018F-7D48-BEE9-85D223952A30}"/>
              </a:ext>
            </a:extLst>
          </p:cNvPr>
          <p:cNvSpPr>
            <a:spLocks noGrp="1"/>
          </p:cNvSpPr>
          <p:nvPr>
            <p:ph type="title"/>
          </p:nvPr>
        </p:nvSpPr>
        <p:spPr>
          <a:xfrm>
            <a:off x="6587544" y="1382165"/>
            <a:ext cx="4869179" cy="1517984"/>
          </a:xfrm>
        </p:spPr>
        <p:txBody>
          <a:bodyPr>
            <a:normAutofit/>
          </a:bodyPr>
          <a:lstStyle/>
          <a:p>
            <a:r>
              <a:rPr lang="en-US" sz="4800">
                <a:solidFill>
                  <a:srgbClr val="000000"/>
                </a:solidFill>
                <a:highlight>
                  <a:srgbClr val="FFFF00"/>
                </a:highlight>
              </a:rPr>
              <a:t>V (view)</a:t>
            </a:r>
          </a:p>
        </p:txBody>
      </p:sp>
      <p:pic>
        <p:nvPicPr>
          <p:cNvPr id="5" name="Picture 4" descr="Digital financial graph">
            <a:extLst>
              <a:ext uri="{FF2B5EF4-FFF2-40B4-BE49-F238E27FC236}">
                <a16:creationId xmlns:a16="http://schemas.microsoft.com/office/drawing/2014/main" id="{A047D2BF-DD4E-D13F-F1DE-312AE9E346AF}"/>
              </a:ext>
            </a:extLst>
          </p:cNvPr>
          <p:cNvPicPr>
            <a:picLocks noChangeAspect="1"/>
          </p:cNvPicPr>
          <p:nvPr/>
        </p:nvPicPr>
        <p:blipFill>
          <a:blip r:embed="rId2"/>
          <a:srcRect l="31001" r="15713" b="-1"/>
          <a:stretch>
            <a:fillRect/>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11" name="Freeform: Shape 10">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Content Placeholder 2">
            <a:extLst>
              <a:ext uri="{FF2B5EF4-FFF2-40B4-BE49-F238E27FC236}">
                <a16:creationId xmlns:a16="http://schemas.microsoft.com/office/drawing/2014/main" id="{635E786C-6AD5-5544-8154-E377EE1746DC}"/>
              </a:ext>
            </a:extLst>
          </p:cNvPr>
          <p:cNvSpPr>
            <a:spLocks noGrp="1"/>
          </p:cNvSpPr>
          <p:nvPr>
            <p:ph idx="1"/>
          </p:nvPr>
        </p:nvSpPr>
        <p:spPr>
          <a:xfrm>
            <a:off x="6587545" y="2695699"/>
            <a:ext cx="4869179" cy="3961990"/>
          </a:xfrm>
        </p:spPr>
        <p:txBody>
          <a:bodyPr anchor="t">
            <a:normAutofit lnSpcReduction="10000"/>
          </a:bodyPr>
          <a:lstStyle/>
          <a:p>
            <a:endParaRPr lang="en-US" sz="1300" dirty="0">
              <a:solidFill>
                <a:srgbClr val="000000"/>
              </a:solidFill>
            </a:endParaRPr>
          </a:p>
          <a:p>
            <a:r>
              <a:rPr lang="en-MY" sz="1300" dirty="0">
                <a:solidFill>
                  <a:srgbClr val="000000"/>
                </a:solidFill>
              </a:rPr>
              <a:t>The View </a:t>
            </a:r>
            <a:r>
              <a:rPr lang="en-MY" sz="1300" dirty="0" err="1">
                <a:solidFill>
                  <a:srgbClr val="000000"/>
                </a:solidFill>
              </a:rPr>
              <a:t>epresents</a:t>
            </a:r>
            <a:r>
              <a:rPr lang="en-MY" sz="1300" dirty="0">
                <a:solidFill>
                  <a:srgbClr val="000000"/>
                </a:solidFill>
              </a:rPr>
              <a:t> the "V" in the MVC (Model-View-Controller) architectural pattern. If the Model handles the data and the Controller handles the logic, the View handles the presentation. </a:t>
            </a:r>
          </a:p>
          <a:p>
            <a:r>
              <a:rPr lang="en-MY" sz="1300" dirty="0">
                <a:solidFill>
                  <a:srgbClr val="000000"/>
                </a:solidFill>
              </a:rPr>
              <a:t>It is exactly what the user sees and interacts with in their web browser: the HTML, CSS, and JavaScript. The primary purpose of a View is to separate your application's logic from its presentation, keeping your code clean and organized.</a:t>
            </a:r>
          </a:p>
          <a:p>
            <a:endParaRPr lang="en-MY" sz="1300" dirty="0">
              <a:solidFill>
                <a:srgbClr val="000000"/>
              </a:solidFill>
            </a:endParaRPr>
          </a:p>
          <a:p>
            <a:r>
              <a:rPr lang="en-MY" sz="1300" dirty="0">
                <a:solidFill>
                  <a:srgbClr val="000000"/>
                </a:solidFill>
                <a:sym typeface="Wingdings" pitchFamily="2" charset="2"/>
              </a:rPr>
              <a:t> </a:t>
            </a:r>
            <a:r>
              <a:rPr lang="en-US" sz="1300" dirty="0">
                <a:solidFill>
                  <a:srgbClr val="000000"/>
                </a:solidFill>
              </a:rPr>
              <a:t>Resources</a:t>
            </a:r>
          </a:p>
          <a:p>
            <a:endParaRPr lang="en-US" sz="1300" dirty="0">
              <a:solidFill>
                <a:srgbClr val="000000"/>
              </a:solidFill>
            </a:endParaRPr>
          </a:p>
          <a:p>
            <a:r>
              <a:rPr lang="en-US" sz="1300" dirty="0">
                <a:solidFill>
                  <a:srgbClr val="000000"/>
                </a:solidFill>
                <a:sym typeface="Wingdings" pitchFamily="2" charset="2"/>
              </a:rPr>
              <a:t> </a:t>
            </a:r>
            <a:r>
              <a:rPr lang="en-US" sz="1300" dirty="0">
                <a:solidFill>
                  <a:srgbClr val="000000"/>
                </a:solidFill>
              </a:rPr>
              <a:t>View</a:t>
            </a:r>
          </a:p>
          <a:p>
            <a:endParaRPr lang="en-US" sz="1300" dirty="0">
              <a:solidFill>
                <a:srgbClr val="000000"/>
              </a:solidFill>
            </a:endParaRPr>
          </a:p>
          <a:p>
            <a:r>
              <a:rPr lang="en-US" sz="1300" dirty="0">
                <a:solidFill>
                  <a:srgbClr val="000000"/>
                </a:solidFill>
                <a:sym typeface="Wingdings" pitchFamily="2" charset="2"/>
              </a:rPr>
              <a:t> </a:t>
            </a:r>
            <a:r>
              <a:rPr lang="en-US" sz="1300" dirty="0">
                <a:solidFill>
                  <a:srgbClr val="000000"/>
                </a:solidFill>
              </a:rPr>
              <a:t>.</a:t>
            </a:r>
            <a:r>
              <a:rPr lang="en-US" sz="1300" dirty="0" err="1">
                <a:solidFill>
                  <a:srgbClr val="000000"/>
                </a:solidFill>
              </a:rPr>
              <a:t>Blade.php</a:t>
            </a:r>
            <a:endParaRPr lang="en-US" sz="1300" dirty="0">
              <a:solidFill>
                <a:srgbClr val="000000"/>
              </a:solidFill>
            </a:endParaRPr>
          </a:p>
        </p:txBody>
      </p:sp>
      <p:grpSp>
        <p:nvGrpSpPr>
          <p:cNvPr id="13" name="Group 12">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5" name="Oval 14">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Tree>
    <p:extLst>
      <p:ext uri="{BB962C8B-B14F-4D97-AF65-F5344CB8AC3E}">
        <p14:creationId xmlns:p14="http://schemas.microsoft.com/office/powerpoint/2010/main" val="675831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115731-0CED-D342-A921-72581D18DE9B}"/>
              </a:ext>
            </a:extLst>
          </p:cNvPr>
          <p:cNvSpPr>
            <a:spLocks noGrp="1"/>
          </p:cNvSpPr>
          <p:nvPr>
            <p:ph type="title"/>
          </p:nvPr>
        </p:nvSpPr>
        <p:spPr>
          <a:xfrm>
            <a:off x="6587544" y="1382165"/>
            <a:ext cx="4869179" cy="1303979"/>
          </a:xfrm>
        </p:spPr>
        <p:txBody>
          <a:bodyPr>
            <a:normAutofit/>
          </a:bodyPr>
          <a:lstStyle/>
          <a:p>
            <a:r>
              <a:rPr lang="en-US" sz="4800" dirty="0">
                <a:solidFill>
                  <a:srgbClr val="000000"/>
                </a:solidFill>
                <a:highlight>
                  <a:srgbClr val="FFFF00"/>
                </a:highlight>
              </a:rPr>
              <a:t>C (controller)</a:t>
            </a:r>
          </a:p>
        </p:txBody>
      </p:sp>
      <p:pic>
        <p:nvPicPr>
          <p:cNvPr id="5" name="Picture 4" descr="Gadgets on a desk">
            <a:extLst>
              <a:ext uri="{FF2B5EF4-FFF2-40B4-BE49-F238E27FC236}">
                <a16:creationId xmlns:a16="http://schemas.microsoft.com/office/drawing/2014/main" id="{20C79D39-744C-9BBD-15DB-858FA5E4B52A}"/>
              </a:ext>
            </a:extLst>
          </p:cNvPr>
          <p:cNvPicPr>
            <a:picLocks noChangeAspect="1"/>
          </p:cNvPicPr>
          <p:nvPr/>
        </p:nvPicPr>
        <p:blipFill>
          <a:blip r:embed="rId2"/>
          <a:srcRect l="5366" r="23587"/>
          <a:stretch>
            <a:fillRect/>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11" name="Freeform: Shape 10">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Content Placeholder 2">
            <a:extLst>
              <a:ext uri="{FF2B5EF4-FFF2-40B4-BE49-F238E27FC236}">
                <a16:creationId xmlns:a16="http://schemas.microsoft.com/office/drawing/2014/main" id="{A92CC868-57D1-0C40-BCA7-2C960069B24C}"/>
              </a:ext>
            </a:extLst>
          </p:cNvPr>
          <p:cNvSpPr>
            <a:spLocks noGrp="1"/>
          </p:cNvSpPr>
          <p:nvPr>
            <p:ph idx="1"/>
          </p:nvPr>
        </p:nvSpPr>
        <p:spPr>
          <a:xfrm>
            <a:off x="6587543" y="2686145"/>
            <a:ext cx="4869179" cy="4000736"/>
          </a:xfrm>
        </p:spPr>
        <p:txBody>
          <a:bodyPr anchor="t">
            <a:normAutofit fontScale="92500" lnSpcReduction="20000"/>
          </a:bodyPr>
          <a:lstStyle/>
          <a:p>
            <a:pPr marL="0" indent="0">
              <a:buNone/>
            </a:pPr>
            <a:endParaRPr lang="en-US" sz="1500" dirty="0">
              <a:solidFill>
                <a:srgbClr val="000000"/>
              </a:solidFill>
              <a:sym typeface="Wingdings" pitchFamily="2" charset="2"/>
            </a:endParaRPr>
          </a:p>
          <a:p>
            <a:pPr marL="0" indent="0">
              <a:buNone/>
            </a:pPr>
            <a:r>
              <a:rPr lang="en-US" sz="1500" dirty="0">
                <a:solidFill>
                  <a:srgbClr val="000000"/>
                </a:solidFill>
                <a:sym typeface="Wingdings" pitchFamily="2" charset="2"/>
              </a:rPr>
              <a:t>T</a:t>
            </a:r>
            <a:r>
              <a:rPr lang="en-MY" sz="1500" dirty="0">
                <a:solidFill>
                  <a:srgbClr val="000000"/>
                </a:solidFill>
              </a:rPr>
              <a:t>he Controller represents the "C" in the MVC (Model-View-Controller) architectural pattern. If the Model is the data layer and the View is the presentation layer, the Controller is the brain or the traffic cop of your application.</a:t>
            </a:r>
          </a:p>
          <a:p>
            <a:pPr marL="0" indent="0">
              <a:buNone/>
            </a:pPr>
            <a:r>
              <a:rPr lang="en-MY" sz="1500" dirty="0">
                <a:solidFill>
                  <a:srgbClr val="000000"/>
                </a:solidFill>
              </a:rPr>
              <a:t>Its primary job is to connect the user's request to the correct data and the correct display. It sits right in the middle, keeping your database logic (Model) completely separate from your HTML (View).</a:t>
            </a:r>
          </a:p>
          <a:p>
            <a:endParaRPr lang="en-US" sz="1500" dirty="0">
              <a:solidFill>
                <a:srgbClr val="000000"/>
              </a:solidFill>
              <a:sym typeface="Wingdings" pitchFamily="2" charset="2"/>
            </a:endParaRPr>
          </a:p>
          <a:p>
            <a:r>
              <a:rPr lang="en-US" sz="1500" dirty="0">
                <a:solidFill>
                  <a:srgbClr val="000000"/>
                </a:solidFill>
                <a:sym typeface="Wingdings" pitchFamily="2" charset="2"/>
              </a:rPr>
              <a:t> </a:t>
            </a:r>
            <a:r>
              <a:rPr lang="en-US" sz="1500" dirty="0">
                <a:solidFill>
                  <a:srgbClr val="000000"/>
                </a:solidFill>
              </a:rPr>
              <a:t>Located in app</a:t>
            </a:r>
            <a:endParaRPr lang="en-US" sz="1500" dirty="0">
              <a:solidFill>
                <a:srgbClr val="000000"/>
              </a:solidFill>
              <a:sym typeface="Wingdings" pitchFamily="2" charset="2"/>
            </a:endParaRPr>
          </a:p>
          <a:p>
            <a:endParaRPr lang="en-US" sz="1500" dirty="0">
              <a:solidFill>
                <a:srgbClr val="000000"/>
              </a:solidFill>
              <a:sym typeface="Wingdings" pitchFamily="2" charset="2"/>
            </a:endParaRPr>
          </a:p>
          <a:p>
            <a:r>
              <a:rPr lang="en-US" sz="1500" dirty="0">
                <a:solidFill>
                  <a:srgbClr val="000000"/>
                </a:solidFill>
                <a:sym typeface="Wingdings" pitchFamily="2" charset="2"/>
              </a:rPr>
              <a:t>  http</a:t>
            </a:r>
          </a:p>
          <a:p>
            <a:endParaRPr lang="en-US" sz="1500" dirty="0">
              <a:solidFill>
                <a:srgbClr val="000000"/>
              </a:solidFill>
              <a:sym typeface="Wingdings" pitchFamily="2" charset="2"/>
            </a:endParaRPr>
          </a:p>
          <a:p>
            <a:r>
              <a:rPr lang="en-US" sz="1500" dirty="0">
                <a:solidFill>
                  <a:srgbClr val="000000"/>
                </a:solidFill>
                <a:sym typeface="Wingdings" pitchFamily="2" charset="2"/>
              </a:rPr>
              <a:t> controller </a:t>
            </a:r>
            <a:endParaRPr lang="en-US" sz="1500" dirty="0">
              <a:solidFill>
                <a:srgbClr val="000000"/>
              </a:solidFill>
            </a:endParaRPr>
          </a:p>
        </p:txBody>
      </p:sp>
      <p:grpSp>
        <p:nvGrpSpPr>
          <p:cNvPr id="13" name="Group 12">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5" name="Oval 14">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Tree>
    <p:extLst>
      <p:ext uri="{BB962C8B-B14F-4D97-AF65-F5344CB8AC3E}">
        <p14:creationId xmlns:p14="http://schemas.microsoft.com/office/powerpoint/2010/main" val="568495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FA1C3-2466-1546-8E8B-4BAADC51F051}"/>
              </a:ext>
            </a:extLst>
          </p:cNvPr>
          <p:cNvSpPr>
            <a:spLocks noGrp="1"/>
          </p:cNvSpPr>
          <p:nvPr>
            <p:ph type="title"/>
          </p:nvPr>
        </p:nvSpPr>
        <p:spPr>
          <a:xfrm>
            <a:off x="1069848" y="484632"/>
            <a:ext cx="10058400" cy="1609344"/>
          </a:xfrm>
        </p:spPr>
        <p:txBody>
          <a:bodyPr>
            <a:normAutofit/>
          </a:bodyPr>
          <a:lstStyle/>
          <a:p>
            <a:r>
              <a:rPr lang="en-MY" dirty="0">
                <a:highlight>
                  <a:srgbClr val="FFFF00"/>
                </a:highlight>
              </a:rPr>
              <a:t>Let’s look at a real scenario</a:t>
            </a:r>
            <a:r>
              <a:rPr lang="en-MY" dirty="0"/>
              <a:t>.</a:t>
            </a:r>
            <a:endParaRPr lang="en-US" dirty="0"/>
          </a:p>
        </p:txBody>
      </p:sp>
      <p:sp>
        <p:nvSpPr>
          <p:cNvPr id="11" name="Rectangle 10">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7340A627-DEFD-43AD-2334-26511AB988D4}"/>
              </a:ext>
            </a:extLst>
          </p:cNvPr>
          <p:cNvGraphicFramePr>
            <a:graphicFrameLocks noGrp="1"/>
          </p:cNvGraphicFramePr>
          <p:nvPr>
            <p:ph idx="1"/>
            <p:extLst>
              <p:ext uri="{D42A27DB-BD31-4B8C-83A1-F6EECF244321}">
                <p14:modId xmlns:p14="http://schemas.microsoft.com/office/powerpoint/2010/main" val="2400845273"/>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50524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8F363C-B3F3-FA4F-B6E2-50AF505BE740}"/>
              </a:ext>
            </a:extLst>
          </p:cNvPr>
          <p:cNvSpPr>
            <a:spLocks noGrp="1"/>
          </p:cNvSpPr>
          <p:nvPr>
            <p:ph type="title"/>
          </p:nvPr>
        </p:nvSpPr>
        <p:spPr>
          <a:xfrm>
            <a:off x="6587544" y="1382165"/>
            <a:ext cx="4869179" cy="1517984"/>
          </a:xfrm>
        </p:spPr>
        <p:txBody>
          <a:bodyPr>
            <a:normAutofit/>
          </a:bodyPr>
          <a:lstStyle/>
          <a:p>
            <a:r>
              <a:rPr lang="en-MY" sz="4800" b="1">
                <a:solidFill>
                  <a:srgbClr val="000000"/>
                </a:solidFill>
                <a:highlight>
                  <a:srgbClr val="FFFF00"/>
                </a:highlight>
              </a:rPr>
              <a:t>What is route?</a:t>
            </a:r>
            <a:endParaRPr lang="en-US" sz="4800">
              <a:solidFill>
                <a:srgbClr val="000000"/>
              </a:solidFill>
              <a:highlight>
                <a:srgbClr val="FFFF00"/>
              </a:highlight>
            </a:endParaRPr>
          </a:p>
        </p:txBody>
      </p:sp>
      <p:pic>
        <p:nvPicPr>
          <p:cNvPr id="5" name="Picture 4" descr="Person writing on a notepad">
            <a:extLst>
              <a:ext uri="{FF2B5EF4-FFF2-40B4-BE49-F238E27FC236}">
                <a16:creationId xmlns:a16="http://schemas.microsoft.com/office/drawing/2014/main" id="{D35FAD63-892A-6A83-CC3F-05A31E2D8730}"/>
              </a:ext>
            </a:extLst>
          </p:cNvPr>
          <p:cNvPicPr>
            <a:picLocks noChangeAspect="1"/>
          </p:cNvPicPr>
          <p:nvPr/>
        </p:nvPicPr>
        <p:blipFill>
          <a:blip r:embed="rId2"/>
          <a:srcRect l="16156" r="8771"/>
          <a:stretch>
            <a:fillRect/>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11" name="Freeform: Shape 10">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Content Placeholder 2">
            <a:extLst>
              <a:ext uri="{FF2B5EF4-FFF2-40B4-BE49-F238E27FC236}">
                <a16:creationId xmlns:a16="http://schemas.microsoft.com/office/drawing/2014/main" id="{350A9527-6D06-4144-B6C9-E24376FE8810}"/>
              </a:ext>
            </a:extLst>
          </p:cNvPr>
          <p:cNvSpPr>
            <a:spLocks noGrp="1"/>
          </p:cNvSpPr>
          <p:nvPr>
            <p:ph idx="1"/>
          </p:nvPr>
        </p:nvSpPr>
        <p:spPr>
          <a:xfrm>
            <a:off x="6587545" y="3007389"/>
            <a:ext cx="4869179" cy="3065865"/>
          </a:xfrm>
        </p:spPr>
        <p:txBody>
          <a:bodyPr anchor="t">
            <a:normAutofit/>
          </a:bodyPr>
          <a:lstStyle/>
          <a:p>
            <a:r>
              <a:rPr lang="en-MY" sz="1800">
                <a:solidFill>
                  <a:srgbClr val="000000"/>
                </a:solidFill>
              </a:rPr>
              <a:t>It is a way of creating a request URL of Laravel web project. The URL does not map to specific files on a website (like html does). </a:t>
            </a:r>
          </a:p>
          <a:p>
            <a:endParaRPr lang="en-US" sz="1800">
              <a:solidFill>
                <a:srgbClr val="000000"/>
              </a:solidFill>
            </a:endParaRPr>
          </a:p>
          <a:p>
            <a:r>
              <a:rPr lang="en-MY" sz="1800">
                <a:solidFill>
                  <a:srgbClr val="000000"/>
                </a:solidFill>
              </a:rPr>
              <a:t>It is available in a [</a:t>
            </a:r>
            <a:r>
              <a:rPr lang="en-MY" sz="1800" b="1">
                <a:solidFill>
                  <a:srgbClr val="000000"/>
                </a:solidFill>
              </a:rPr>
              <a:t>routes] </a:t>
            </a:r>
            <a:r>
              <a:rPr lang="en-MY" sz="1800">
                <a:solidFill>
                  <a:srgbClr val="000000"/>
                </a:solidFill>
              </a:rPr>
              <a:t>folder.  There are two common routes: </a:t>
            </a:r>
          </a:p>
          <a:p>
            <a:pPr marL="514350" indent="-514350">
              <a:buAutoNum type="romanLcPeriod"/>
            </a:pPr>
            <a:r>
              <a:rPr lang="en-MY" sz="1800">
                <a:solidFill>
                  <a:srgbClr val="000000"/>
                </a:solidFill>
              </a:rPr>
              <a:t>Website routes (web.php) </a:t>
            </a:r>
          </a:p>
          <a:p>
            <a:pPr marL="514350" indent="-514350">
              <a:buAutoNum type="romanLcPeriod"/>
            </a:pPr>
            <a:r>
              <a:rPr lang="en-MY" sz="1800">
                <a:solidFill>
                  <a:srgbClr val="000000"/>
                </a:solidFill>
              </a:rPr>
              <a:t>API routes (api.php) </a:t>
            </a:r>
          </a:p>
          <a:p>
            <a:endParaRPr lang="en-US" sz="1800">
              <a:solidFill>
                <a:srgbClr val="000000"/>
              </a:solidFill>
            </a:endParaRPr>
          </a:p>
        </p:txBody>
      </p:sp>
      <p:grpSp>
        <p:nvGrpSpPr>
          <p:cNvPr id="13" name="Group 12">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5" name="Oval 14">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Tree>
    <p:extLst>
      <p:ext uri="{BB962C8B-B14F-4D97-AF65-F5344CB8AC3E}">
        <p14:creationId xmlns:p14="http://schemas.microsoft.com/office/powerpoint/2010/main" val="347066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37" name="Oval 36">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8" name="Oval 37">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39" name="Rectangle 38">
            <a:extLst>
              <a:ext uri="{FF2B5EF4-FFF2-40B4-BE49-F238E27FC236}">
                <a16:creationId xmlns:a16="http://schemas.microsoft.com/office/drawing/2014/main" id="{0680B5D0-24EC-465A-A0E6-C4DF951E00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Rectangle 39">
            <a:extLst>
              <a:ext uri="{FF2B5EF4-FFF2-40B4-BE49-F238E27FC236}">
                <a16:creationId xmlns:a16="http://schemas.microsoft.com/office/drawing/2014/main" id="{30BF1B50-A83E-4ED6-A2AA-C943C1F89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F31E8B2-210B-4B90-83BB-3B180732E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5470" y="1110053"/>
            <a:ext cx="3386371"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29EB08-AC5C-134E-B3C6-2B9EE55F4AFD}"/>
              </a:ext>
            </a:extLst>
          </p:cNvPr>
          <p:cNvSpPr>
            <a:spLocks noGrp="1"/>
          </p:cNvSpPr>
          <p:nvPr>
            <p:ph type="title"/>
          </p:nvPr>
        </p:nvSpPr>
        <p:spPr>
          <a:xfrm>
            <a:off x="8200102" y="1432223"/>
            <a:ext cx="2818417" cy="3357976"/>
          </a:xfrm>
        </p:spPr>
        <p:txBody>
          <a:bodyPr vert="horz" lIns="91440" tIns="45720" rIns="91440" bIns="45720" rtlCol="0" anchor="ctr">
            <a:normAutofit/>
          </a:bodyPr>
          <a:lstStyle/>
          <a:p>
            <a:pPr>
              <a:lnSpc>
                <a:spcPct val="80000"/>
              </a:lnSpc>
            </a:pPr>
            <a:r>
              <a:rPr lang="en-US" sz="6000" b="1">
                <a:blipFill dpi="0" rotWithShape="1">
                  <a:blip r:embed="rId4"/>
                  <a:srcRect/>
                  <a:tile tx="6350" ty="-127000" sx="65000" sy="64000" flip="none" algn="tl"/>
                </a:blipFill>
                <a:highlight>
                  <a:srgbClr val="FFFF00"/>
                </a:highlight>
              </a:rPr>
              <a:t>Basic Route </a:t>
            </a:r>
            <a:endParaRPr lang="en-US" sz="6000">
              <a:blipFill dpi="0" rotWithShape="1">
                <a:blip r:embed="rId4"/>
                <a:srcRect/>
                <a:tile tx="6350" ty="-127000" sx="65000" sy="64000" flip="none" algn="tl"/>
              </a:blipFill>
              <a:highlight>
                <a:srgbClr val="FFFF00"/>
              </a:highlight>
            </a:endParaRPr>
          </a:p>
        </p:txBody>
      </p:sp>
      <p:sp>
        <p:nvSpPr>
          <p:cNvPr id="42" name="Rectangle 41">
            <a:extLst>
              <a:ext uri="{FF2B5EF4-FFF2-40B4-BE49-F238E27FC236}">
                <a16:creationId xmlns:a16="http://schemas.microsoft.com/office/drawing/2014/main" id="{6B387409-2B98-40F8-A65F-EF7CF989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C9E5F284-A588-4AE7-A36D-1C93E4FD02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44" name="Oval 43">
              <a:extLst>
                <a:ext uri="{FF2B5EF4-FFF2-40B4-BE49-F238E27FC236}">
                  <a16:creationId xmlns:a16="http://schemas.microsoft.com/office/drawing/2014/main" id="{45D7D540-5CF2-4FC1-BE53-277CC22C0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5" name="Oval 44">
              <a:extLst>
                <a:ext uri="{FF2B5EF4-FFF2-40B4-BE49-F238E27FC236}">
                  <a16:creationId xmlns:a16="http://schemas.microsoft.com/office/drawing/2014/main" id="{916C9AA0-DC0C-49A1-ACDF-10BD6D739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6" name="Picture 5">
            <a:extLst>
              <a:ext uri="{FF2B5EF4-FFF2-40B4-BE49-F238E27FC236}">
                <a16:creationId xmlns:a16="http://schemas.microsoft.com/office/drawing/2014/main" id="{A6D3C417-06E5-FF4C-A375-9EF8C28661A2}"/>
              </a:ext>
            </a:extLst>
          </p:cNvPr>
          <p:cNvPicPr>
            <a:picLocks noChangeAspect="1"/>
          </p:cNvPicPr>
          <p:nvPr/>
        </p:nvPicPr>
        <p:blipFill>
          <a:blip r:embed="rId6"/>
          <a:stretch>
            <a:fillRect/>
          </a:stretch>
        </p:blipFill>
        <p:spPr>
          <a:xfrm>
            <a:off x="1710706" y="1388911"/>
            <a:ext cx="5052000" cy="4011543"/>
          </a:xfrm>
          <a:prstGeom prst="rect">
            <a:avLst/>
          </a:prstGeom>
        </p:spPr>
      </p:pic>
    </p:spTree>
    <p:extLst>
      <p:ext uri="{BB962C8B-B14F-4D97-AF65-F5344CB8AC3E}">
        <p14:creationId xmlns:p14="http://schemas.microsoft.com/office/powerpoint/2010/main" val="1822204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F6FEC8-AAA0-2A47-B467-462B4BC942ED}"/>
              </a:ext>
            </a:extLst>
          </p:cNvPr>
          <p:cNvSpPr>
            <a:spLocks noGrp="1"/>
          </p:cNvSpPr>
          <p:nvPr>
            <p:ph type="title"/>
          </p:nvPr>
        </p:nvSpPr>
        <p:spPr>
          <a:xfrm>
            <a:off x="1286934" y="1465790"/>
            <a:ext cx="3860798" cy="3941345"/>
          </a:xfrm>
        </p:spPr>
        <p:txBody>
          <a:bodyPr>
            <a:normAutofit/>
          </a:bodyPr>
          <a:lstStyle/>
          <a:p>
            <a:r>
              <a:rPr lang="en-MY" sz="6000" b="1">
                <a:highlight>
                  <a:srgbClr val="FFFF00"/>
                </a:highlight>
              </a:rPr>
              <a:t>route</a:t>
            </a:r>
            <a:r>
              <a:rPr lang="en-US" sz="6000"/>
              <a:t> cont…</a:t>
            </a:r>
          </a:p>
        </p:txBody>
      </p:sp>
      <p:sp>
        <p:nvSpPr>
          <p:cNvPr id="3" name="Content Placeholder 2">
            <a:extLst>
              <a:ext uri="{FF2B5EF4-FFF2-40B4-BE49-F238E27FC236}">
                <a16:creationId xmlns:a16="http://schemas.microsoft.com/office/drawing/2014/main" id="{50EDD956-488D-CA46-B16D-DD5933220B90}"/>
              </a:ext>
            </a:extLst>
          </p:cNvPr>
          <p:cNvSpPr>
            <a:spLocks noGrp="1"/>
          </p:cNvSpPr>
          <p:nvPr>
            <p:ph idx="1"/>
          </p:nvPr>
        </p:nvSpPr>
        <p:spPr>
          <a:xfrm>
            <a:off x="6417733" y="1359090"/>
            <a:ext cx="5132665" cy="4048046"/>
          </a:xfrm>
        </p:spPr>
        <p:txBody>
          <a:bodyPr anchor="ctr">
            <a:normAutofit/>
          </a:bodyPr>
          <a:lstStyle/>
          <a:p>
            <a:r>
              <a:rPr lang="en-MY" sz="1700"/>
              <a:t>The most basic Laravel routes accept a URL and a closure, providing a very simple and expressive method of defining routes and behaviour:</a:t>
            </a:r>
          </a:p>
          <a:p>
            <a:endParaRPr lang="en-MY" sz="1700"/>
          </a:p>
          <a:p>
            <a:pPr marL="0" indent="0">
              <a:buNone/>
            </a:pPr>
            <a:r>
              <a:rPr lang="en-MY" sz="1700"/>
              <a:t>Ex.</a:t>
            </a:r>
          </a:p>
          <a:p>
            <a:pPr marL="0" indent="0">
              <a:buNone/>
            </a:pPr>
            <a:r>
              <a:rPr lang="en-MY" sz="1700"/>
              <a:t>use Illuminate\Support\Facades\Route;  //Route Library</a:t>
            </a:r>
          </a:p>
          <a:p>
            <a:pPr marL="0" indent="0">
              <a:buNone/>
            </a:pPr>
            <a:endParaRPr lang="en-MY" sz="1700"/>
          </a:p>
          <a:p>
            <a:pPr marL="0" indent="0">
              <a:buNone/>
            </a:pPr>
            <a:r>
              <a:rPr lang="en-MY" sz="1700"/>
              <a:t>Route::get('/greeting', function () { </a:t>
            </a:r>
          </a:p>
          <a:p>
            <a:pPr marL="0" indent="0">
              <a:buNone/>
            </a:pPr>
            <a:r>
              <a:rPr lang="en-MY" sz="1700"/>
              <a:t>return 'Hello World’; </a:t>
            </a:r>
          </a:p>
          <a:p>
            <a:pPr marL="0" indent="0">
              <a:buNone/>
            </a:pPr>
            <a:r>
              <a:rPr lang="en-MY" sz="1700"/>
              <a:t>});</a:t>
            </a:r>
            <a:endParaRPr lang="en-US" sz="1700"/>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2397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094823-E552-3B41-A712-4DE2BABDDEFB}"/>
              </a:ext>
            </a:extLst>
          </p:cNvPr>
          <p:cNvSpPr>
            <a:spLocks noGrp="1"/>
          </p:cNvSpPr>
          <p:nvPr>
            <p:ph type="title"/>
          </p:nvPr>
        </p:nvSpPr>
        <p:spPr>
          <a:xfrm>
            <a:off x="1286934" y="1465790"/>
            <a:ext cx="3860798" cy="3941345"/>
          </a:xfrm>
        </p:spPr>
        <p:txBody>
          <a:bodyPr>
            <a:normAutofit/>
          </a:bodyPr>
          <a:lstStyle/>
          <a:p>
            <a:r>
              <a:rPr lang="en-MY" sz="6000" b="1">
                <a:highlight>
                  <a:srgbClr val="FFFF00"/>
                </a:highlight>
              </a:rPr>
              <a:t>Route verbs</a:t>
            </a:r>
            <a:endParaRPr lang="en-US" sz="6000">
              <a:highlight>
                <a:srgbClr val="FFFF00"/>
              </a:highlight>
            </a:endParaRPr>
          </a:p>
        </p:txBody>
      </p:sp>
      <p:sp>
        <p:nvSpPr>
          <p:cNvPr id="3" name="Content Placeholder 2">
            <a:extLst>
              <a:ext uri="{FF2B5EF4-FFF2-40B4-BE49-F238E27FC236}">
                <a16:creationId xmlns:a16="http://schemas.microsoft.com/office/drawing/2014/main" id="{249C7A8F-2534-C243-9069-C83E0AE2ADAF}"/>
              </a:ext>
            </a:extLst>
          </p:cNvPr>
          <p:cNvSpPr>
            <a:spLocks noGrp="1"/>
          </p:cNvSpPr>
          <p:nvPr>
            <p:ph idx="1"/>
          </p:nvPr>
        </p:nvSpPr>
        <p:spPr>
          <a:xfrm>
            <a:off x="6417733" y="1359090"/>
            <a:ext cx="5132665" cy="4048046"/>
          </a:xfrm>
        </p:spPr>
        <p:txBody>
          <a:bodyPr anchor="ctr">
            <a:normAutofit/>
          </a:bodyPr>
          <a:lstStyle/>
          <a:p>
            <a:r>
              <a:rPr lang="en-MY" sz="1900"/>
              <a:t>The route verbs telling Laravel to match HTTP methods for various data delivery. </a:t>
            </a:r>
          </a:p>
          <a:p>
            <a:endParaRPr lang="en-US" sz="1900"/>
          </a:p>
          <a:p>
            <a:pPr marL="0" indent="0">
              <a:buNone/>
            </a:pPr>
            <a:r>
              <a:rPr lang="en-MY" sz="1900" b="1"/>
              <a:t>Route Verbs </a:t>
            </a:r>
            <a:endParaRPr lang="en-MY" sz="1900"/>
          </a:p>
          <a:p>
            <a:r>
              <a:rPr lang="en-MY" sz="1900"/>
              <a:t>Route::get(‘/’, function(){}); </a:t>
            </a:r>
          </a:p>
          <a:p>
            <a:r>
              <a:rPr lang="en-MY" sz="1900"/>
              <a:t>Route::post(‘/’, function(){}); </a:t>
            </a:r>
          </a:p>
          <a:p>
            <a:r>
              <a:rPr lang="en-MY" sz="1900"/>
              <a:t>Route::put(‘/’, function(){}); </a:t>
            </a:r>
          </a:p>
          <a:p>
            <a:r>
              <a:rPr lang="en-MY" sz="1900"/>
              <a:t>Route::delete(‘/’, function(){}); </a:t>
            </a:r>
          </a:p>
          <a:p>
            <a:r>
              <a:rPr lang="en-MY" sz="1900"/>
              <a:t>Route::any(‘/’, function(){}); </a:t>
            </a:r>
          </a:p>
          <a:p>
            <a:r>
              <a:rPr lang="en-MY" sz="1900"/>
              <a:t>Route::match([‘</a:t>
            </a:r>
            <a:r>
              <a:rPr lang="en-MY" sz="1900" err="1"/>
              <a:t>get’,’post</a:t>
            </a:r>
            <a:r>
              <a:rPr lang="en-MY" sz="1900"/>
              <a:t>’],‘/’, function(){}); </a:t>
            </a:r>
          </a:p>
          <a:p>
            <a:endParaRPr lang="en-US" sz="1900"/>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3915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8E5D92-2EA5-E941-8D3F-DBC1FD461430}"/>
              </a:ext>
            </a:extLst>
          </p:cNvPr>
          <p:cNvSpPr>
            <a:spLocks noGrp="1"/>
          </p:cNvSpPr>
          <p:nvPr>
            <p:ph type="title"/>
          </p:nvPr>
        </p:nvSpPr>
        <p:spPr>
          <a:xfrm>
            <a:off x="1286934" y="1465790"/>
            <a:ext cx="3860798" cy="3941345"/>
          </a:xfrm>
        </p:spPr>
        <p:txBody>
          <a:bodyPr>
            <a:normAutofit/>
          </a:bodyPr>
          <a:lstStyle/>
          <a:p>
            <a:r>
              <a:rPr lang="en-US" sz="6000">
                <a:highlight>
                  <a:srgbClr val="FFFF00"/>
                </a:highlight>
              </a:rPr>
              <a:t>Views</a:t>
            </a:r>
          </a:p>
        </p:txBody>
      </p:sp>
      <p:sp>
        <p:nvSpPr>
          <p:cNvPr id="3" name="Content Placeholder 2">
            <a:extLst>
              <a:ext uri="{FF2B5EF4-FFF2-40B4-BE49-F238E27FC236}">
                <a16:creationId xmlns:a16="http://schemas.microsoft.com/office/drawing/2014/main" id="{4E1A530E-A997-C54A-9AB2-A9CF8802B986}"/>
              </a:ext>
            </a:extLst>
          </p:cNvPr>
          <p:cNvSpPr>
            <a:spLocks noGrp="1"/>
          </p:cNvSpPr>
          <p:nvPr>
            <p:ph idx="1"/>
          </p:nvPr>
        </p:nvSpPr>
        <p:spPr>
          <a:xfrm>
            <a:off x="6417733" y="1359090"/>
            <a:ext cx="5132665" cy="4048046"/>
          </a:xfrm>
        </p:spPr>
        <p:txBody>
          <a:bodyPr anchor="ctr">
            <a:normAutofit/>
          </a:bodyPr>
          <a:lstStyle/>
          <a:p>
            <a:r>
              <a:rPr lang="en-US" sz="1400"/>
              <a:t>Views are files or templates that describe how your output should look like. </a:t>
            </a:r>
          </a:p>
          <a:p>
            <a:endParaRPr lang="en-US" sz="1400"/>
          </a:p>
          <a:p>
            <a:r>
              <a:rPr lang="en-US" sz="1400"/>
              <a:t>Views can be in the form of JSON, XML, email and HTML as the output. </a:t>
            </a:r>
          </a:p>
          <a:p>
            <a:endParaRPr lang="en-US" sz="1400"/>
          </a:p>
          <a:p>
            <a:r>
              <a:rPr lang="en-US" sz="1400"/>
              <a:t>In Laravel, view can be presented by plain PHP or Blade templates. The difference relies on the file extension.</a:t>
            </a:r>
          </a:p>
          <a:p>
            <a:endParaRPr lang="en-US" sz="1400"/>
          </a:p>
          <a:p>
            <a:r>
              <a:rPr lang="en-US" sz="1400" err="1"/>
              <a:t>i</a:t>
            </a:r>
            <a:r>
              <a:rPr lang="en-US" sz="1400"/>
              <a:t>. </a:t>
            </a:r>
            <a:r>
              <a:rPr lang="en-US" sz="1400" err="1"/>
              <a:t>about.php</a:t>
            </a:r>
            <a:r>
              <a:rPr lang="en-US" sz="1400"/>
              <a:t> – will be rendered by PHP engine. </a:t>
            </a:r>
          </a:p>
          <a:p>
            <a:endParaRPr lang="en-US" sz="1400"/>
          </a:p>
          <a:p>
            <a:r>
              <a:rPr lang="en-US" sz="1400"/>
              <a:t>ii. </a:t>
            </a:r>
            <a:r>
              <a:rPr lang="en-US" sz="1400" err="1"/>
              <a:t>about.blade.php</a:t>
            </a:r>
            <a:r>
              <a:rPr lang="en-US" sz="1400"/>
              <a:t> – will be rendered by Blade engine.</a:t>
            </a:r>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6702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B8AD59-B05B-DF46-A904-A0276CDDEC62}"/>
              </a:ext>
            </a:extLst>
          </p:cNvPr>
          <p:cNvSpPr>
            <a:spLocks noGrp="1"/>
          </p:cNvSpPr>
          <p:nvPr>
            <p:ph type="title"/>
          </p:nvPr>
        </p:nvSpPr>
        <p:spPr>
          <a:xfrm>
            <a:off x="1286934" y="1465790"/>
            <a:ext cx="3860798" cy="3941345"/>
          </a:xfrm>
        </p:spPr>
        <p:txBody>
          <a:bodyPr>
            <a:normAutofit/>
          </a:bodyPr>
          <a:lstStyle/>
          <a:p>
            <a:r>
              <a:rPr lang="en-MY" sz="6000" b="1">
                <a:highlight>
                  <a:srgbClr val="FFFF00"/>
                </a:highlight>
              </a:rPr>
              <a:t>Views</a:t>
            </a:r>
            <a:r>
              <a:rPr lang="en-MY" sz="6000" b="1"/>
              <a:t> </a:t>
            </a:r>
            <a:endParaRPr lang="en-US" sz="6000"/>
          </a:p>
        </p:txBody>
      </p:sp>
      <p:sp>
        <p:nvSpPr>
          <p:cNvPr id="3" name="Content Placeholder 2">
            <a:extLst>
              <a:ext uri="{FF2B5EF4-FFF2-40B4-BE49-F238E27FC236}">
                <a16:creationId xmlns:a16="http://schemas.microsoft.com/office/drawing/2014/main" id="{D20397ED-6CCD-B344-986E-46933B5EB8C5}"/>
              </a:ext>
            </a:extLst>
          </p:cNvPr>
          <p:cNvSpPr>
            <a:spLocks noGrp="1"/>
          </p:cNvSpPr>
          <p:nvPr>
            <p:ph idx="1"/>
          </p:nvPr>
        </p:nvSpPr>
        <p:spPr>
          <a:xfrm>
            <a:off x="6417733" y="1359090"/>
            <a:ext cx="5132665" cy="4048046"/>
          </a:xfrm>
        </p:spPr>
        <p:txBody>
          <a:bodyPr anchor="ctr">
            <a:normAutofit/>
          </a:bodyPr>
          <a:lstStyle/>
          <a:p>
            <a:pPr marL="0" indent="0">
              <a:buNone/>
            </a:pPr>
            <a:endParaRPr lang="en-MY" dirty="0"/>
          </a:p>
          <a:p>
            <a:pPr marL="0" indent="0">
              <a:buNone/>
            </a:pPr>
            <a:endParaRPr lang="en-MY" dirty="0"/>
          </a:p>
          <a:p>
            <a:pPr marL="0" indent="0">
              <a:buNone/>
            </a:pPr>
            <a:r>
              <a:rPr lang="en-MY">
                <a:latin typeface="Consolas" panose="020B0609020204030204" pitchFamily="49" charset="0"/>
              </a:rPr>
              <a:t>Route::get(‘/</a:t>
            </a:r>
            <a:r>
              <a:rPr lang="en-MY" err="1">
                <a:latin typeface="Consolas" panose="020B0609020204030204" pitchFamily="49" charset="0"/>
              </a:rPr>
              <a:t>url</a:t>
            </a:r>
            <a:r>
              <a:rPr lang="en-MY">
                <a:latin typeface="Consolas" panose="020B0609020204030204" pitchFamily="49" charset="0"/>
              </a:rPr>
              <a:t>’,function(){ </a:t>
            </a:r>
          </a:p>
          <a:p>
            <a:pPr marL="0" indent="0">
              <a:buNone/>
            </a:pPr>
            <a:r>
              <a:rPr lang="en-MY">
                <a:latin typeface="Consolas" panose="020B0609020204030204" pitchFamily="49" charset="0"/>
              </a:rPr>
              <a:t>return view(‘welcome’); </a:t>
            </a:r>
          </a:p>
          <a:p>
            <a:endParaRPr lang="en-MY">
              <a:latin typeface="Consolas" panose="020B0609020204030204" pitchFamily="49" charset="0"/>
            </a:endParaRPr>
          </a:p>
          <a:p>
            <a:pPr marL="0" indent="0">
              <a:buNone/>
            </a:pPr>
            <a:r>
              <a:rPr lang="en-MY">
                <a:latin typeface="Consolas" panose="020B0609020204030204" pitchFamily="49" charset="0"/>
              </a:rPr>
              <a:t>}); </a:t>
            </a:r>
            <a:endParaRPr lang="en-MY"/>
          </a:p>
          <a:p>
            <a:pPr marL="457200" indent="-457200">
              <a:buAutoNum type="arabicPeriod"/>
            </a:pPr>
            <a:endParaRPr lang="en-MY" dirty="0"/>
          </a:p>
          <a:p>
            <a:endParaRPr lang="en-US" dirty="0"/>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8297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9C8D586-1ECD-4981-BED2-97336112C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2">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D52601-1074-7442-896D-548A1737ED0F}"/>
              </a:ext>
            </a:extLst>
          </p:cNvPr>
          <p:cNvSpPr>
            <a:spLocks noGrp="1"/>
          </p:cNvSpPr>
          <p:nvPr>
            <p:ph type="title"/>
          </p:nvPr>
        </p:nvSpPr>
        <p:spPr>
          <a:xfrm>
            <a:off x="6400800" y="484632"/>
            <a:ext cx="5299586" cy="1609344"/>
          </a:xfrm>
          <a:ln>
            <a:noFill/>
          </a:ln>
        </p:spPr>
        <p:txBody>
          <a:bodyPr>
            <a:normAutofit/>
          </a:bodyPr>
          <a:lstStyle/>
          <a:p>
            <a:r>
              <a:rPr lang="en-US" sz="4000">
                <a:highlight>
                  <a:srgbClr val="FFFF00"/>
                </a:highlight>
              </a:rPr>
              <a:t>View Routes</a:t>
            </a:r>
          </a:p>
        </p:txBody>
      </p:sp>
      <p:pic>
        <p:nvPicPr>
          <p:cNvPr id="18" name="Picture 17" descr="A dashboard of a car">
            <a:extLst>
              <a:ext uri="{FF2B5EF4-FFF2-40B4-BE49-F238E27FC236}">
                <a16:creationId xmlns:a16="http://schemas.microsoft.com/office/drawing/2014/main" id="{40A3DABD-6A6E-A421-810E-CC3A567E7374}"/>
              </a:ext>
            </a:extLst>
          </p:cNvPr>
          <p:cNvPicPr>
            <a:picLocks noChangeAspect="1"/>
          </p:cNvPicPr>
          <p:nvPr/>
        </p:nvPicPr>
        <p:blipFill>
          <a:blip r:embed="rId3"/>
          <a:srcRect l="16328" r="24625" b="-1"/>
          <a:stretch>
            <a:fillRect/>
          </a:stretch>
        </p:blipFill>
        <p:spPr>
          <a:xfrm>
            <a:off x="1" y="10"/>
            <a:ext cx="6066502" cy="6857989"/>
          </a:xfrm>
          <a:prstGeom prst="rect">
            <a:avLst/>
          </a:prstGeom>
        </p:spPr>
      </p:pic>
      <p:sp>
        <p:nvSpPr>
          <p:cNvPr id="3" name="Content Placeholder 2">
            <a:extLst>
              <a:ext uri="{FF2B5EF4-FFF2-40B4-BE49-F238E27FC236}">
                <a16:creationId xmlns:a16="http://schemas.microsoft.com/office/drawing/2014/main" id="{587AE923-5576-8F40-84E8-0781778B9EB5}"/>
              </a:ext>
            </a:extLst>
          </p:cNvPr>
          <p:cNvSpPr>
            <a:spLocks noGrp="1"/>
          </p:cNvSpPr>
          <p:nvPr>
            <p:ph idx="1"/>
          </p:nvPr>
        </p:nvSpPr>
        <p:spPr>
          <a:xfrm>
            <a:off x="6400799" y="2121408"/>
            <a:ext cx="5299585" cy="4050792"/>
          </a:xfrm>
        </p:spPr>
        <p:txBody>
          <a:bodyPr>
            <a:normAutofit/>
          </a:bodyPr>
          <a:lstStyle/>
          <a:p>
            <a:r>
              <a:rPr lang="en-US" sz="1500"/>
              <a:t>If your route only needs to return a view, you may use the Route::view method. Like the redirect method, </a:t>
            </a:r>
          </a:p>
          <a:p>
            <a:r>
              <a:rPr lang="en-US" sz="1500"/>
              <a:t>This method provides a simple shortcut so that you do not have to define a full route or controller. </a:t>
            </a:r>
          </a:p>
          <a:p>
            <a:endParaRPr lang="en-US" sz="1500"/>
          </a:p>
          <a:p>
            <a:r>
              <a:rPr lang="en-US" sz="1500"/>
              <a:t>The view method accepts a URI as its first argument and a view name as its second argument. In addition, you may provide an array of data to pass to the view as an optional third argument:</a:t>
            </a:r>
          </a:p>
          <a:p>
            <a:endParaRPr lang="en-US" sz="1500"/>
          </a:p>
          <a:p>
            <a:r>
              <a:rPr lang="en-MY" sz="1500"/>
              <a:t>Route::view('/welcome', 'welcome');</a:t>
            </a:r>
          </a:p>
          <a:p>
            <a:pPr marL="0" indent="0">
              <a:buNone/>
            </a:pPr>
            <a:endParaRPr lang="en-MY" sz="1500"/>
          </a:p>
          <a:p>
            <a:r>
              <a:rPr lang="en-MY" sz="1500"/>
              <a:t>Route::view('/welcome', 'welcome', ['name' =&gt; 'Taylor']);</a:t>
            </a:r>
          </a:p>
          <a:p>
            <a:endParaRPr lang="en-US" sz="1500"/>
          </a:p>
        </p:txBody>
      </p:sp>
      <p:grpSp>
        <p:nvGrpSpPr>
          <p:cNvPr id="19" name="Group 18">
            <a:extLst>
              <a:ext uri="{FF2B5EF4-FFF2-40B4-BE49-F238E27FC236}">
                <a16:creationId xmlns:a16="http://schemas.microsoft.com/office/drawing/2014/main" id="{AF001A23-2767-4A31-BD30-56112DE95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2" name="Oval 11">
              <a:extLst>
                <a:ext uri="{FF2B5EF4-FFF2-40B4-BE49-F238E27FC236}">
                  <a16:creationId xmlns:a16="http://schemas.microsoft.com/office/drawing/2014/main" id="{C6BD30CE-7C6B-4C5B-8206-2A912062D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0" name="Oval 19">
              <a:extLst>
                <a:ext uri="{FF2B5EF4-FFF2-40B4-BE49-F238E27FC236}">
                  <a16:creationId xmlns:a16="http://schemas.microsoft.com/office/drawing/2014/main" id="{7FA45EC6-AD58-4CAF-846D-46D82B614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759491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A761D-23D8-A846-9492-3F09264C4846}"/>
              </a:ext>
            </a:extLst>
          </p:cNvPr>
          <p:cNvSpPr>
            <a:spLocks noGrp="1"/>
          </p:cNvSpPr>
          <p:nvPr>
            <p:ph type="title"/>
          </p:nvPr>
        </p:nvSpPr>
        <p:spPr>
          <a:xfrm>
            <a:off x="1069848" y="484632"/>
            <a:ext cx="10058400" cy="1609344"/>
          </a:xfrm>
        </p:spPr>
        <p:txBody>
          <a:bodyPr>
            <a:normAutofit/>
          </a:bodyPr>
          <a:lstStyle/>
          <a:p>
            <a:r>
              <a:rPr lang="en-US" dirty="0">
                <a:highlight>
                  <a:srgbClr val="FFFF00"/>
                </a:highlight>
              </a:rPr>
              <a:t>Anchor tag (linking page or route)</a:t>
            </a:r>
          </a:p>
        </p:txBody>
      </p:sp>
      <p:sp>
        <p:nvSpPr>
          <p:cNvPr id="9" name="Rectangle 8">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3005F30-7FCA-4DB9-23DA-E2D3D32EC8DB}"/>
              </a:ext>
            </a:extLst>
          </p:cNvPr>
          <p:cNvGraphicFramePr>
            <a:graphicFrameLocks noGrp="1"/>
          </p:cNvGraphicFramePr>
          <p:nvPr>
            <p:ph idx="1"/>
            <p:extLst>
              <p:ext uri="{D42A27DB-BD31-4B8C-83A1-F6EECF244321}">
                <p14:modId xmlns:p14="http://schemas.microsoft.com/office/powerpoint/2010/main" val="1532671607"/>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4584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CB4E61-AE4C-7E43-84C6-52BAE02FE6B8}"/>
              </a:ext>
            </a:extLst>
          </p:cNvPr>
          <p:cNvPicPr>
            <a:picLocks noChangeAspect="1"/>
          </p:cNvPicPr>
          <p:nvPr/>
        </p:nvPicPr>
        <p:blipFill>
          <a:blip r:embed="rId2"/>
          <a:stretch>
            <a:fillRect/>
          </a:stretch>
        </p:blipFill>
        <p:spPr>
          <a:xfrm>
            <a:off x="2542478" y="1349521"/>
            <a:ext cx="7426711" cy="4158958"/>
          </a:xfrm>
          <a:prstGeom prst="rect">
            <a:avLst/>
          </a:prstGeom>
        </p:spPr>
      </p:pic>
    </p:spTree>
    <p:extLst>
      <p:ext uri="{BB962C8B-B14F-4D97-AF65-F5344CB8AC3E}">
        <p14:creationId xmlns:p14="http://schemas.microsoft.com/office/powerpoint/2010/main" val="7190446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{FBF36321-17E8-9A47-875A-930C21112B5D}tf10001070</Template>
  <TotalTime>9602</TotalTime>
  <Words>882</Words>
  <Application>Microsoft Macintosh PowerPoint</Application>
  <PresentationFormat>Widescreen</PresentationFormat>
  <Paragraphs>106</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Consolas</vt:lpstr>
      <vt:lpstr>Rockwell</vt:lpstr>
      <vt:lpstr>Rockwell Condensed</vt:lpstr>
      <vt:lpstr>Rockwell Extra Bold</vt:lpstr>
      <vt:lpstr>Wingdings</vt:lpstr>
      <vt:lpstr>Wood Type</vt:lpstr>
      <vt:lpstr>BIIT 2305 Web Application Development  Chapter 8: laravel Mvc model</vt:lpstr>
      <vt:lpstr>outline</vt:lpstr>
      <vt:lpstr>Laravel MVC Model</vt:lpstr>
      <vt:lpstr>MVC</vt:lpstr>
      <vt:lpstr>M (Model)</vt:lpstr>
      <vt:lpstr>V (view)</vt:lpstr>
      <vt:lpstr>C (controller)</vt:lpstr>
      <vt:lpstr>Let’s look at a real scenario.</vt:lpstr>
      <vt:lpstr>What is route?</vt:lpstr>
      <vt:lpstr>Basic Route </vt:lpstr>
      <vt:lpstr>route cont…</vt:lpstr>
      <vt:lpstr>Route verbs</vt:lpstr>
      <vt:lpstr>Views</vt:lpstr>
      <vt:lpstr>Views </vt:lpstr>
      <vt:lpstr>View Routes</vt:lpstr>
      <vt:lpstr>Anchor tag (linking page or route)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 3305 Web Application Development</dc:title>
  <dc:creator>Microsoft Office User</dc:creator>
  <cp:lastModifiedBy>NAJHAN BIN MUHAMAD IBRAHIM</cp:lastModifiedBy>
  <cp:revision>81</cp:revision>
  <dcterms:created xsi:type="dcterms:W3CDTF">2020-10-08T03:38:21Z</dcterms:created>
  <dcterms:modified xsi:type="dcterms:W3CDTF">2026-04-14T03:09:22Z</dcterms:modified>
</cp:coreProperties>
</file>