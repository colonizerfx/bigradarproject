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23"/>
  </p:notesMasterIdLst>
  <p:sldIdLst>
    <p:sldId id="256" r:id="rId2"/>
    <p:sldId id="300" r:id="rId3"/>
    <p:sldId id="301" r:id="rId4"/>
    <p:sldId id="258" r:id="rId5"/>
    <p:sldId id="302" r:id="rId6"/>
    <p:sldId id="261" r:id="rId7"/>
    <p:sldId id="262" r:id="rId8"/>
    <p:sldId id="290" r:id="rId9"/>
    <p:sldId id="291" r:id="rId10"/>
    <p:sldId id="292" r:id="rId11"/>
    <p:sldId id="294" r:id="rId12"/>
    <p:sldId id="295" r:id="rId13"/>
    <p:sldId id="303" r:id="rId14"/>
    <p:sldId id="296" r:id="rId15"/>
    <p:sldId id="297" r:id="rId16"/>
    <p:sldId id="298" r:id="rId17"/>
    <p:sldId id="293" r:id="rId18"/>
    <p:sldId id="299" r:id="rId19"/>
    <p:sldId id="288" r:id="rId20"/>
    <p:sldId id="305" r:id="rId21"/>
    <p:sldId id="304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3"/>
    <p:restoredTop sz="95047"/>
  </p:normalViewPr>
  <p:slideViewPr>
    <p:cSldViewPr>
      <p:cViewPr varScale="1">
        <p:scale>
          <a:sx n="104" d="100"/>
          <a:sy n="104" d="100"/>
        </p:scale>
        <p:origin x="230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B258D7-1D99-2A4A-C0E6-3F047741A2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22ADE-9A27-F5AB-763E-B6B8B49C8C3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2B48BE4-D631-0F4F-A8CE-81BAF100297F}" type="datetimeFigureOut">
              <a:rPr lang="en-US"/>
              <a:pPr>
                <a:defRPr/>
              </a:pPr>
              <a:t>9/25/23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B936205-DA3B-7E2E-95C3-9C485B036F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1FC158B-313B-FA33-A5C8-CF07CFEB0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E9F83-4819-090B-C50E-267C8EE105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71D79-E651-61F7-B255-A05BFCB25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44C9FAF-D5C1-3949-8B92-0F0FA16F08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>
            <a:extLst>
              <a:ext uri="{FF2B5EF4-FFF2-40B4-BE49-F238E27FC236}">
                <a16:creationId xmlns:a16="http://schemas.microsoft.com/office/drawing/2014/main" id="{AD58C784-DD36-98C8-4307-F1C1658932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es Placeholder 2">
            <a:extLst>
              <a:ext uri="{FF2B5EF4-FFF2-40B4-BE49-F238E27FC236}">
                <a16:creationId xmlns:a16="http://schemas.microsoft.com/office/drawing/2014/main" id="{56A458D2-3FCA-5804-0CBC-D9287CFFE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54B72692-BA2E-1BA1-95D3-4D966D64BB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B8804F9-E372-4A4F-9D20-161B04EB264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5">
            <a:extLst>
              <a:ext uri="{FF2B5EF4-FFF2-40B4-BE49-F238E27FC236}">
                <a16:creationId xmlns:a16="http://schemas.microsoft.com/office/drawing/2014/main" id="{B9FBA19B-F7FC-601D-95E4-88C554303E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12863" y="1027113"/>
            <a:ext cx="493395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1" name="Text Box 1026">
            <a:extLst>
              <a:ext uri="{FF2B5EF4-FFF2-40B4-BE49-F238E27FC236}">
                <a16:creationId xmlns:a16="http://schemas.microsoft.com/office/drawing/2014/main" id="{F72BA814-BCB1-4A9C-6E04-62D9441EF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605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it-IT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>
            <a:extLst>
              <a:ext uri="{FF2B5EF4-FFF2-40B4-BE49-F238E27FC236}">
                <a16:creationId xmlns:a16="http://schemas.microsoft.com/office/drawing/2014/main" id="{558FBF15-655E-ED9C-4179-E28F30201A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12863" y="1027113"/>
            <a:ext cx="493395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59" name="Text Box 2">
            <a:extLst>
              <a:ext uri="{FF2B5EF4-FFF2-40B4-BE49-F238E27FC236}">
                <a16:creationId xmlns:a16="http://schemas.microsoft.com/office/drawing/2014/main" id="{471BA9F8-7487-A647-8042-5019C77FD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605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it-IT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>
            <a:extLst>
              <a:ext uri="{FF2B5EF4-FFF2-40B4-BE49-F238E27FC236}">
                <a16:creationId xmlns:a16="http://schemas.microsoft.com/office/drawing/2014/main" id="{5998F1AE-14CF-EFE8-0534-35D0A4BC8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12863" y="1027113"/>
            <a:ext cx="493395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7" name="Text Box 2">
            <a:extLst>
              <a:ext uri="{FF2B5EF4-FFF2-40B4-BE49-F238E27FC236}">
                <a16:creationId xmlns:a16="http://schemas.microsoft.com/office/drawing/2014/main" id="{095379F4-6A2C-EB2A-5B05-8655469A91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605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it-IT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744BD7DD-D174-38CF-28E1-C4DAF78D70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12863" y="1027113"/>
            <a:ext cx="493395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5" name="Text Box 2">
            <a:extLst>
              <a:ext uri="{FF2B5EF4-FFF2-40B4-BE49-F238E27FC236}">
                <a16:creationId xmlns:a16="http://schemas.microsoft.com/office/drawing/2014/main" id="{4FA8BBA6-B877-041F-D777-DDD90E424D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605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it-IT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>
            <a:extLst>
              <a:ext uri="{FF2B5EF4-FFF2-40B4-BE49-F238E27FC236}">
                <a16:creationId xmlns:a16="http://schemas.microsoft.com/office/drawing/2014/main" id="{CA47383D-A2E2-2195-1773-8D6667476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12863" y="1027113"/>
            <a:ext cx="493395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Text Box 2">
            <a:extLst>
              <a:ext uri="{FF2B5EF4-FFF2-40B4-BE49-F238E27FC236}">
                <a16:creationId xmlns:a16="http://schemas.microsoft.com/office/drawing/2014/main" id="{B3D15824-ED79-2080-2DE6-D74302CE0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605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it-IT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>
            <a:extLst>
              <a:ext uri="{FF2B5EF4-FFF2-40B4-BE49-F238E27FC236}">
                <a16:creationId xmlns:a16="http://schemas.microsoft.com/office/drawing/2014/main" id="{5E81C677-C3BA-F3B4-F9B7-65529CDBD2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12863" y="1027113"/>
            <a:ext cx="4933950" cy="37004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1" name="Text Box 2">
            <a:extLst>
              <a:ext uri="{FF2B5EF4-FFF2-40B4-BE49-F238E27FC236}">
                <a16:creationId xmlns:a16="http://schemas.microsoft.com/office/drawing/2014/main" id="{FC736DDA-9A3A-6FB3-DC1B-29738734D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605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it-IT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>
            <a:extLst>
              <a:ext uri="{FF2B5EF4-FFF2-40B4-BE49-F238E27FC236}">
                <a16:creationId xmlns:a16="http://schemas.microsoft.com/office/drawing/2014/main" id="{F755B4F4-0BA3-E6B1-3BB7-43E4D35878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8" name="Notes Placeholder 2">
            <a:extLst>
              <a:ext uri="{FF2B5EF4-FFF2-40B4-BE49-F238E27FC236}">
                <a16:creationId xmlns:a16="http://schemas.microsoft.com/office/drawing/2014/main" id="{781069F9-1B0C-DD23-D399-F02A08771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BDB028A0-DB7B-DD41-995F-0F9DA1C000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488912C-0E9E-394F-94B4-92CA50B04771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7E1BD6B-36CB-E7FB-F7BB-C88AD2962D0C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3" name="Line 3">
              <a:extLst>
                <a:ext uri="{FF2B5EF4-FFF2-40B4-BE49-F238E27FC236}">
                  <a16:creationId xmlns:a16="http://schemas.microsoft.com/office/drawing/2014/main" id="{BA629801-383D-EDBB-814D-562A80A72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8BE67626-84AC-C337-150D-918D9A08F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CE944642-27A3-CF01-E5E5-A2970D89B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77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charset="0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198AE4A-FE47-8343-CB6D-3CD091DF53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FCD517E4-D404-749A-6D42-027C31F8E6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EC5087D6-7A03-A963-1DF6-7D480D39A0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B5477-40BB-6142-9B41-C5C6949C30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636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7C99416-972C-D772-F2DE-362BCA3497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8475F57-982F-0717-5E02-3B7FF4462E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414614D1-75C4-F0F2-1E42-CACB0A5986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063504-6024-2248-BFC7-4FE57CB986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3201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984CDF2-D9E8-F062-C3AB-B48E20A7EB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397F8CB-1262-EF4D-D726-796030DE1D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2FA9A0E-11FD-A9CB-882D-3B3D2103F2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0ABB4-00E8-4846-BC6C-B0488E93F1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107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77328B2-99DE-20D9-ADF9-DE3FF2BE3D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D98CA442-6F46-F1ED-A086-8EA87AB5C0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6A7DE171-22FB-C150-B6BD-15E8D5428F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678726-611F-4E48-9D22-1FF17D091E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228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1A7186A-0C81-AF4E-EC19-24AAA9C9A4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DB14277A-1CC6-2DCC-384E-475996E5BA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6E39EBE7-8C3C-FF39-B5D4-1352B67310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6074E-49C6-EF40-B193-445ED92BA5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50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B5687802-08EF-C263-1852-605B75786E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9CFBB3D-A0BD-44C6-7363-93CD0F77C1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E2D8B969-5554-9B5A-1BA1-D38BCBF4C4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2A0C0C-B703-B446-9C5C-1972A3FFF8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940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06DC4080-2DD1-7210-0107-5F945C7DC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08722B0-D032-9B50-68B6-0D4CDFE606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A8DC3715-AB14-5F2A-072B-CC78BEBF47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28AD8-8F2C-BA41-9603-6B9ACEFF5A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8740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E5AB5BF-A7CA-D13C-B095-DE4DCB9815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2CAA0F0-23D6-72A6-B3FD-2437EA93C6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A915485-F1C1-C055-CC05-E5DE782C46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2645E-284E-524B-B62F-F7CC1AC508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253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30D0458-1B42-6CD9-48CC-193F43C33F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DB9A7C8-0726-4E33-2AB7-259662FCD2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2373D8C9-AB17-A147-9917-BA47BF16C3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6F441-AED3-4B41-9C5E-12C2A8FB94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400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335AA26-E63C-E9D4-2E57-6988CDA53F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F75D647-0BB0-A6C8-18B3-CDDAA68A72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4384AEB-3229-E597-017B-242BDE81A2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CBBEE-EE67-D144-9BF4-BB465FBD3F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4512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5FD5BE0-E730-7D88-A1F8-E21CAEB191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0CEAF1A-0110-BE50-709A-CEF5BFF50B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3A9CB7F-B443-C80B-7514-EC9466F2B0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03CDB7-C040-C245-9527-B32CF99CBF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0178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248" y="887071"/>
            <a:ext cx="7223505" cy="1009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7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676C8989-9F0C-B3ED-FFD0-A16D702BD08B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3AD12603-826A-9314-87DF-4005F12A9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9FA4EC6C-B1CD-AE57-E53A-15D65668B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B93C7554-B4D3-0BA0-3D91-42C1E2293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7" name="Rectangle 6">
            <a:extLst>
              <a:ext uri="{FF2B5EF4-FFF2-40B4-BE49-F238E27FC236}">
                <a16:creationId xmlns:a16="http://schemas.microsoft.com/office/drawing/2014/main" id="{2510B8F4-7C0B-36F0-3097-61DE6B494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F0958757-BF28-C09D-A46D-00130D851F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1752" name="Rectangle 8">
            <a:extLst>
              <a:ext uri="{FF2B5EF4-FFF2-40B4-BE49-F238E27FC236}">
                <a16:creationId xmlns:a16="http://schemas.microsoft.com/office/drawing/2014/main" id="{DC060625-0197-6E12-E6D1-3087EDB851E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Verdan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3" name="Rectangle 9">
            <a:extLst>
              <a:ext uri="{FF2B5EF4-FFF2-40B4-BE49-F238E27FC236}">
                <a16:creationId xmlns:a16="http://schemas.microsoft.com/office/drawing/2014/main" id="{81FC3386-9772-3A51-19F4-F7E80EF8D57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Verdan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4" name="Rectangle 10">
            <a:extLst>
              <a:ext uri="{FF2B5EF4-FFF2-40B4-BE49-F238E27FC236}">
                <a16:creationId xmlns:a16="http://schemas.microsoft.com/office/drawing/2014/main" id="{57777D33-747E-88AD-A847-B5BC366D1E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62CC703-6D1C-C648-92CA-5422BC566D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charset="0"/>
        <a:buChar char="¡"/>
        <a:defRPr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charset="0"/>
        <a:buChar char="¡"/>
        <a:defRPr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charset="0"/>
        <a:buChar char="¡"/>
        <a:defRPr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charset="0"/>
        <a:buChar char="¡"/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88A5C44-2F99-954B-EA90-1DB122E2AB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3200" dirty="0">
                <a:cs typeface="+mj-cs"/>
              </a:rPr>
              <a:t>INFO 3305</a:t>
            </a:r>
            <a:br>
              <a:rPr lang="en-US" sz="3200" dirty="0">
                <a:cs typeface="+mj-cs"/>
              </a:rPr>
            </a:br>
            <a:r>
              <a:rPr lang="en-US" sz="3200" dirty="0">
                <a:cs typeface="+mj-cs"/>
              </a:rPr>
              <a:t>Web Application Development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E288120-C289-02E4-675C-94D62BF125C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20589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latin typeface="Arial" charset="0"/>
                <a:cs typeface="+mn-cs"/>
              </a:rPr>
              <a:t>Instructor :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latin typeface="Arial" charset="0"/>
                <a:cs typeface="+mn-cs"/>
              </a:rPr>
              <a:t>Dr. </a:t>
            </a:r>
            <a:r>
              <a:rPr lang="en-US" sz="2400" dirty="0" err="1">
                <a:latin typeface="Arial" charset="0"/>
                <a:cs typeface="+mn-cs"/>
              </a:rPr>
              <a:t>Najhan</a:t>
            </a:r>
            <a:r>
              <a:rPr lang="en-US" sz="2400" dirty="0">
                <a:latin typeface="Arial" charset="0"/>
                <a:cs typeface="+mn-cs"/>
              </a:rPr>
              <a:t> M. Ibrahim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latin typeface="Arial" charset="0"/>
                <a:cs typeface="+mn-cs"/>
              </a:rPr>
              <a:t>Department of Information Systems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 err="1">
                <a:latin typeface="Arial" charset="0"/>
                <a:cs typeface="+mn-cs"/>
              </a:rPr>
              <a:t>Kulliyyah</a:t>
            </a:r>
            <a:r>
              <a:rPr lang="en-US" sz="2400" dirty="0">
                <a:latin typeface="Arial" charset="0"/>
                <a:cs typeface="+mn-cs"/>
              </a:rPr>
              <a:t> of ICT, IIUM.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1FF3EF99-6C03-326F-64FC-EF96978F6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390525"/>
            <a:ext cx="7231062" cy="904875"/>
          </a:xfrm>
        </p:spPr>
        <p:txBody>
          <a:bodyPr/>
          <a:lstStyle/>
          <a:p>
            <a:pPr>
              <a:tabLst>
                <a:tab pos="0" algn="l"/>
                <a:tab pos="420688" algn="l"/>
                <a:tab pos="842963" algn="l"/>
                <a:tab pos="1265238" algn="l"/>
                <a:tab pos="1687513" algn="l"/>
                <a:tab pos="2111375" algn="l"/>
                <a:tab pos="2533650" algn="l"/>
                <a:tab pos="2955925" algn="l"/>
                <a:tab pos="3378200" algn="l"/>
                <a:tab pos="3802063" algn="l"/>
                <a:tab pos="4224338" algn="l"/>
                <a:tab pos="4646613" algn="l"/>
                <a:tab pos="5068888" algn="l"/>
                <a:tab pos="5491163" algn="l"/>
                <a:tab pos="5915025" algn="l"/>
                <a:tab pos="6337300" algn="l"/>
                <a:tab pos="6759575" algn="l"/>
                <a:tab pos="7181850" algn="l"/>
                <a:tab pos="7604125" algn="l"/>
                <a:tab pos="8027988" algn="l"/>
                <a:tab pos="8450263" algn="l"/>
              </a:tabLst>
            </a:pPr>
            <a:r>
              <a:rPr lang="en-GB" altLang="en-US"/>
              <a:t>Introduction to PHP</a:t>
            </a: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306414CF-64E1-14DC-3C3C-16A49F24F2A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960438" y="1997075"/>
            <a:ext cx="7231062" cy="4327525"/>
          </a:xfrm>
        </p:spPr>
        <p:txBody>
          <a:bodyPr lIns="0" tIns="0" rIns="0" bIns="0" anchor="ctr"/>
          <a:lstStyle/>
          <a:p>
            <a:pPr marL="196850" lvl="1" indent="0" algn="ctr">
              <a:buSzTx/>
              <a:buFont typeface="Wingdings" pitchFamily="2" charset="2"/>
              <a:buNone/>
              <a:tabLst>
                <a:tab pos="498475" algn="l"/>
                <a:tab pos="920750" algn="l"/>
                <a:tab pos="1343025" algn="l"/>
                <a:tab pos="1765300" algn="l"/>
                <a:tab pos="2189163" algn="l"/>
                <a:tab pos="2611438" algn="l"/>
                <a:tab pos="3033713" algn="l"/>
                <a:tab pos="3455988" algn="l"/>
                <a:tab pos="3878263" algn="l"/>
                <a:tab pos="4302125" algn="l"/>
                <a:tab pos="4724400" algn="l"/>
                <a:tab pos="5146675" algn="l"/>
                <a:tab pos="5568950" algn="l"/>
                <a:tab pos="5992813" algn="l"/>
                <a:tab pos="6415088" algn="l"/>
                <a:tab pos="6837363" algn="l"/>
                <a:tab pos="7259638" algn="l"/>
                <a:tab pos="7681913" algn="l"/>
                <a:tab pos="8105775" algn="l"/>
                <a:tab pos="8528050" algn="l"/>
              </a:tabLst>
            </a:pPr>
            <a:r>
              <a:rPr lang="en-GB" altLang="en-US" sz="2800" b="1" i="1"/>
              <a:t>“PHP </a:t>
            </a:r>
            <a:r>
              <a:rPr lang="en-GB" altLang="en-US" sz="2800" i="1"/>
              <a:t>is a server-side scripting language designed specifically for the Web Application. Within an HTML page, you can embed PHP code that will be executed each time the page is visited</a:t>
            </a:r>
            <a:r>
              <a:rPr lang="en-GB" altLang="en-US" sz="2800" b="1" i="1"/>
              <a:t>.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>
            <a:extLst>
              <a:ext uri="{FF2B5EF4-FFF2-40B4-BE49-F238E27FC236}">
                <a16:creationId xmlns:a16="http://schemas.microsoft.com/office/drawing/2014/main" id="{C39D435D-03F9-30A5-9505-115DBE12B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457200"/>
            <a:ext cx="7231062" cy="904875"/>
          </a:xfrm>
        </p:spPr>
        <p:txBody>
          <a:bodyPr/>
          <a:lstStyle/>
          <a:p>
            <a:pPr>
              <a:tabLst>
                <a:tab pos="0" algn="l"/>
                <a:tab pos="420688" algn="l"/>
                <a:tab pos="842963" algn="l"/>
                <a:tab pos="1265238" algn="l"/>
                <a:tab pos="1687513" algn="l"/>
                <a:tab pos="2111375" algn="l"/>
                <a:tab pos="2533650" algn="l"/>
                <a:tab pos="2955925" algn="l"/>
                <a:tab pos="3378200" algn="l"/>
                <a:tab pos="3802063" algn="l"/>
                <a:tab pos="4224338" algn="l"/>
                <a:tab pos="4646613" algn="l"/>
                <a:tab pos="5068888" algn="l"/>
                <a:tab pos="5491163" algn="l"/>
                <a:tab pos="5915025" algn="l"/>
                <a:tab pos="6337300" algn="l"/>
                <a:tab pos="6759575" algn="l"/>
                <a:tab pos="7181850" algn="l"/>
                <a:tab pos="7604125" algn="l"/>
                <a:tab pos="8027988" algn="l"/>
                <a:tab pos="8450263" algn="l"/>
              </a:tabLst>
            </a:pPr>
            <a:r>
              <a:rPr lang="en-GB" altLang="en-US"/>
              <a:t>PHP History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0D9391F2-3834-25BF-C8D1-16A0FCCA03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0438" y="1828800"/>
            <a:ext cx="7231062" cy="4724400"/>
          </a:xfrm>
        </p:spPr>
        <p:txBody>
          <a:bodyPr/>
          <a:lstStyle/>
          <a:p>
            <a:pPr>
              <a:buSzTx/>
              <a:tabLst>
                <a:tab pos="419635" algn="l"/>
                <a:tab pos="842256" algn="l"/>
                <a:tab pos="1264877" algn="l"/>
                <a:tab pos="1687498" algn="l"/>
                <a:tab pos="2110120" algn="l"/>
                <a:tab pos="2532741" algn="l"/>
                <a:tab pos="2955362" algn="l"/>
                <a:tab pos="3377983" algn="l"/>
                <a:tab pos="3800605" algn="l"/>
                <a:tab pos="4223226" algn="l"/>
                <a:tab pos="4645847" algn="l"/>
                <a:tab pos="5068468" algn="l"/>
                <a:tab pos="5491090" algn="l"/>
                <a:tab pos="5913711" algn="l"/>
                <a:tab pos="6336332" algn="l"/>
                <a:tab pos="6760447" algn="l"/>
                <a:tab pos="7181575" algn="l"/>
                <a:tab pos="7604195" algn="l"/>
                <a:tab pos="8026817" algn="l"/>
                <a:tab pos="8449438" algn="l"/>
              </a:tabLst>
              <a:defRPr/>
            </a:pPr>
            <a:r>
              <a:rPr lang="en-GB" altLang="en-US" sz="2258" dirty="0"/>
              <a:t>1994: Created by R. </a:t>
            </a:r>
            <a:r>
              <a:rPr lang="en-GB" altLang="en-US" sz="2258" dirty="0" err="1"/>
              <a:t>Lesdorf</a:t>
            </a:r>
            <a:r>
              <a:rPr lang="en-GB" altLang="en-US" sz="2258" dirty="0"/>
              <a:t>, software engineer (part of Apache Team)</a:t>
            </a:r>
          </a:p>
          <a:p>
            <a:pPr>
              <a:buSzTx/>
              <a:tabLst>
                <a:tab pos="419635" algn="l"/>
                <a:tab pos="842256" algn="l"/>
                <a:tab pos="1264877" algn="l"/>
                <a:tab pos="1687498" algn="l"/>
                <a:tab pos="2110120" algn="l"/>
                <a:tab pos="2532741" algn="l"/>
                <a:tab pos="2955362" algn="l"/>
                <a:tab pos="3377983" algn="l"/>
                <a:tab pos="3800605" algn="l"/>
                <a:tab pos="4223226" algn="l"/>
                <a:tab pos="4645847" algn="l"/>
                <a:tab pos="5068468" algn="l"/>
                <a:tab pos="5491090" algn="l"/>
                <a:tab pos="5913711" algn="l"/>
                <a:tab pos="6336332" algn="l"/>
                <a:tab pos="6760447" algn="l"/>
                <a:tab pos="7181575" algn="l"/>
                <a:tab pos="7604195" algn="l"/>
                <a:tab pos="8026817" algn="l"/>
                <a:tab pos="8449438" algn="l"/>
              </a:tabLst>
              <a:defRPr/>
            </a:pPr>
            <a:endParaRPr lang="en-GB" altLang="en-US" sz="2258" dirty="0"/>
          </a:p>
          <a:p>
            <a:pPr>
              <a:buSzTx/>
              <a:tabLst>
                <a:tab pos="419635" algn="l"/>
                <a:tab pos="842256" algn="l"/>
                <a:tab pos="1264877" algn="l"/>
                <a:tab pos="1687498" algn="l"/>
                <a:tab pos="2110120" algn="l"/>
                <a:tab pos="2532741" algn="l"/>
                <a:tab pos="2955362" algn="l"/>
                <a:tab pos="3377983" algn="l"/>
                <a:tab pos="3800605" algn="l"/>
                <a:tab pos="4223226" algn="l"/>
                <a:tab pos="4645847" algn="l"/>
                <a:tab pos="5068468" algn="l"/>
                <a:tab pos="5491090" algn="l"/>
                <a:tab pos="5913711" algn="l"/>
                <a:tab pos="6336332" algn="l"/>
                <a:tab pos="6760447" algn="l"/>
                <a:tab pos="7181575" algn="l"/>
                <a:tab pos="7604195" algn="l"/>
                <a:tab pos="8026817" algn="l"/>
                <a:tab pos="8449438" algn="l"/>
              </a:tabLst>
              <a:defRPr/>
            </a:pPr>
            <a:r>
              <a:rPr lang="en-GB" altLang="en-US" sz="2258" dirty="0"/>
              <a:t>1995: Called </a:t>
            </a:r>
            <a:r>
              <a:rPr lang="en-GB" altLang="en-US" sz="2258" b="1" dirty="0"/>
              <a:t>Personal Home Page </a:t>
            </a:r>
            <a:r>
              <a:rPr lang="en-GB" altLang="en-US" sz="2258" dirty="0"/>
              <a:t>Tool, then released as version 2 with name PHP/FI (Form Interpreter, to </a:t>
            </a:r>
            <a:r>
              <a:rPr lang="en-GB" altLang="en-US" sz="2258" dirty="0" err="1"/>
              <a:t>analyze</a:t>
            </a:r>
            <a:r>
              <a:rPr lang="en-GB" altLang="en-US" sz="2258" dirty="0"/>
              <a:t> SQL queries)</a:t>
            </a:r>
          </a:p>
          <a:p>
            <a:pPr>
              <a:buSzTx/>
              <a:tabLst>
                <a:tab pos="419635" algn="l"/>
                <a:tab pos="842256" algn="l"/>
                <a:tab pos="1264877" algn="l"/>
                <a:tab pos="1687498" algn="l"/>
                <a:tab pos="2110120" algn="l"/>
                <a:tab pos="2532741" algn="l"/>
                <a:tab pos="2955362" algn="l"/>
                <a:tab pos="3377983" algn="l"/>
                <a:tab pos="3800605" algn="l"/>
                <a:tab pos="4223226" algn="l"/>
                <a:tab pos="4645847" algn="l"/>
                <a:tab pos="5068468" algn="l"/>
                <a:tab pos="5491090" algn="l"/>
                <a:tab pos="5913711" algn="l"/>
                <a:tab pos="6336332" algn="l"/>
                <a:tab pos="6760447" algn="l"/>
                <a:tab pos="7181575" algn="l"/>
                <a:tab pos="7604195" algn="l"/>
                <a:tab pos="8026817" algn="l"/>
                <a:tab pos="8449438" algn="l"/>
              </a:tabLst>
              <a:defRPr/>
            </a:pPr>
            <a:endParaRPr lang="en-GB" altLang="en-US" sz="2258" dirty="0"/>
          </a:p>
          <a:p>
            <a:pPr>
              <a:buSzTx/>
              <a:tabLst>
                <a:tab pos="419635" algn="l"/>
                <a:tab pos="842256" algn="l"/>
                <a:tab pos="1264877" algn="l"/>
                <a:tab pos="1687498" algn="l"/>
                <a:tab pos="2110120" algn="l"/>
                <a:tab pos="2532741" algn="l"/>
                <a:tab pos="2955362" algn="l"/>
                <a:tab pos="3377983" algn="l"/>
                <a:tab pos="3800605" algn="l"/>
                <a:tab pos="4223226" algn="l"/>
                <a:tab pos="4645847" algn="l"/>
                <a:tab pos="5068468" algn="l"/>
                <a:tab pos="5491090" algn="l"/>
                <a:tab pos="5913711" algn="l"/>
                <a:tab pos="6336332" algn="l"/>
                <a:tab pos="6760447" algn="l"/>
                <a:tab pos="7181575" algn="l"/>
                <a:tab pos="7604195" algn="l"/>
                <a:tab pos="8026817" algn="l"/>
                <a:tab pos="8449438" algn="l"/>
              </a:tabLst>
              <a:defRPr/>
            </a:pPr>
            <a:r>
              <a:rPr lang="en-GB" altLang="en-US" sz="2258" dirty="0"/>
              <a:t>Mid of 1997: used by 50,000 web sites</a:t>
            </a:r>
          </a:p>
          <a:p>
            <a:pPr>
              <a:buSzTx/>
              <a:tabLst>
                <a:tab pos="419635" algn="l"/>
                <a:tab pos="842256" algn="l"/>
                <a:tab pos="1264877" algn="l"/>
                <a:tab pos="1687498" algn="l"/>
                <a:tab pos="2110120" algn="l"/>
                <a:tab pos="2532741" algn="l"/>
                <a:tab pos="2955362" algn="l"/>
                <a:tab pos="3377983" algn="l"/>
                <a:tab pos="3800605" algn="l"/>
                <a:tab pos="4223226" algn="l"/>
                <a:tab pos="4645847" algn="l"/>
                <a:tab pos="5068468" algn="l"/>
                <a:tab pos="5491090" algn="l"/>
                <a:tab pos="5913711" algn="l"/>
                <a:tab pos="6336332" algn="l"/>
                <a:tab pos="6760447" algn="l"/>
                <a:tab pos="7181575" algn="l"/>
                <a:tab pos="7604195" algn="l"/>
                <a:tab pos="8026817" algn="l"/>
                <a:tab pos="8449438" algn="l"/>
              </a:tabLst>
              <a:defRPr/>
            </a:pPr>
            <a:r>
              <a:rPr lang="en-GB" altLang="en-US" sz="2258" dirty="0"/>
              <a:t>October 1998: used by 100,000 websites</a:t>
            </a:r>
          </a:p>
          <a:p>
            <a:pPr>
              <a:buSzTx/>
              <a:tabLst>
                <a:tab pos="419635" algn="l"/>
                <a:tab pos="842256" algn="l"/>
                <a:tab pos="1264877" algn="l"/>
                <a:tab pos="1687498" algn="l"/>
                <a:tab pos="2110120" algn="l"/>
                <a:tab pos="2532741" algn="l"/>
                <a:tab pos="2955362" algn="l"/>
                <a:tab pos="3377983" algn="l"/>
                <a:tab pos="3800605" algn="l"/>
                <a:tab pos="4223226" algn="l"/>
                <a:tab pos="4645847" algn="l"/>
                <a:tab pos="5068468" algn="l"/>
                <a:tab pos="5491090" algn="l"/>
                <a:tab pos="5913711" algn="l"/>
                <a:tab pos="6336332" algn="l"/>
                <a:tab pos="6760447" algn="l"/>
                <a:tab pos="7181575" algn="l"/>
                <a:tab pos="7604195" algn="l"/>
                <a:tab pos="8026817" algn="l"/>
                <a:tab pos="8449438" algn="l"/>
              </a:tabLst>
              <a:defRPr/>
            </a:pPr>
            <a:r>
              <a:rPr lang="en-GB" altLang="en-US" sz="2258" dirty="0"/>
              <a:t>End 1999: used by 1,000,000 websites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>
            <a:extLst>
              <a:ext uri="{FF2B5EF4-FFF2-40B4-BE49-F238E27FC236}">
                <a16:creationId xmlns:a16="http://schemas.microsoft.com/office/drawing/2014/main" id="{57328255-1E7B-26C0-4FF1-0C97E5518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381000"/>
            <a:ext cx="7231062" cy="904875"/>
          </a:xfrm>
        </p:spPr>
        <p:txBody>
          <a:bodyPr/>
          <a:lstStyle/>
          <a:p>
            <a:pPr>
              <a:tabLst>
                <a:tab pos="0" algn="l"/>
                <a:tab pos="420688" algn="l"/>
                <a:tab pos="842963" algn="l"/>
                <a:tab pos="1265238" algn="l"/>
                <a:tab pos="1687513" algn="l"/>
                <a:tab pos="2111375" algn="l"/>
                <a:tab pos="2533650" algn="l"/>
                <a:tab pos="2955925" algn="l"/>
                <a:tab pos="3378200" algn="l"/>
                <a:tab pos="3802063" algn="l"/>
                <a:tab pos="4224338" algn="l"/>
                <a:tab pos="4646613" algn="l"/>
                <a:tab pos="5068888" algn="l"/>
                <a:tab pos="5491163" algn="l"/>
                <a:tab pos="5915025" algn="l"/>
                <a:tab pos="6337300" algn="l"/>
                <a:tab pos="6759575" algn="l"/>
                <a:tab pos="7181850" algn="l"/>
                <a:tab pos="7604125" algn="l"/>
                <a:tab pos="8027988" algn="l"/>
                <a:tab pos="8450263" algn="l"/>
              </a:tabLst>
            </a:pPr>
            <a:r>
              <a:rPr lang="en-GB" altLang="en-US"/>
              <a:t>Alternatives to PHP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5A7A856A-8FB4-5886-1219-A75544F10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0438" y="1752600"/>
            <a:ext cx="7231062" cy="3414713"/>
          </a:xfrm>
        </p:spPr>
        <p:txBody>
          <a:bodyPr/>
          <a:lstStyle/>
          <a:p>
            <a:pPr>
              <a:defRPr/>
            </a:pPr>
            <a:r>
              <a:rPr lang="it-IT" altLang="en-US" sz="2634" dirty="0" err="1"/>
              <a:t>Practical</a:t>
            </a:r>
            <a:r>
              <a:rPr lang="it-IT" altLang="en-US" sz="2634" dirty="0"/>
              <a:t> </a:t>
            </a:r>
            <a:r>
              <a:rPr lang="it-IT" altLang="en-US" sz="2634" dirty="0" err="1"/>
              <a:t>extraction</a:t>
            </a:r>
            <a:r>
              <a:rPr lang="it-IT" altLang="en-US" sz="2634" dirty="0"/>
              <a:t> and Report Language (</a:t>
            </a:r>
            <a:r>
              <a:rPr lang="it-IT" altLang="en-US" sz="2634" dirty="0" err="1"/>
              <a:t>Perl</a:t>
            </a:r>
            <a:r>
              <a:rPr lang="it-IT" altLang="en-US" sz="2634" dirty="0"/>
              <a:t>)</a:t>
            </a:r>
          </a:p>
          <a:p>
            <a:pPr>
              <a:defRPr/>
            </a:pPr>
            <a:endParaRPr lang="it-IT" altLang="en-US" sz="2634" dirty="0"/>
          </a:p>
          <a:p>
            <a:pPr>
              <a:defRPr/>
            </a:pPr>
            <a:r>
              <a:rPr lang="it-IT" altLang="en-US" dirty="0"/>
              <a:t>Active Server </a:t>
            </a:r>
            <a:r>
              <a:rPr lang="it-IT" altLang="en-US" dirty="0" err="1"/>
              <a:t>Pages</a:t>
            </a:r>
            <a:r>
              <a:rPr lang="it-IT" altLang="en-US" dirty="0"/>
              <a:t> (ASP)</a:t>
            </a:r>
          </a:p>
          <a:p>
            <a:pPr>
              <a:defRPr/>
            </a:pPr>
            <a:endParaRPr lang="it-IT" altLang="en-US" dirty="0"/>
          </a:p>
          <a:p>
            <a:pPr>
              <a:defRPr/>
            </a:pPr>
            <a:r>
              <a:rPr lang="it-IT" altLang="en-US" dirty="0"/>
              <a:t>Java server </a:t>
            </a:r>
            <a:r>
              <a:rPr lang="it-IT" altLang="en-US" dirty="0" err="1"/>
              <a:t>pages</a:t>
            </a:r>
            <a:r>
              <a:rPr lang="it-IT" altLang="en-US" dirty="0"/>
              <a:t> (JSP)</a:t>
            </a:r>
          </a:p>
          <a:p>
            <a:pPr>
              <a:defRPr/>
            </a:pPr>
            <a:endParaRPr lang="it-IT" altLang="en-US" dirty="0"/>
          </a:p>
          <a:p>
            <a:pPr>
              <a:defRPr/>
            </a:pPr>
            <a:r>
              <a:rPr lang="it-IT" altLang="en-US" dirty="0"/>
              <a:t>Ruby </a:t>
            </a:r>
          </a:p>
          <a:p>
            <a:pPr>
              <a:defRPr/>
            </a:pPr>
            <a:endParaRPr lang="it-IT" altLang="en-US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>
            <a:extLst>
              <a:ext uri="{FF2B5EF4-FFF2-40B4-BE49-F238E27FC236}">
                <a16:creationId xmlns:a16="http://schemas.microsoft.com/office/drawing/2014/main" id="{3D805E2A-219E-93AA-CBEE-59A4C09F0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9325" y="609600"/>
            <a:ext cx="7231063" cy="904875"/>
          </a:xfrm>
        </p:spPr>
        <p:txBody>
          <a:bodyPr/>
          <a:lstStyle/>
          <a:p>
            <a:pPr>
              <a:tabLst>
                <a:tab pos="0" algn="l"/>
                <a:tab pos="420688" algn="l"/>
                <a:tab pos="842963" algn="l"/>
                <a:tab pos="1265238" algn="l"/>
                <a:tab pos="1687513" algn="l"/>
                <a:tab pos="2111375" algn="l"/>
                <a:tab pos="2533650" algn="l"/>
                <a:tab pos="2955925" algn="l"/>
                <a:tab pos="3378200" algn="l"/>
                <a:tab pos="3802063" algn="l"/>
                <a:tab pos="4224338" algn="l"/>
                <a:tab pos="4646613" algn="l"/>
                <a:tab pos="5068888" algn="l"/>
                <a:tab pos="5491163" algn="l"/>
                <a:tab pos="5915025" algn="l"/>
                <a:tab pos="6337300" algn="l"/>
                <a:tab pos="6759575" algn="l"/>
                <a:tab pos="7181850" algn="l"/>
                <a:tab pos="7604125" algn="l"/>
                <a:tab pos="8027988" algn="l"/>
                <a:tab pos="8450263" algn="l"/>
              </a:tabLst>
            </a:pPr>
            <a:r>
              <a:rPr lang="en-GB" altLang="en-US"/>
              <a:t>(Good) Topics about PHP</a:t>
            </a: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9335926D-DE89-9840-5E47-9E7D1A7AC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0438" y="1806575"/>
            <a:ext cx="7231062" cy="4213225"/>
          </a:xfrm>
        </p:spPr>
        <p:txBody>
          <a:bodyPr/>
          <a:lstStyle/>
          <a:p>
            <a:pPr>
              <a:buSzPct val="25000"/>
              <a:tabLst>
                <a:tab pos="419100" algn="l"/>
                <a:tab pos="841375" algn="l"/>
                <a:tab pos="1263650" algn="l"/>
                <a:tab pos="1685925" algn="l"/>
                <a:tab pos="2109788" algn="l"/>
                <a:tab pos="2532063" algn="l"/>
                <a:tab pos="2954338" algn="l"/>
                <a:tab pos="3376613" algn="l"/>
                <a:tab pos="3800475" algn="l"/>
                <a:tab pos="4222750" algn="l"/>
                <a:tab pos="4645025" algn="l"/>
                <a:tab pos="5067300" algn="l"/>
                <a:tab pos="5489575" algn="l"/>
                <a:tab pos="5913438" algn="l"/>
                <a:tab pos="6335713" algn="l"/>
                <a:tab pos="6759575" algn="l"/>
                <a:tab pos="7180263" algn="l"/>
                <a:tab pos="7604125" algn="l"/>
                <a:tab pos="8026400" algn="l"/>
                <a:tab pos="8448675" algn="l"/>
              </a:tabLst>
            </a:pPr>
            <a:r>
              <a:rPr lang="en-GB" altLang="en-US" sz="2000"/>
              <a:t>Open-source</a:t>
            </a:r>
          </a:p>
          <a:p>
            <a:pPr>
              <a:buSzPct val="25000"/>
              <a:tabLst>
                <a:tab pos="419100" algn="l"/>
                <a:tab pos="841375" algn="l"/>
                <a:tab pos="1263650" algn="l"/>
                <a:tab pos="1685925" algn="l"/>
                <a:tab pos="2109788" algn="l"/>
                <a:tab pos="2532063" algn="l"/>
                <a:tab pos="2954338" algn="l"/>
                <a:tab pos="3376613" algn="l"/>
                <a:tab pos="3800475" algn="l"/>
                <a:tab pos="4222750" algn="l"/>
                <a:tab pos="4645025" algn="l"/>
                <a:tab pos="5067300" algn="l"/>
                <a:tab pos="5489575" algn="l"/>
                <a:tab pos="5913438" algn="l"/>
                <a:tab pos="6335713" algn="l"/>
                <a:tab pos="6759575" algn="l"/>
                <a:tab pos="7180263" algn="l"/>
                <a:tab pos="7604125" algn="l"/>
                <a:tab pos="8026400" algn="l"/>
                <a:tab pos="8448675" algn="l"/>
              </a:tabLst>
            </a:pPr>
            <a:endParaRPr lang="en-GB" altLang="en-US" sz="2000"/>
          </a:p>
          <a:p>
            <a:pPr>
              <a:buSzPct val="25000"/>
              <a:tabLst>
                <a:tab pos="419100" algn="l"/>
                <a:tab pos="841375" algn="l"/>
                <a:tab pos="1263650" algn="l"/>
                <a:tab pos="1685925" algn="l"/>
                <a:tab pos="2109788" algn="l"/>
                <a:tab pos="2532063" algn="l"/>
                <a:tab pos="2954338" algn="l"/>
                <a:tab pos="3376613" algn="l"/>
                <a:tab pos="3800475" algn="l"/>
                <a:tab pos="4222750" algn="l"/>
                <a:tab pos="4645025" algn="l"/>
                <a:tab pos="5067300" algn="l"/>
                <a:tab pos="5489575" algn="l"/>
                <a:tab pos="5913438" algn="l"/>
                <a:tab pos="6335713" algn="l"/>
                <a:tab pos="6759575" algn="l"/>
                <a:tab pos="7180263" algn="l"/>
                <a:tab pos="7604125" algn="l"/>
                <a:tab pos="8026400" algn="l"/>
                <a:tab pos="8448675" algn="l"/>
              </a:tabLst>
            </a:pPr>
            <a:r>
              <a:rPr lang="en-GB" altLang="en-US" sz="2000"/>
              <a:t>Easy to use ( C-like and Perl-like syntax)</a:t>
            </a:r>
          </a:p>
          <a:p>
            <a:pPr>
              <a:buSzPct val="25000"/>
              <a:tabLst>
                <a:tab pos="419100" algn="l"/>
                <a:tab pos="841375" algn="l"/>
                <a:tab pos="1263650" algn="l"/>
                <a:tab pos="1685925" algn="l"/>
                <a:tab pos="2109788" algn="l"/>
                <a:tab pos="2532063" algn="l"/>
                <a:tab pos="2954338" algn="l"/>
                <a:tab pos="3376613" algn="l"/>
                <a:tab pos="3800475" algn="l"/>
                <a:tab pos="4222750" algn="l"/>
                <a:tab pos="4645025" algn="l"/>
                <a:tab pos="5067300" algn="l"/>
                <a:tab pos="5489575" algn="l"/>
                <a:tab pos="5913438" algn="l"/>
                <a:tab pos="6335713" algn="l"/>
                <a:tab pos="6759575" algn="l"/>
                <a:tab pos="7180263" algn="l"/>
                <a:tab pos="7604125" algn="l"/>
                <a:tab pos="8026400" algn="l"/>
                <a:tab pos="8448675" algn="l"/>
              </a:tabLst>
            </a:pPr>
            <a:endParaRPr lang="en-GB" altLang="en-US" sz="2000"/>
          </a:p>
          <a:p>
            <a:pPr>
              <a:buSzPct val="25000"/>
              <a:tabLst>
                <a:tab pos="419100" algn="l"/>
                <a:tab pos="841375" algn="l"/>
                <a:tab pos="1263650" algn="l"/>
                <a:tab pos="1685925" algn="l"/>
                <a:tab pos="2109788" algn="l"/>
                <a:tab pos="2532063" algn="l"/>
                <a:tab pos="2954338" algn="l"/>
                <a:tab pos="3376613" algn="l"/>
                <a:tab pos="3800475" algn="l"/>
                <a:tab pos="4222750" algn="l"/>
                <a:tab pos="4645025" algn="l"/>
                <a:tab pos="5067300" algn="l"/>
                <a:tab pos="5489575" algn="l"/>
                <a:tab pos="5913438" algn="l"/>
                <a:tab pos="6335713" algn="l"/>
                <a:tab pos="6759575" algn="l"/>
                <a:tab pos="7180263" algn="l"/>
                <a:tab pos="7604125" algn="l"/>
                <a:tab pos="8026400" algn="l"/>
                <a:tab pos="8448675" algn="l"/>
              </a:tabLst>
            </a:pPr>
            <a:r>
              <a:rPr lang="en-GB" altLang="en-US" sz="2000"/>
              <a:t>Stable and fast</a:t>
            </a:r>
          </a:p>
          <a:p>
            <a:pPr>
              <a:buSzPct val="25000"/>
              <a:tabLst>
                <a:tab pos="419100" algn="l"/>
                <a:tab pos="841375" algn="l"/>
                <a:tab pos="1263650" algn="l"/>
                <a:tab pos="1685925" algn="l"/>
                <a:tab pos="2109788" algn="l"/>
                <a:tab pos="2532063" algn="l"/>
                <a:tab pos="2954338" algn="l"/>
                <a:tab pos="3376613" algn="l"/>
                <a:tab pos="3800475" algn="l"/>
                <a:tab pos="4222750" algn="l"/>
                <a:tab pos="4645025" algn="l"/>
                <a:tab pos="5067300" algn="l"/>
                <a:tab pos="5489575" algn="l"/>
                <a:tab pos="5913438" algn="l"/>
                <a:tab pos="6335713" algn="l"/>
                <a:tab pos="6759575" algn="l"/>
                <a:tab pos="7180263" algn="l"/>
                <a:tab pos="7604125" algn="l"/>
                <a:tab pos="8026400" algn="l"/>
                <a:tab pos="8448675" algn="l"/>
              </a:tabLst>
            </a:pPr>
            <a:endParaRPr lang="en-GB" altLang="en-US" sz="2000"/>
          </a:p>
          <a:p>
            <a:pPr>
              <a:buSzPct val="25000"/>
              <a:tabLst>
                <a:tab pos="419100" algn="l"/>
                <a:tab pos="841375" algn="l"/>
                <a:tab pos="1263650" algn="l"/>
                <a:tab pos="1685925" algn="l"/>
                <a:tab pos="2109788" algn="l"/>
                <a:tab pos="2532063" algn="l"/>
                <a:tab pos="2954338" algn="l"/>
                <a:tab pos="3376613" algn="l"/>
                <a:tab pos="3800475" algn="l"/>
                <a:tab pos="4222750" algn="l"/>
                <a:tab pos="4645025" algn="l"/>
                <a:tab pos="5067300" algn="l"/>
                <a:tab pos="5489575" algn="l"/>
                <a:tab pos="5913438" algn="l"/>
                <a:tab pos="6335713" algn="l"/>
                <a:tab pos="6759575" algn="l"/>
                <a:tab pos="7180263" algn="l"/>
                <a:tab pos="7604125" algn="l"/>
                <a:tab pos="8026400" algn="l"/>
                <a:tab pos="8448675" algn="l"/>
              </a:tabLst>
            </a:pPr>
            <a:r>
              <a:rPr lang="en-GB" altLang="en-US" sz="2000"/>
              <a:t>Multiplatform</a:t>
            </a:r>
          </a:p>
          <a:p>
            <a:pPr>
              <a:buSzPct val="25000"/>
              <a:tabLst>
                <a:tab pos="419100" algn="l"/>
                <a:tab pos="841375" algn="l"/>
                <a:tab pos="1263650" algn="l"/>
                <a:tab pos="1685925" algn="l"/>
                <a:tab pos="2109788" algn="l"/>
                <a:tab pos="2532063" algn="l"/>
                <a:tab pos="2954338" algn="l"/>
                <a:tab pos="3376613" algn="l"/>
                <a:tab pos="3800475" algn="l"/>
                <a:tab pos="4222750" algn="l"/>
                <a:tab pos="4645025" algn="l"/>
                <a:tab pos="5067300" algn="l"/>
                <a:tab pos="5489575" algn="l"/>
                <a:tab pos="5913438" algn="l"/>
                <a:tab pos="6335713" algn="l"/>
                <a:tab pos="6759575" algn="l"/>
                <a:tab pos="7180263" algn="l"/>
                <a:tab pos="7604125" algn="l"/>
                <a:tab pos="8026400" algn="l"/>
                <a:tab pos="8448675" algn="l"/>
              </a:tabLst>
            </a:pPr>
            <a:endParaRPr lang="en-GB" altLang="en-US" sz="2000"/>
          </a:p>
          <a:p>
            <a:pPr>
              <a:buSzPct val="25000"/>
              <a:tabLst>
                <a:tab pos="419100" algn="l"/>
                <a:tab pos="841375" algn="l"/>
                <a:tab pos="1263650" algn="l"/>
                <a:tab pos="1685925" algn="l"/>
                <a:tab pos="2109788" algn="l"/>
                <a:tab pos="2532063" algn="l"/>
                <a:tab pos="2954338" algn="l"/>
                <a:tab pos="3376613" algn="l"/>
                <a:tab pos="3800475" algn="l"/>
                <a:tab pos="4222750" algn="l"/>
                <a:tab pos="4645025" algn="l"/>
                <a:tab pos="5067300" algn="l"/>
                <a:tab pos="5489575" algn="l"/>
                <a:tab pos="5913438" algn="l"/>
                <a:tab pos="6335713" algn="l"/>
                <a:tab pos="6759575" algn="l"/>
                <a:tab pos="7180263" algn="l"/>
                <a:tab pos="7604125" algn="l"/>
                <a:tab pos="8026400" algn="l"/>
                <a:tab pos="8448675" algn="l"/>
              </a:tabLst>
            </a:pPr>
            <a:r>
              <a:rPr lang="en-GB" altLang="en-US" sz="2000"/>
              <a:t>Many databases support</a:t>
            </a:r>
          </a:p>
          <a:p>
            <a:pPr>
              <a:buSzPct val="25000"/>
              <a:tabLst>
                <a:tab pos="419100" algn="l"/>
                <a:tab pos="841375" algn="l"/>
                <a:tab pos="1263650" algn="l"/>
                <a:tab pos="1685925" algn="l"/>
                <a:tab pos="2109788" algn="l"/>
                <a:tab pos="2532063" algn="l"/>
                <a:tab pos="2954338" algn="l"/>
                <a:tab pos="3376613" algn="l"/>
                <a:tab pos="3800475" algn="l"/>
                <a:tab pos="4222750" algn="l"/>
                <a:tab pos="4645025" algn="l"/>
                <a:tab pos="5067300" algn="l"/>
                <a:tab pos="5489575" algn="l"/>
                <a:tab pos="5913438" algn="l"/>
                <a:tab pos="6335713" algn="l"/>
                <a:tab pos="6759575" algn="l"/>
                <a:tab pos="7180263" algn="l"/>
                <a:tab pos="7604125" algn="l"/>
                <a:tab pos="8026400" algn="l"/>
                <a:tab pos="8448675" algn="l"/>
              </a:tabLst>
            </a:pPr>
            <a:endParaRPr lang="en-GB" altLang="en-US" sz="2000"/>
          </a:p>
          <a:p>
            <a:pPr>
              <a:buSzPct val="25000"/>
              <a:tabLst>
                <a:tab pos="419100" algn="l"/>
                <a:tab pos="841375" algn="l"/>
                <a:tab pos="1263650" algn="l"/>
                <a:tab pos="1685925" algn="l"/>
                <a:tab pos="2109788" algn="l"/>
                <a:tab pos="2532063" algn="l"/>
                <a:tab pos="2954338" algn="l"/>
                <a:tab pos="3376613" algn="l"/>
                <a:tab pos="3800475" algn="l"/>
                <a:tab pos="4222750" algn="l"/>
                <a:tab pos="4645025" algn="l"/>
                <a:tab pos="5067300" algn="l"/>
                <a:tab pos="5489575" algn="l"/>
                <a:tab pos="5913438" algn="l"/>
                <a:tab pos="6335713" algn="l"/>
                <a:tab pos="6759575" algn="l"/>
                <a:tab pos="7180263" algn="l"/>
                <a:tab pos="7604125" algn="l"/>
                <a:tab pos="8026400" algn="l"/>
                <a:tab pos="8448675" algn="l"/>
              </a:tabLst>
            </a:pPr>
            <a:r>
              <a:rPr lang="en-GB" altLang="en-US" sz="2000"/>
              <a:t>Many common built-in libraries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>
            <a:extLst>
              <a:ext uri="{FF2B5EF4-FFF2-40B4-BE49-F238E27FC236}">
                <a16:creationId xmlns:a16="http://schemas.microsoft.com/office/drawing/2014/main" id="{2AEAEAD6-7113-190D-D063-673508C1D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7263" y="511175"/>
            <a:ext cx="7229475" cy="863600"/>
          </a:xfrm>
        </p:spPr>
        <p:txBody>
          <a:bodyPr/>
          <a:lstStyle/>
          <a:p>
            <a:pPr>
              <a:tabLst>
                <a:tab pos="0" algn="l"/>
                <a:tab pos="421128" algn="l"/>
                <a:tab pos="843750" algn="l"/>
                <a:tab pos="1266370" algn="l"/>
                <a:tab pos="1688992" algn="l"/>
                <a:tab pos="2111613" algn="l"/>
                <a:tab pos="2534235" algn="l"/>
                <a:tab pos="2956855" algn="l"/>
                <a:tab pos="3379477" algn="l"/>
                <a:tab pos="3802098" algn="l"/>
                <a:tab pos="4224719" algn="l"/>
                <a:tab pos="4647340" algn="l"/>
                <a:tab pos="5069962" algn="l"/>
                <a:tab pos="5492583" algn="l"/>
                <a:tab pos="5915204" algn="l"/>
                <a:tab pos="6337825" algn="l"/>
                <a:tab pos="6760447" algn="l"/>
                <a:tab pos="7183068" algn="l"/>
                <a:tab pos="7605689" algn="l"/>
                <a:tab pos="8028310" algn="l"/>
                <a:tab pos="8450932" algn="l"/>
              </a:tabLst>
              <a:defRPr/>
            </a:pPr>
            <a:r>
              <a:rPr lang="en-GB" altLang="en-US" sz="3198" b="1" dirty="0"/>
              <a:t>How PHP generates </a:t>
            </a:r>
            <a:br>
              <a:rPr lang="en-GB" altLang="en-US" sz="3198" b="1" dirty="0"/>
            </a:br>
            <a:r>
              <a:rPr lang="en-GB" altLang="en-US" sz="3198" b="1" dirty="0"/>
              <a:t>HTML/JS Web pages</a:t>
            </a:r>
          </a:p>
        </p:txBody>
      </p:sp>
      <p:sp>
        <p:nvSpPr>
          <p:cNvPr id="24578" name="Text Box 2">
            <a:extLst>
              <a:ext uri="{FF2B5EF4-FFF2-40B4-BE49-F238E27FC236}">
                <a16:creationId xmlns:a16="http://schemas.microsoft.com/office/drawing/2014/main" id="{8AFE8159-0262-E386-0343-82A94EBB6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4557713"/>
            <a:ext cx="7361237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ts val="1688"/>
              </a:lnSpc>
              <a:spcBef>
                <a:spcPct val="0"/>
              </a:spcBef>
              <a:buClr>
                <a:srgbClr val="000000"/>
              </a:buClr>
              <a:buSzTx/>
              <a:buFontTx/>
              <a:buNone/>
            </a:pPr>
            <a:r>
              <a:rPr lang="en-GB" altLang="en-US" sz="1400"/>
              <a:t>1: Client from browser send HTTP request (with POST/GET variables)</a:t>
            </a:r>
          </a:p>
          <a:p>
            <a:pPr eaLnBrk="1">
              <a:lnSpc>
                <a:spcPts val="1688"/>
              </a:lnSpc>
              <a:spcBef>
                <a:spcPct val="0"/>
              </a:spcBef>
              <a:buClr>
                <a:srgbClr val="000000"/>
              </a:buClr>
              <a:buSzTx/>
              <a:buFontTx/>
              <a:buNone/>
            </a:pPr>
            <a:endParaRPr lang="en-GB" altLang="en-US" sz="1400"/>
          </a:p>
          <a:p>
            <a:pPr eaLnBrk="1">
              <a:lnSpc>
                <a:spcPct val="101000"/>
              </a:lnSpc>
              <a:spcBef>
                <a:spcPct val="0"/>
              </a:spcBef>
              <a:buClr>
                <a:srgbClr val="000000"/>
              </a:buClr>
              <a:buSzTx/>
              <a:buFont typeface="StarSymbol" charset="0"/>
              <a:buNone/>
            </a:pPr>
            <a:r>
              <a:rPr lang="en-GB" altLang="en-US" sz="1400"/>
              <a:t>2: Apache recognizes that a PHP script is requested and sends the request to PHP module</a:t>
            </a:r>
          </a:p>
          <a:p>
            <a:pPr eaLnBrk="1">
              <a:lnSpc>
                <a:spcPct val="101000"/>
              </a:lnSpc>
              <a:spcBef>
                <a:spcPct val="0"/>
              </a:spcBef>
              <a:buClr>
                <a:srgbClr val="000000"/>
              </a:buClr>
              <a:buSzTx/>
              <a:buFont typeface="StarSymbol" charset="0"/>
              <a:buNone/>
            </a:pPr>
            <a:endParaRPr lang="en-GB" altLang="en-US" sz="1400"/>
          </a:p>
          <a:p>
            <a:pPr eaLnBrk="1">
              <a:lnSpc>
                <a:spcPct val="101000"/>
              </a:lnSpc>
              <a:spcBef>
                <a:spcPct val="0"/>
              </a:spcBef>
              <a:buClr>
                <a:srgbClr val="000000"/>
              </a:buClr>
              <a:buSzTx/>
              <a:buFont typeface="StarSymbol" charset="0"/>
              <a:buNone/>
            </a:pPr>
            <a:r>
              <a:rPr lang="en-GB" altLang="en-US" sz="1400"/>
              <a:t>3: PHP interpreter executes PHP script, collects script output and sends it back</a:t>
            </a:r>
          </a:p>
          <a:p>
            <a:pPr eaLnBrk="1">
              <a:lnSpc>
                <a:spcPct val="101000"/>
              </a:lnSpc>
              <a:spcBef>
                <a:spcPct val="0"/>
              </a:spcBef>
              <a:buClr>
                <a:srgbClr val="000000"/>
              </a:buClr>
              <a:buSzTx/>
              <a:buFont typeface="StarSymbol" charset="0"/>
              <a:buNone/>
            </a:pPr>
            <a:endParaRPr lang="en-GB" altLang="en-US" sz="1400"/>
          </a:p>
          <a:p>
            <a:pPr eaLnBrk="1">
              <a:lnSpc>
                <a:spcPct val="101000"/>
              </a:lnSpc>
              <a:spcBef>
                <a:spcPct val="0"/>
              </a:spcBef>
              <a:buClr>
                <a:srgbClr val="000000"/>
              </a:buClr>
              <a:buSzTx/>
              <a:buFont typeface="StarSymbol" charset="0"/>
              <a:buNone/>
            </a:pPr>
            <a:r>
              <a:rPr lang="en-GB" altLang="en-US" sz="1400"/>
              <a:t>4: Apache replies to client using the PHP script output as HTML output </a:t>
            </a:r>
          </a:p>
        </p:txBody>
      </p:sp>
      <p:grpSp>
        <p:nvGrpSpPr>
          <p:cNvPr id="24579" name="Group 3">
            <a:extLst>
              <a:ext uri="{FF2B5EF4-FFF2-40B4-BE49-F238E27FC236}">
                <a16:creationId xmlns:a16="http://schemas.microsoft.com/office/drawing/2014/main" id="{3383DC09-D721-2CAA-315E-924F507BE224}"/>
              </a:ext>
            </a:extLst>
          </p:cNvPr>
          <p:cNvGrpSpPr>
            <a:grpSpLocks/>
          </p:cNvGrpSpPr>
          <p:nvPr/>
        </p:nvGrpSpPr>
        <p:grpSpPr bwMode="auto">
          <a:xfrm>
            <a:off x="1290638" y="1671638"/>
            <a:ext cx="6243637" cy="2397125"/>
            <a:chOff x="890" y="714"/>
            <a:chExt cx="4181" cy="1605"/>
          </a:xfrm>
        </p:grpSpPr>
        <p:sp>
          <p:nvSpPr>
            <p:cNvPr id="24580" name="AutoShape 4">
              <a:extLst>
                <a:ext uri="{FF2B5EF4-FFF2-40B4-BE49-F238E27FC236}">
                  <a16:creationId xmlns:a16="http://schemas.microsoft.com/office/drawing/2014/main" id="{478AAD18-399D-DD72-3C6A-823AFEB30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714"/>
              <a:ext cx="4181" cy="1605"/>
            </a:xfrm>
            <a:prstGeom prst="roundRect">
              <a:avLst>
                <a:gd name="adj" fmla="val 60"/>
              </a:avLst>
            </a:prstGeom>
            <a:solidFill>
              <a:srgbClr val="808080">
                <a:alpha val="50195"/>
              </a:srgbClr>
            </a:solidFill>
            <a:ln w="936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grpSp>
          <p:nvGrpSpPr>
            <p:cNvPr id="24581" name="Group 5">
              <a:extLst>
                <a:ext uri="{FF2B5EF4-FFF2-40B4-BE49-F238E27FC236}">
                  <a16:creationId xmlns:a16="http://schemas.microsoft.com/office/drawing/2014/main" id="{6B2DC1B3-5289-7067-EBE8-B1581B209B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" y="793"/>
              <a:ext cx="2998" cy="1417"/>
              <a:chOff x="1541" y="793"/>
              <a:chExt cx="2998" cy="1417"/>
            </a:xfrm>
          </p:grpSpPr>
          <p:sp>
            <p:nvSpPr>
              <p:cNvPr id="24582" name="Line 6">
                <a:extLst>
                  <a:ext uri="{FF2B5EF4-FFF2-40B4-BE49-F238E27FC236}">
                    <a16:creationId xmlns:a16="http://schemas.microsoft.com/office/drawing/2014/main" id="{7D81BFC6-2A6D-A984-4A41-6D73ED3FD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0" y="1230"/>
                <a:ext cx="341" cy="540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prstDash val="sysDot"/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4583" name="Group 7">
                <a:extLst>
                  <a:ext uri="{FF2B5EF4-FFF2-40B4-BE49-F238E27FC236}">
                    <a16:creationId xmlns:a16="http://schemas.microsoft.com/office/drawing/2014/main" id="{8B366580-218F-0693-4128-53B5997C1D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1" y="793"/>
                <a:ext cx="2998" cy="1417"/>
                <a:chOff x="1541" y="793"/>
                <a:chExt cx="2998" cy="1417"/>
              </a:xfrm>
            </p:grpSpPr>
            <p:sp>
              <p:nvSpPr>
                <p:cNvPr id="8200" name="Text Box 8">
                  <a:extLst>
                    <a:ext uri="{FF2B5EF4-FFF2-40B4-BE49-F238E27FC236}">
                      <a16:creationId xmlns:a16="http://schemas.microsoft.com/office/drawing/2014/main" id="{881D26F9-6077-7504-AC34-5EB5674886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19" y="1994"/>
                  <a:ext cx="94" cy="2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>
                  <a:spAutoFit/>
                </a:bodyPr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>
                    <a:lnSpc>
                      <a:spcPct val="101000"/>
                    </a:lnSpc>
                    <a:buClr>
                      <a:srgbClr val="000000"/>
                    </a:buClr>
                    <a:buSzPct val="45000"/>
                    <a:buFont typeface="StarSymbol" charset="0"/>
                    <a:buNone/>
                    <a:defRPr/>
                  </a:pPr>
                  <a:r>
                    <a:rPr lang="en-GB" altLang="en-US" sz="2258">
                      <a:latin typeface="Verdana" panose="020B0604030504040204" pitchFamily="34" charset="0"/>
                      <a:ea typeface="HG Mincho Light J" charset="0"/>
                      <a:cs typeface="HG Mincho Light J" charset="0"/>
                    </a:rPr>
                    <a:t>2</a:t>
                  </a:r>
                </a:p>
              </p:txBody>
            </p:sp>
            <p:grpSp>
              <p:nvGrpSpPr>
                <p:cNvPr id="24585" name="Group 9">
                  <a:extLst>
                    <a:ext uri="{FF2B5EF4-FFF2-40B4-BE49-F238E27FC236}">
                      <a16:creationId xmlns:a16="http://schemas.microsoft.com/office/drawing/2014/main" id="{44045586-E923-24A1-B73D-337BF96535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41" y="793"/>
                  <a:ext cx="783" cy="432"/>
                  <a:chOff x="1541" y="793"/>
                  <a:chExt cx="783" cy="432"/>
                </a:xfrm>
              </p:grpSpPr>
              <p:sp>
                <p:nvSpPr>
                  <p:cNvPr id="24598" name="AutoShape 10">
                    <a:extLst>
                      <a:ext uri="{FF2B5EF4-FFF2-40B4-BE49-F238E27FC236}">
                        <a16:creationId xmlns:a16="http://schemas.microsoft.com/office/drawing/2014/main" id="{F45FA61E-6A21-E317-A6C1-BDB4FB9DF3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41" y="793"/>
                    <a:ext cx="783" cy="432"/>
                  </a:xfrm>
                  <a:prstGeom prst="roundRect">
                    <a:avLst>
                      <a:gd name="adj" fmla="val 231"/>
                    </a:avLst>
                  </a:prstGeom>
                  <a:noFill/>
                  <a:ln w="936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¡"/>
                      <a:defRPr sz="2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5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Wingdings" pitchFamily="2" charset="2"/>
                      <a:buChar char="¡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8203" name="Text Box 11">
                    <a:extLst>
                      <a:ext uri="{FF2B5EF4-FFF2-40B4-BE49-F238E27FC236}">
                        <a16:creationId xmlns:a16="http://schemas.microsoft.com/office/drawing/2014/main" id="{0EB5DB96-D118-6621-74C9-C5741232F17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41" y="864"/>
                    <a:ext cx="783" cy="28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0" tIns="0" rIns="0" bIns="0" anchor="ctr">
                    <a:spAutoFit/>
                  </a:bodyPr>
                  <a:lstStyle>
                    <a:lvl1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>
                      <a:lnSpc>
                        <a:spcPts val="1693"/>
                      </a:lnSpc>
                      <a:buClr>
                        <a:srgbClr val="000000"/>
                      </a:buClr>
                      <a:defRPr/>
                    </a:pPr>
                    <a:r>
                      <a:rPr lang="en-GB" altLang="en-US" sz="1693" b="1">
                        <a:latin typeface="Verdana" panose="020B0604030504040204" pitchFamily="34" charset="0"/>
                        <a:ea typeface="HG Mincho Light J" charset="0"/>
                        <a:cs typeface="HG Mincho Light J" charset="0"/>
                      </a:rPr>
                      <a:t>Client Browser</a:t>
                    </a:r>
                  </a:p>
                </p:txBody>
              </p:sp>
            </p:grpSp>
            <p:sp>
              <p:nvSpPr>
                <p:cNvPr id="8204" name="Text Box 12">
                  <a:extLst>
                    <a:ext uri="{FF2B5EF4-FFF2-40B4-BE49-F238E27FC236}">
                      <a16:creationId xmlns:a16="http://schemas.microsoft.com/office/drawing/2014/main" id="{9DECA95D-7CD0-5FBA-322E-DFA2560005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37" y="1440"/>
                  <a:ext cx="118" cy="2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>
                  <a:spAutoFit/>
                </a:bodyPr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>
                    <a:lnSpc>
                      <a:spcPct val="101000"/>
                    </a:lnSpc>
                    <a:buClr>
                      <a:srgbClr val="000000"/>
                    </a:buClr>
                    <a:buSzPct val="45000"/>
                    <a:buFont typeface="StarSymbol" charset="0"/>
                    <a:buNone/>
                    <a:defRPr/>
                  </a:pPr>
                  <a:r>
                    <a:rPr lang="en-GB" altLang="en-US" sz="2258">
                      <a:latin typeface="Verdana" panose="020B0604030504040204" pitchFamily="34" charset="0"/>
                      <a:ea typeface="HG Mincho Light J" charset="0"/>
                      <a:cs typeface="HG Mincho Light J" charset="0"/>
                    </a:rPr>
                    <a:t>1</a:t>
                  </a:r>
                </a:p>
              </p:txBody>
            </p:sp>
            <p:grpSp>
              <p:nvGrpSpPr>
                <p:cNvPr id="24587" name="Group 13">
                  <a:extLst>
                    <a:ext uri="{FF2B5EF4-FFF2-40B4-BE49-F238E27FC236}">
                      <a16:creationId xmlns:a16="http://schemas.microsoft.com/office/drawing/2014/main" id="{BB84CAB7-E302-37A2-CF1E-2792DFB664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56" y="1434"/>
                  <a:ext cx="783" cy="456"/>
                  <a:chOff x="3756" y="1434"/>
                  <a:chExt cx="783" cy="456"/>
                </a:xfrm>
              </p:grpSpPr>
              <p:sp>
                <p:nvSpPr>
                  <p:cNvPr id="24596" name="AutoShape 14">
                    <a:extLst>
                      <a:ext uri="{FF2B5EF4-FFF2-40B4-BE49-F238E27FC236}">
                        <a16:creationId xmlns:a16="http://schemas.microsoft.com/office/drawing/2014/main" id="{0411E8C7-7C30-74DE-A690-7F0FE0A19A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56" y="1434"/>
                    <a:ext cx="783" cy="456"/>
                  </a:xfrm>
                  <a:prstGeom prst="roundRect">
                    <a:avLst>
                      <a:gd name="adj" fmla="val 218"/>
                    </a:avLst>
                  </a:prstGeom>
                  <a:noFill/>
                  <a:ln w="936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¡"/>
                      <a:defRPr sz="2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5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Wingdings" pitchFamily="2" charset="2"/>
                      <a:buChar char="¡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8207" name="Text Box 15">
                    <a:extLst>
                      <a:ext uri="{FF2B5EF4-FFF2-40B4-BE49-F238E27FC236}">
                        <a16:creationId xmlns:a16="http://schemas.microsoft.com/office/drawing/2014/main" id="{6816E0D2-07C9-087F-3AB9-DD2E7C36B36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56" y="1517"/>
                    <a:ext cx="783" cy="2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0" tIns="0" rIns="0" bIns="0" anchor="ctr">
                    <a:spAutoFit/>
                  </a:bodyPr>
                  <a:lstStyle>
                    <a:lvl1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>
                      <a:lnSpc>
                        <a:spcPts val="1693"/>
                      </a:lnSpc>
                      <a:buClr>
                        <a:srgbClr val="000000"/>
                      </a:buClr>
                      <a:defRPr/>
                    </a:pPr>
                    <a:r>
                      <a:rPr lang="en-GB" altLang="en-US" sz="1693" b="1">
                        <a:latin typeface="Verdana" panose="020B0604030504040204" pitchFamily="34" charset="0"/>
                        <a:ea typeface="HG Mincho Light J" charset="0"/>
                        <a:cs typeface="HG Mincho Light J" charset="0"/>
                      </a:rPr>
                      <a:t>PHP module</a:t>
                    </a:r>
                  </a:p>
                </p:txBody>
              </p:sp>
            </p:grpSp>
            <p:sp>
              <p:nvSpPr>
                <p:cNvPr id="8208" name="Text Box 16">
                  <a:extLst>
                    <a:ext uri="{FF2B5EF4-FFF2-40B4-BE49-F238E27FC236}">
                      <a16:creationId xmlns:a16="http://schemas.microsoft.com/office/drawing/2014/main" id="{8F1C5326-1147-4153-8B29-D1F084465D7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57" y="1519"/>
                  <a:ext cx="120" cy="2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>
                    <a:lnSpc>
                      <a:spcPct val="101000"/>
                    </a:lnSpc>
                    <a:buClr>
                      <a:srgbClr val="000000"/>
                    </a:buClr>
                    <a:buSzPct val="45000"/>
                    <a:buFont typeface="StarSymbol" charset="0"/>
                    <a:buNone/>
                    <a:defRPr/>
                  </a:pPr>
                  <a:r>
                    <a:rPr lang="en-GB" altLang="en-US" sz="2258">
                      <a:latin typeface="Verdana" panose="020B0604030504040204" pitchFamily="34" charset="0"/>
                      <a:ea typeface="HG Mincho Light J" charset="0"/>
                      <a:cs typeface="HG Mincho Light J" charset="0"/>
                    </a:rPr>
                    <a:t>3</a:t>
                  </a:r>
                </a:p>
              </p:txBody>
            </p:sp>
            <p:sp>
              <p:nvSpPr>
                <p:cNvPr id="8209" name="Text Box 17">
                  <a:extLst>
                    <a:ext uri="{FF2B5EF4-FFF2-40B4-BE49-F238E27FC236}">
                      <a16:creationId xmlns:a16="http://schemas.microsoft.com/office/drawing/2014/main" id="{1094E194-14E8-21E1-0698-1B13727B69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65" y="1367"/>
                  <a:ext cx="123" cy="2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>
                    <a:lnSpc>
                      <a:spcPct val="101000"/>
                    </a:lnSpc>
                    <a:buClr>
                      <a:srgbClr val="000000"/>
                    </a:buClr>
                    <a:buSzPct val="45000"/>
                    <a:buFont typeface="StarSymbol" charset="0"/>
                    <a:buNone/>
                    <a:defRPr/>
                  </a:pPr>
                  <a:r>
                    <a:rPr lang="en-GB" altLang="en-US" sz="2258">
                      <a:latin typeface="Verdana" panose="020B0604030504040204" pitchFamily="34" charset="0"/>
                      <a:ea typeface="HG Mincho Light J" charset="0"/>
                      <a:cs typeface="HG Mincho Light J" charset="0"/>
                    </a:rPr>
                    <a:t>4</a:t>
                  </a:r>
                </a:p>
              </p:txBody>
            </p:sp>
            <p:sp>
              <p:nvSpPr>
                <p:cNvPr id="24590" name="Line 18">
                  <a:extLst>
                    <a:ext uri="{FF2B5EF4-FFF2-40B4-BE49-F238E27FC236}">
                      <a16:creationId xmlns:a16="http://schemas.microsoft.com/office/drawing/2014/main" id="{E79D8092-F3E0-780E-9389-CA824D72F7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039" y="1225"/>
                  <a:ext cx="330" cy="541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prstDash val="sysDot"/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1" name="Line 19">
                  <a:extLst>
                    <a:ext uri="{FF2B5EF4-FFF2-40B4-BE49-F238E27FC236}">
                      <a16:creationId xmlns:a16="http://schemas.microsoft.com/office/drawing/2014/main" id="{14F805E1-BB4B-6E55-3C6B-9E26FEE532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04" y="1735"/>
                  <a:ext cx="947" cy="412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prstDash val="sysDot"/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2" name="Line 20">
                  <a:extLst>
                    <a:ext uri="{FF2B5EF4-FFF2-40B4-BE49-F238E27FC236}">
                      <a16:creationId xmlns:a16="http://schemas.microsoft.com/office/drawing/2014/main" id="{ECEA8E17-0FAA-16CD-DB72-707F8588EE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807" y="1525"/>
                  <a:ext cx="963" cy="350"/>
                </a:xfrm>
                <a:prstGeom prst="line">
                  <a:avLst/>
                </a:prstGeom>
                <a:noFill/>
                <a:ln w="9360">
                  <a:solidFill>
                    <a:srgbClr val="000000"/>
                  </a:solidFill>
                  <a:prstDash val="sysDot"/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4593" name="Group 21">
                  <a:extLst>
                    <a:ext uri="{FF2B5EF4-FFF2-40B4-BE49-F238E27FC236}">
                      <a16:creationId xmlns:a16="http://schemas.microsoft.com/office/drawing/2014/main" id="{69C05AC3-64CA-1FA7-6D61-59445837EE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14" y="1774"/>
                  <a:ext cx="783" cy="432"/>
                  <a:chOff x="2014" y="1774"/>
                  <a:chExt cx="783" cy="432"/>
                </a:xfrm>
              </p:grpSpPr>
              <p:sp>
                <p:nvSpPr>
                  <p:cNvPr id="24594" name="AutoShape 22">
                    <a:extLst>
                      <a:ext uri="{FF2B5EF4-FFF2-40B4-BE49-F238E27FC236}">
                        <a16:creationId xmlns:a16="http://schemas.microsoft.com/office/drawing/2014/main" id="{AAA8D3FA-4038-BA1F-700A-ABCBE63F88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14" y="1774"/>
                    <a:ext cx="783" cy="432"/>
                  </a:xfrm>
                  <a:prstGeom prst="roundRect">
                    <a:avLst>
                      <a:gd name="adj" fmla="val 231"/>
                    </a:avLst>
                  </a:prstGeom>
                  <a:noFill/>
                  <a:ln w="936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tx2"/>
                      </a:buClr>
                      <a:buSzPct val="70000"/>
                      <a:buFont typeface="Wingdings" pitchFamily="2" charset="2"/>
                      <a:buChar char="¡"/>
                      <a:defRPr sz="2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25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5000"/>
                      <a:buFont typeface="Wingdings" pitchFamily="2" charset="2"/>
                      <a:buChar char="¡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l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SzPct val="60000"/>
                      <a:buFont typeface="Wingdings" pitchFamily="2" charset="2"/>
                      <a:buChar char="¡"/>
                      <a:defRPr sz="19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8215" name="Text Box 23">
                    <a:extLst>
                      <a:ext uri="{FF2B5EF4-FFF2-40B4-BE49-F238E27FC236}">
                        <a16:creationId xmlns:a16="http://schemas.microsoft.com/office/drawing/2014/main" id="{F9947F42-8303-E697-8726-A3758EB028C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14" y="1915"/>
                    <a:ext cx="783" cy="14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0" tIns="0" rIns="0" bIns="0" anchor="ctr">
                    <a:spAutoFit/>
                  </a:bodyPr>
                  <a:lstStyle>
                    <a:lvl1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447675" algn="l"/>
                        <a:tab pos="896938" algn="l"/>
                        <a:tab pos="1346200" algn="l"/>
                        <a:tab pos="1795463" algn="l"/>
                        <a:tab pos="2244725" algn="l"/>
                        <a:tab pos="2693988" algn="l"/>
                        <a:tab pos="3143250" algn="l"/>
                        <a:tab pos="3592513" algn="l"/>
                        <a:tab pos="4041775" algn="l"/>
                        <a:tab pos="4491038" algn="l"/>
                        <a:tab pos="4940300" algn="l"/>
                        <a:tab pos="5389563" algn="l"/>
                        <a:tab pos="5838825" algn="l"/>
                        <a:tab pos="6288088" algn="l"/>
                        <a:tab pos="6737350" algn="l"/>
                        <a:tab pos="7186613" algn="l"/>
                        <a:tab pos="7635875" algn="l"/>
                        <a:tab pos="8085138" algn="l"/>
                        <a:tab pos="8534400" algn="l"/>
                        <a:tab pos="8983663" algn="l"/>
                      </a:tabLs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>
                      <a:lnSpc>
                        <a:spcPts val="1693"/>
                      </a:lnSpc>
                      <a:buClr>
                        <a:srgbClr val="000000"/>
                      </a:buClr>
                      <a:defRPr/>
                    </a:pPr>
                    <a:r>
                      <a:rPr lang="en-GB" altLang="en-US" sz="1693" b="1">
                        <a:latin typeface="Verdana" panose="020B0604030504040204" pitchFamily="34" charset="0"/>
                        <a:ea typeface="HG Mincho Light J" charset="0"/>
                        <a:cs typeface="HG Mincho Light J" charset="0"/>
                      </a:rPr>
                      <a:t>Apache</a:t>
                    </a:r>
                  </a:p>
                </p:txBody>
              </p:sp>
            </p:grpSp>
          </p:grpSp>
        </p:grpSp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>
            <a:extLst>
              <a:ext uri="{FF2B5EF4-FFF2-40B4-BE49-F238E27FC236}">
                <a16:creationId xmlns:a16="http://schemas.microsoft.com/office/drawing/2014/main" id="{071A5629-BAC3-6643-C99C-29D946C71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381000"/>
            <a:ext cx="7231062" cy="904875"/>
          </a:xfrm>
        </p:spPr>
        <p:txBody>
          <a:bodyPr/>
          <a:lstStyle/>
          <a:p>
            <a:pPr>
              <a:tabLst>
                <a:tab pos="0" algn="l"/>
                <a:tab pos="420688" algn="l"/>
                <a:tab pos="842963" algn="l"/>
                <a:tab pos="1265238" algn="l"/>
                <a:tab pos="1687513" algn="l"/>
                <a:tab pos="2111375" algn="l"/>
                <a:tab pos="2533650" algn="l"/>
                <a:tab pos="2955925" algn="l"/>
                <a:tab pos="3378200" algn="l"/>
                <a:tab pos="3802063" algn="l"/>
                <a:tab pos="4224338" algn="l"/>
                <a:tab pos="4646613" algn="l"/>
                <a:tab pos="5068888" algn="l"/>
                <a:tab pos="5491163" algn="l"/>
                <a:tab pos="5915025" algn="l"/>
                <a:tab pos="6337300" algn="l"/>
                <a:tab pos="6759575" algn="l"/>
                <a:tab pos="7181850" algn="l"/>
                <a:tab pos="7604125" algn="l"/>
                <a:tab pos="8027988" algn="l"/>
                <a:tab pos="8450263" algn="l"/>
              </a:tabLst>
            </a:pPr>
            <a:r>
              <a:rPr lang="en-GB" altLang="en-US"/>
              <a:t>Hello World! (web oriented)</a:t>
            </a: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1E13A18E-6DC5-4E03-9140-9B765D788CCF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960438" y="1828800"/>
            <a:ext cx="7231062" cy="3810000"/>
          </a:xfrm>
        </p:spPr>
        <p:txBody>
          <a:bodyPr lIns="0" tIns="0" rIns="0" bIns="0" anchor="ctr"/>
          <a:lstStyle/>
          <a:p>
            <a:pPr marL="0" indent="0">
              <a:lnSpc>
                <a:spcPts val="1693"/>
              </a:lnSpc>
              <a:buSzTx/>
              <a:buFont typeface="Wingdings" pitchFamily="2" charset="2"/>
              <a:buNone/>
              <a:tabLst>
                <a:tab pos="98562" algn="l"/>
                <a:tab pos="521184" algn="l"/>
                <a:tab pos="943804" algn="l"/>
                <a:tab pos="1366426" algn="l"/>
                <a:tab pos="1789047" algn="l"/>
                <a:tab pos="2211668" algn="l"/>
                <a:tab pos="2634289" algn="l"/>
                <a:tab pos="3056911" algn="l"/>
                <a:tab pos="3479532" algn="l"/>
                <a:tab pos="3902153" algn="l"/>
                <a:tab pos="4324774" algn="l"/>
                <a:tab pos="4747396" algn="l"/>
                <a:tab pos="5170017" algn="l"/>
                <a:tab pos="5592638" algn="l"/>
                <a:tab pos="6015259" algn="l"/>
                <a:tab pos="6437881" algn="l"/>
                <a:tab pos="6860502" algn="l"/>
                <a:tab pos="7283123" algn="l"/>
                <a:tab pos="7705744" algn="l"/>
                <a:tab pos="8128366" algn="l"/>
              </a:tabLst>
              <a:defRPr/>
            </a:pPr>
            <a:r>
              <a:rPr lang="en-GB" altLang="en-US" sz="1693" b="1" dirty="0"/>
              <a:t>&lt;html&gt;</a:t>
            </a:r>
          </a:p>
          <a:p>
            <a:pPr marL="0" indent="0">
              <a:lnSpc>
                <a:spcPct val="101000"/>
              </a:lnSpc>
              <a:buSzTx/>
              <a:buFont typeface="Wingdings" pitchFamily="2" charset="2"/>
              <a:buNone/>
              <a:tabLst>
                <a:tab pos="98562" algn="l"/>
                <a:tab pos="521184" algn="l"/>
                <a:tab pos="943804" algn="l"/>
                <a:tab pos="1366426" algn="l"/>
                <a:tab pos="1789047" algn="l"/>
                <a:tab pos="2211668" algn="l"/>
                <a:tab pos="2634289" algn="l"/>
                <a:tab pos="3056911" algn="l"/>
                <a:tab pos="3479532" algn="l"/>
                <a:tab pos="3902153" algn="l"/>
                <a:tab pos="4324774" algn="l"/>
                <a:tab pos="4747396" algn="l"/>
                <a:tab pos="5170017" algn="l"/>
                <a:tab pos="5592638" algn="l"/>
                <a:tab pos="6015259" algn="l"/>
                <a:tab pos="6437881" algn="l"/>
                <a:tab pos="6860502" algn="l"/>
                <a:tab pos="7283123" algn="l"/>
                <a:tab pos="7705744" algn="l"/>
                <a:tab pos="8128366" algn="l"/>
              </a:tabLst>
              <a:defRPr/>
            </a:pPr>
            <a:r>
              <a:rPr lang="en-GB" altLang="en-US" sz="1693" b="1" dirty="0"/>
              <a:t>&lt;head&gt;</a:t>
            </a:r>
          </a:p>
          <a:p>
            <a:pPr marL="0" indent="0">
              <a:lnSpc>
                <a:spcPct val="101000"/>
              </a:lnSpc>
              <a:buSzTx/>
              <a:buFont typeface="Wingdings" pitchFamily="2" charset="2"/>
              <a:buNone/>
              <a:tabLst>
                <a:tab pos="98562" algn="l"/>
                <a:tab pos="521184" algn="l"/>
                <a:tab pos="943804" algn="l"/>
                <a:tab pos="1366426" algn="l"/>
                <a:tab pos="1789047" algn="l"/>
                <a:tab pos="2211668" algn="l"/>
                <a:tab pos="2634289" algn="l"/>
                <a:tab pos="3056911" algn="l"/>
                <a:tab pos="3479532" algn="l"/>
                <a:tab pos="3902153" algn="l"/>
                <a:tab pos="4324774" algn="l"/>
                <a:tab pos="4747396" algn="l"/>
                <a:tab pos="5170017" algn="l"/>
                <a:tab pos="5592638" algn="l"/>
                <a:tab pos="6015259" algn="l"/>
                <a:tab pos="6437881" algn="l"/>
                <a:tab pos="6860502" algn="l"/>
                <a:tab pos="7283123" algn="l"/>
                <a:tab pos="7705744" algn="l"/>
                <a:tab pos="8128366" algn="l"/>
              </a:tabLst>
              <a:defRPr/>
            </a:pPr>
            <a:r>
              <a:rPr lang="en-GB" altLang="en-US" sz="1693" b="1" dirty="0"/>
              <a:t>   &lt;title&gt;My personal Hello World! PHP script&lt;/title&gt;</a:t>
            </a:r>
          </a:p>
          <a:p>
            <a:pPr marL="0" indent="0">
              <a:lnSpc>
                <a:spcPct val="101000"/>
              </a:lnSpc>
              <a:buSzTx/>
              <a:buFont typeface="Wingdings" pitchFamily="2" charset="2"/>
              <a:buNone/>
              <a:tabLst>
                <a:tab pos="98562" algn="l"/>
                <a:tab pos="521184" algn="l"/>
                <a:tab pos="943804" algn="l"/>
                <a:tab pos="1366426" algn="l"/>
                <a:tab pos="1789047" algn="l"/>
                <a:tab pos="2211668" algn="l"/>
                <a:tab pos="2634289" algn="l"/>
                <a:tab pos="3056911" algn="l"/>
                <a:tab pos="3479532" algn="l"/>
                <a:tab pos="3902153" algn="l"/>
                <a:tab pos="4324774" algn="l"/>
                <a:tab pos="4747396" algn="l"/>
                <a:tab pos="5170017" algn="l"/>
                <a:tab pos="5592638" algn="l"/>
                <a:tab pos="6015259" algn="l"/>
                <a:tab pos="6437881" algn="l"/>
                <a:tab pos="6860502" algn="l"/>
                <a:tab pos="7283123" algn="l"/>
                <a:tab pos="7705744" algn="l"/>
                <a:tab pos="8128366" algn="l"/>
              </a:tabLst>
              <a:defRPr/>
            </a:pPr>
            <a:r>
              <a:rPr lang="en-GB" altLang="en-US" sz="1693" b="1" dirty="0"/>
              <a:t>&lt;/head&gt;</a:t>
            </a:r>
          </a:p>
          <a:p>
            <a:pPr marL="0" indent="0">
              <a:lnSpc>
                <a:spcPct val="101000"/>
              </a:lnSpc>
              <a:buSzTx/>
              <a:buFont typeface="Wingdings" pitchFamily="2" charset="2"/>
              <a:buNone/>
              <a:tabLst>
                <a:tab pos="98562" algn="l"/>
                <a:tab pos="521184" algn="l"/>
                <a:tab pos="943804" algn="l"/>
                <a:tab pos="1366426" algn="l"/>
                <a:tab pos="1789047" algn="l"/>
                <a:tab pos="2211668" algn="l"/>
                <a:tab pos="2634289" algn="l"/>
                <a:tab pos="3056911" algn="l"/>
                <a:tab pos="3479532" algn="l"/>
                <a:tab pos="3902153" algn="l"/>
                <a:tab pos="4324774" algn="l"/>
                <a:tab pos="4747396" algn="l"/>
                <a:tab pos="5170017" algn="l"/>
                <a:tab pos="5592638" algn="l"/>
                <a:tab pos="6015259" algn="l"/>
                <a:tab pos="6437881" algn="l"/>
                <a:tab pos="6860502" algn="l"/>
                <a:tab pos="7283123" algn="l"/>
                <a:tab pos="7705744" algn="l"/>
                <a:tab pos="8128366" algn="l"/>
              </a:tabLst>
              <a:defRPr/>
            </a:pPr>
            <a:r>
              <a:rPr lang="en-GB" altLang="en-US" sz="1693" b="1" dirty="0"/>
              <a:t>&lt;body&gt;</a:t>
            </a:r>
          </a:p>
          <a:p>
            <a:pPr marL="0" indent="0">
              <a:lnSpc>
                <a:spcPct val="101000"/>
              </a:lnSpc>
              <a:buSzTx/>
              <a:buFont typeface="Wingdings" pitchFamily="2" charset="2"/>
              <a:buNone/>
              <a:tabLst>
                <a:tab pos="98562" algn="l"/>
                <a:tab pos="521184" algn="l"/>
                <a:tab pos="943804" algn="l"/>
                <a:tab pos="1366426" algn="l"/>
                <a:tab pos="1789047" algn="l"/>
                <a:tab pos="2211668" algn="l"/>
                <a:tab pos="2634289" algn="l"/>
                <a:tab pos="3056911" algn="l"/>
                <a:tab pos="3479532" algn="l"/>
                <a:tab pos="3902153" algn="l"/>
                <a:tab pos="4324774" algn="l"/>
                <a:tab pos="4747396" algn="l"/>
                <a:tab pos="5170017" algn="l"/>
                <a:tab pos="5592638" algn="l"/>
                <a:tab pos="6015259" algn="l"/>
                <a:tab pos="6437881" algn="l"/>
                <a:tab pos="6860502" algn="l"/>
                <a:tab pos="7283123" algn="l"/>
                <a:tab pos="7705744" algn="l"/>
                <a:tab pos="8128366" algn="l"/>
              </a:tabLst>
              <a:defRPr/>
            </a:pPr>
            <a:endParaRPr lang="en-GB" altLang="en-US" sz="1693" b="1" dirty="0"/>
          </a:p>
          <a:p>
            <a:pPr marL="0" indent="0">
              <a:lnSpc>
                <a:spcPct val="101000"/>
              </a:lnSpc>
              <a:buSzTx/>
              <a:buFont typeface="Wingdings" pitchFamily="2" charset="2"/>
              <a:buNone/>
              <a:tabLst>
                <a:tab pos="98562" algn="l"/>
                <a:tab pos="521184" algn="l"/>
                <a:tab pos="943804" algn="l"/>
                <a:tab pos="1366426" algn="l"/>
                <a:tab pos="1789047" algn="l"/>
                <a:tab pos="2211668" algn="l"/>
                <a:tab pos="2634289" algn="l"/>
                <a:tab pos="3056911" algn="l"/>
                <a:tab pos="3479532" algn="l"/>
                <a:tab pos="3902153" algn="l"/>
                <a:tab pos="4324774" algn="l"/>
                <a:tab pos="4747396" algn="l"/>
                <a:tab pos="5170017" algn="l"/>
                <a:tab pos="5592638" algn="l"/>
                <a:tab pos="6015259" algn="l"/>
                <a:tab pos="6437881" algn="l"/>
                <a:tab pos="6860502" algn="l"/>
                <a:tab pos="7283123" algn="l"/>
                <a:tab pos="7705744" algn="l"/>
                <a:tab pos="8128366" algn="l"/>
              </a:tabLst>
              <a:defRPr/>
            </a:pPr>
            <a:r>
              <a:rPr lang="en-GB" altLang="en-US" sz="1693" b="1" dirty="0">
                <a:solidFill>
                  <a:srgbClr val="FF0000"/>
                </a:solidFill>
              </a:rPr>
              <a:t>&lt;?php</a:t>
            </a:r>
          </a:p>
          <a:p>
            <a:pPr marL="0" indent="0">
              <a:lnSpc>
                <a:spcPct val="101000"/>
              </a:lnSpc>
              <a:buSzTx/>
              <a:buFont typeface="Wingdings" pitchFamily="2" charset="2"/>
              <a:buNone/>
              <a:tabLst>
                <a:tab pos="98562" algn="l"/>
                <a:tab pos="521184" algn="l"/>
                <a:tab pos="943804" algn="l"/>
                <a:tab pos="1366426" algn="l"/>
                <a:tab pos="1789047" algn="l"/>
                <a:tab pos="2211668" algn="l"/>
                <a:tab pos="2634289" algn="l"/>
                <a:tab pos="3056911" algn="l"/>
                <a:tab pos="3479532" algn="l"/>
                <a:tab pos="3902153" algn="l"/>
                <a:tab pos="4324774" algn="l"/>
                <a:tab pos="4747396" algn="l"/>
                <a:tab pos="5170017" algn="l"/>
                <a:tab pos="5592638" algn="l"/>
                <a:tab pos="6015259" algn="l"/>
                <a:tab pos="6437881" algn="l"/>
                <a:tab pos="6860502" algn="l"/>
                <a:tab pos="7283123" algn="l"/>
                <a:tab pos="7705744" algn="l"/>
                <a:tab pos="8128366" algn="l"/>
              </a:tabLst>
              <a:defRPr/>
            </a:pPr>
            <a:r>
              <a:rPr lang="en-GB" altLang="en-US" sz="1693" b="1" dirty="0">
                <a:solidFill>
                  <a:srgbClr val="FF0000"/>
                </a:solidFill>
              </a:rPr>
              <a:t>	echo “Hello World!”;</a:t>
            </a:r>
          </a:p>
          <a:p>
            <a:pPr marL="0" indent="0">
              <a:lnSpc>
                <a:spcPct val="101000"/>
              </a:lnSpc>
              <a:buSzTx/>
              <a:buFont typeface="Wingdings" pitchFamily="2" charset="2"/>
              <a:buNone/>
              <a:tabLst>
                <a:tab pos="98562" algn="l"/>
                <a:tab pos="521184" algn="l"/>
                <a:tab pos="943804" algn="l"/>
                <a:tab pos="1366426" algn="l"/>
                <a:tab pos="1789047" algn="l"/>
                <a:tab pos="2211668" algn="l"/>
                <a:tab pos="2634289" algn="l"/>
                <a:tab pos="3056911" algn="l"/>
                <a:tab pos="3479532" algn="l"/>
                <a:tab pos="3902153" algn="l"/>
                <a:tab pos="4324774" algn="l"/>
                <a:tab pos="4747396" algn="l"/>
                <a:tab pos="5170017" algn="l"/>
                <a:tab pos="5592638" algn="l"/>
                <a:tab pos="6015259" algn="l"/>
                <a:tab pos="6437881" algn="l"/>
                <a:tab pos="6860502" algn="l"/>
                <a:tab pos="7283123" algn="l"/>
                <a:tab pos="7705744" algn="l"/>
                <a:tab pos="8128366" algn="l"/>
              </a:tabLst>
              <a:defRPr/>
            </a:pPr>
            <a:r>
              <a:rPr lang="en-GB" altLang="en-US" sz="1693" b="1" dirty="0">
                <a:solidFill>
                  <a:srgbClr val="FF0000"/>
                </a:solidFill>
              </a:rPr>
              <a:t>?&gt;</a:t>
            </a:r>
          </a:p>
          <a:p>
            <a:pPr marL="0" indent="0">
              <a:lnSpc>
                <a:spcPct val="101000"/>
              </a:lnSpc>
              <a:buSzTx/>
              <a:buFont typeface="Wingdings" pitchFamily="2" charset="2"/>
              <a:buNone/>
              <a:tabLst>
                <a:tab pos="98562" algn="l"/>
                <a:tab pos="521184" algn="l"/>
                <a:tab pos="943804" algn="l"/>
                <a:tab pos="1366426" algn="l"/>
                <a:tab pos="1789047" algn="l"/>
                <a:tab pos="2211668" algn="l"/>
                <a:tab pos="2634289" algn="l"/>
                <a:tab pos="3056911" algn="l"/>
                <a:tab pos="3479532" algn="l"/>
                <a:tab pos="3902153" algn="l"/>
                <a:tab pos="4324774" algn="l"/>
                <a:tab pos="4747396" algn="l"/>
                <a:tab pos="5170017" algn="l"/>
                <a:tab pos="5592638" algn="l"/>
                <a:tab pos="6015259" algn="l"/>
                <a:tab pos="6437881" algn="l"/>
                <a:tab pos="6860502" algn="l"/>
                <a:tab pos="7283123" algn="l"/>
                <a:tab pos="7705744" algn="l"/>
                <a:tab pos="8128366" algn="l"/>
              </a:tabLst>
              <a:defRPr/>
            </a:pPr>
            <a:endParaRPr lang="en-GB" altLang="en-US" sz="1693" b="1" dirty="0"/>
          </a:p>
          <a:p>
            <a:pPr marL="0" indent="0">
              <a:lnSpc>
                <a:spcPct val="101000"/>
              </a:lnSpc>
              <a:buSzTx/>
              <a:buFont typeface="Wingdings" pitchFamily="2" charset="2"/>
              <a:buNone/>
              <a:tabLst>
                <a:tab pos="98562" algn="l"/>
                <a:tab pos="521184" algn="l"/>
                <a:tab pos="943804" algn="l"/>
                <a:tab pos="1366426" algn="l"/>
                <a:tab pos="1789047" algn="l"/>
                <a:tab pos="2211668" algn="l"/>
                <a:tab pos="2634289" algn="l"/>
                <a:tab pos="3056911" algn="l"/>
                <a:tab pos="3479532" algn="l"/>
                <a:tab pos="3902153" algn="l"/>
                <a:tab pos="4324774" algn="l"/>
                <a:tab pos="4747396" algn="l"/>
                <a:tab pos="5170017" algn="l"/>
                <a:tab pos="5592638" algn="l"/>
                <a:tab pos="6015259" algn="l"/>
                <a:tab pos="6437881" algn="l"/>
                <a:tab pos="6860502" algn="l"/>
                <a:tab pos="7283123" algn="l"/>
                <a:tab pos="7705744" algn="l"/>
                <a:tab pos="8128366" algn="l"/>
              </a:tabLst>
              <a:defRPr/>
            </a:pPr>
            <a:r>
              <a:rPr lang="en-GB" altLang="en-US" sz="1693" b="1" dirty="0"/>
              <a:t>&lt;/html&gt;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537E0196-489C-0D25-C823-693FA93E2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064000"/>
            <a:ext cx="3514725" cy="8715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>
              <a:lnSpc>
                <a:spcPts val="1693"/>
              </a:lnSpc>
              <a:buClr>
                <a:srgbClr val="000000"/>
              </a:buClr>
              <a:defRPr/>
            </a:pPr>
            <a:r>
              <a:rPr lang="en-GB" altLang="en-US" sz="1693" dirty="0">
                <a:solidFill>
                  <a:srgbClr val="000000"/>
                </a:solidFill>
                <a:latin typeface="Verdana" panose="020B0604030504040204" pitchFamily="34" charset="0"/>
                <a:ea typeface="HG Mincho Light J" charset="0"/>
                <a:cs typeface="HG Mincho Light J" charset="0"/>
              </a:rPr>
              <a:t>PHP tag, allow to insert PHP code. Interpretation by PHP module will substitute the code with code output</a:t>
            </a:r>
          </a:p>
        </p:txBody>
      </p:sp>
      <p:sp>
        <p:nvSpPr>
          <p:cNvPr id="26628" name="Right Brace 1">
            <a:extLst>
              <a:ext uri="{FF2B5EF4-FFF2-40B4-BE49-F238E27FC236}">
                <a16:creationId xmlns:a16="http://schemas.microsoft.com/office/drawing/2014/main" id="{BF783F94-4AB9-C5FF-D450-FA613753DBCD}"/>
              </a:ext>
            </a:extLst>
          </p:cNvPr>
          <p:cNvSpPr>
            <a:spLocks/>
          </p:cNvSpPr>
          <p:nvPr/>
        </p:nvSpPr>
        <p:spPr bwMode="auto">
          <a:xfrm>
            <a:off x="3705225" y="3932238"/>
            <a:ext cx="381000" cy="1020762"/>
          </a:xfrm>
          <a:prstGeom prst="rightBrace">
            <a:avLst>
              <a:gd name="adj1" fmla="val 8335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4F9242AF-CF6F-2B5B-0932-C702A8310E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Variable declaration</a:t>
            </a:r>
          </a:p>
        </p:txBody>
      </p:sp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80E2D26E-F6A5-61E3-ED9F-AEB1B226AC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MY" altLang="en-US" dirty="0"/>
              <a:t>&lt;?</a:t>
            </a:r>
            <a:r>
              <a:rPr lang="en-MY" altLang="en-US" dirty="0" err="1"/>
              <a:t>php</a:t>
            </a:r>
            <a:endParaRPr lang="en-MY" altLang="en-US" dirty="0"/>
          </a:p>
          <a:p>
            <a:pPr marL="0" indent="0">
              <a:buFont typeface="Wingdings" pitchFamily="2" charset="2"/>
              <a:buNone/>
            </a:pPr>
            <a:br>
              <a:rPr lang="en-MY" altLang="en-US" dirty="0"/>
            </a:br>
            <a:r>
              <a:rPr lang="en-MY" altLang="en-US" dirty="0"/>
              <a:t>$a = 2;</a:t>
            </a:r>
          </a:p>
          <a:p>
            <a:pPr marL="0" indent="0">
              <a:buFont typeface="Wingdings" pitchFamily="2" charset="2"/>
              <a:buNone/>
            </a:pPr>
            <a:r>
              <a:rPr lang="en-MY" altLang="en-US" dirty="0"/>
              <a:t>$b= 70;</a:t>
            </a:r>
          </a:p>
          <a:p>
            <a:pPr marL="0" indent="0">
              <a:buFont typeface="Wingdings" pitchFamily="2" charset="2"/>
              <a:buNone/>
            </a:pPr>
            <a:br>
              <a:rPr lang="en-MY" altLang="en-US" dirty="0"/>
            </a:br>
            <a:r>
              <a:rPr lang="en-MY" altLang="en-US" dirty="0"/>
              <a:t>echo "I love $a+$b";</a:t>
            </a:r>
          </a:p>
          <a:p>
            <a:pPr marL="0" indent="0">
              <a:buFont typeface="Wingdings" pitchFamily="2" charset="2"/>
              <a:buNone/>
            </a:pPr>
            <a:br>
              <a:rPr lang="en-MY" altLang="en-US" dirty="0"/>
            </a:br>
            <a:r>
              <a:rPr lang="en-MY" altLang="en-US" dirty="0"/>
              <a:t>?&gt;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CB441BC4-ADA9-652C-1641-015142C44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Comments in PHP</a:t>
            </a:r>
            <a:endParaRPr lang="en-US" altLang="en-US"/>
          </a:p>
        </p:txBody>
      </p:sp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3B1164EF-2B68-B5AB-520B-77BF76C227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MY" altLang="en-US"/>
              <a:t>// This is a single-line comment</a:t>
            </a:r>
            <a:br>
              <a:rPr lang="en-MY" altLang="en-US"/>
            </a:br>
            <a:br>
              <a:rPr lang="en-MY" altLang="en-US"/>
            </a:br>
            <a:r>
              <a:rPr lang="en-MY" altLang="en-US"/>
              <a:t># This is also a single-line comment</a:t>
            </a:r>
          </a:p>
          <a:p>
            <a:pPr marL="0" indent="0">
              <a:buFont typeface="Wingdings" pitchFamily="2" charset="2"/>
              <a:buNone/>
            </a:pPr>
            <a:endParaRPr lang="en-MY" altLang="en-US"/>
          </a:p>
          <a:p>
            <a:pPr marL="0" indent="0">
              <a:buFont typeface="Wingdings" pitchFamily="2" charset="2"/>
              <a:buNone/>
            </a:pPr>
            <a:r>
              <a:rPr lang="en-MY" altLang="en-US"/>
              <a:t>/*</a:t>
            </a:r>
            <a:br>
              <a:rPr lang="en-MY" altLang="en-US"/>
            </a:br>
            <a:r>
              <a:rPr lang="en-MY" altLang="en-US"/>
              <a:t>This is a multiple-lines comment block</a:t>
            </a:r>
            <a:br>
              <a:rPr lang="en-MY" altLang="en-US"/>
            </a:br>
            <a:r>
              <a:rPr lang="en-MY" altLang="en-US"/>
              <a:t>that spans over multiple</a:t>
            </a:r>
            <a:br>
              <a:rPr lang="en-MY" altLang="en-US"/>
            </a:br>
            <a:r>
              <a:rPr lang="en-MY" altLang="en-US"/>
              <a:t>lines</a:t>
            </a:r>
            <a:br>
              <a:rPr lang="en-MY" altLang="en-US"/>
            </a:br>
            <a:r>
              <a:rPr lang="en-MY" altLang="en-US"/>
              <a:t>*/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EEB04EEB-7478-C189-016C-4F274BAC6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PHP Data Types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87117-D12F-B40A-1DFD-12B0DCEAC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MY" sz="2400" dirty="0"/>
              <a:t>PHP supports the following data types:</a:t>
            </a:r>
          </a:p>
          <a:p>
            <a:pPr>
              <a:defRPr/>
            </a:pPr>
            <a:endParaRPr lang="en-MY" sz="1800" dirty="0"/>
          </a:p>
          <a:p>
            <a:pPr>
              <a:defRPr/>
            </a:pPr>
            <a:r>
              <a:rPr lang="en-MY" sz="1800" dirty="0"/>
              <a:t>String: $x = "Hello world!";</a:t>
            </a:r>
          </a:p>
          <a:p>
            <a:pPr>
              <a:defRPr/>
            </a:pPr>
            <a:endParaRPr lang="en-MY" sz="1800" dirty="0"/>
          </a:p>
          <a:p>
            <a:pPr>
              <a:defRPr/>
            </a:pPr>
            <a:r>
              <a:rPr lang="en-MY" sz="1800" dirty="0"/>
              <a:t>Integer: $x = 5985;</a:t>
            </a:r>
          </a:p>
          <a:p>
            <a:pPr>
              <a:defRPr/>
            </a:pPr>
            <a:endParaRPr lang="en-MY" sz="1800" dirty="0"/>
          </a:p>
          <a:p>
            <a:pPr>
              <a:defRPr/>
            </a:pPr>
            <a:r>
              <a:rPr lang="en-MY" sz="1800" dirty="0"/>
              <a:t>Float : $x = 10.365;</a:t>
            </a:r>
          </a:p>
          <a:p>
            <a:pPr>
              <a:defRPr/>
            </a:pPr>
            <a:endParaRPr lang="en-MY" sz="1800" dirty="0"/>
          </a:p>
          <a:p>
            <a:pPr>
              <a:defRPr/>
            </a:pPr>
            <a:r>
              <a:rPr lang="en-MY" sz="1800" dirty="0"/>
              <a:t>Boolean: $x = true;</a:t>
            </a:r>
          </a:p>
          <a:p>
            <a:pPr>
              <a:defRPr/>
            </a:pPr>
            <a:endParaRPr lang="en-MY" sz="1800" dirty="0"/>
          </a:p>
          <a:p>
            <a:pPr>
              <a:defRPr/>
            </a:pPr>
            <a:r>
              <a:rPr lang="en-MY" sz="1800" dirty="0"/>
              <a:t>Array: $cars = array("</a:t>
            </a:r>
            <a:r>
              <a:rPr lang="en-MY" sz="1800" dirty="0" err="1"/>
              <a:t>Volvo","BMW","Toyota</a:t>
            </a:r>
            <a:r>
              <a:rPr lang="en-MY" sz="1800" dirty="0"/>
              <a:t>");</a:t>
            </a:r>
          </a:p>
          <a:p>
            <a:pPr>
              <a:defRPr/>
            </a:pPr>
            <a:endParaRPr lang="en-MY" sz="1800" dirty="0"/>
          </a:p>
          <a:p>
            <a:pPr>
              <a:defRPr/>
            </a:pPr>
            <a:r>
              <a:rPr lang="en-MY" sz="1800" dirty="0"/>
              <a:t>NULL: $x = null;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8BCEB098-EDDD-AC86-E258-4D5767E50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PHP Operators</a:t>
            </a:r>
            <a:endParaRPr lang="en-US" alt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F2A5BE-FB77-8168-4DA4-070DB581D5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0013" y="1828800"/>
          <a:ext cx="6935787" cy="4114799"/>
        </p:xfrm>
        <a:graphic>
          <a:graphicData uri="http://schemas.openxmlformats.org/drawingml/2006/table">
            <a:tbl>
              <a:tblPr/>
              <a:tblGrid>
                <a:gridCol w="1185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7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6708"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 dirty="0">
                          <a:effectLst/>
                        </a:rPr>
                        <a:t>Operator</a:t>
                      </a:r>
                    </a:p>
                  </a:txBody>
                  <a:tcPr marL="121024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Name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Example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Result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708"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+</a:t>
                      </a:r>
                    </a:p>
                  </a:txBody>
                  <a:tcPr marL="121024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Addition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$x + $y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Sum of $x and $y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708"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-</a:t>
                      </a:r>
                    </a:p>
                  </a:txBody>
                  <a:tcPr marL="121024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Subtraction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$x - $y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Difference of $x and $y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708"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*</a:t>
                      </a:r>
                    </a:p>
                  </a:txBody>
                  <a:tcPr marL="121024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Multiplication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$x * $y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Product of $x and $y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708"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 dirty="0">
                          <a:effectLst/>
                        </a:rPr>
                        <a:t>/</a:t>
                      </a:r>
                    </a:p>
                  </a:txBody>
                  <a:tcPr marL="121024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Division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$x / $y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Quotient of $x and $y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708"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%</a:t>
                      </a:r>
                    </a:p>
                  </a:txBody>
                  <a:tcPr marL="121024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Modulus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$x % $y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Remainder of $x divided by $y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4551"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**</a:t>
                      </a:r>
                    </a:p>
                  </a:txBody>
                  <a:tcPr marL="121024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Exponentiation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>
                          <a:effectLst/>
                        </a:rPr>
                        <a:t>$x ** $y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MY" sz="1400" dirty="0">
                          <a:effectLst/>
                        </a:rPr>
                        <a:t>Result of raising $x to the $</a:t>
                      </a:r>
                      <a:r>
                        <a:rPr lang="en-MY" sz="1400" dirty="0" err="1">
                          <a:effectLst/>
                        </a:rPr>
                        <a:t>y’the</a:t>
                      </a:r>
                      <a:r>
                        <a:rPr lang="en-MY" sz="1400" dirty="0">
                          <a:effectLst/>
                        </a:rPr>
                        <a:t> power</a:t>
                      </a:r>
                    </a:p>
                  </a:txBody>
                  <a:tcPr marL="60512" marR="60512" marT="60512" marB="605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B6A1BB0D-4FFE-BB4A-47CF-1C450D61D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PHP if...else...elseif Statements</a:t>
            </a:r>
            <a:endParaRPr lang="en-US" altLang="en-US"/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FC0D38EB-850A-630F-78CA-1F2DFA0015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 sz="2000"/>
              <a:t>if statement - executes some code if one condition is true</a:t>
            </a:r>
          </a:p>
          <a:p>
            <a:endParaRPr lang="en-MY" altLang="en-US" sz="2000"/>
          </a:p>
          <a:p>
            <a:r>
              <a:rPr lang="en-MY" altLang="en-US" sz="2000"/>
              <a:t>if...else statement - executes some code if a condition is true and another code if that condition is false</a:t>
            </a:r>
          </a:p>
          <a:p>
            <a:endParaRPr lang="en-MY" altLang="en-US" sz="2000"/>
          </a:p>
          <a:p>
            <a:r>
              <a:rPr lang="en-MY" altLang="en-US" sz="2000"/>
              <a:t>if...elseif...else statement - executes different codes for more than two conditions</a:t>
            </a:r>
          </a:p>
          <a:p>
            <a:endParaRPr lang="en-MY" altLang="en-US" sz="2000"/>
          </a:p>
          <a:p>
            <a:r>
              <a:rPr lang="en-MY" altLang="en-US" sz="2000"/>
              <a:t>switch statement - selects one of many blocks of code to be executed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Content Placeholder 2">
            <a:extLst>
              <a:ext uri="{FF2B5EF4-FFF2-40B4-BE49-F238E27FC236}">
                <a16:creationId xmlns:a16="http://schemas.microsoft.com/office/drawing/2014/main" id="{EF3BDF83-8B62-10BD-12DF-AEFBF5998A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0013" y="533400"/>
            <a:ext cx="7313612" cy="5867400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MY" altLang="en-US" sz="1600" dirty="0">
                <a:solidFill>
                  <a:srgbClr val="00B050"/>
                </a:solidFill>
              </a:rPr>
              <a:t>1. if (</a:t>
            </a:r>
            <a:r>
              <a:rPr lang="en-MY" altLang="en-US" sz="1600" i="1" dirty="0">
                <a:solidFill>
                  <a:srgbClr val="00B050"/>
                </a:solidFill>
              </a:rPr>
              <a:t>condition</a:t>
            </a:r>
            <a:r>
              <a:rPr lang="en-MY" altLang="en-US" sz="1600" dirty="0">
                <a:solidFill>
                  <a:srgbClr val="00B050"/>
                </a:solidFill>
              </a:rPr>
              <a:t>) {</a:t>
            </a:r>
            <a:br>
              <a:rPr lang="en-MY" altLang="en-US" sz="1600" i="1" dirty="0">
                <a:solidFill>
                  <a:srgbClr val="00B050"/>
                </a:solidFill>
              </a:rPr>
            </a:br>
            <a:r>
              <a:rPr lang="en-MY" altLang="en-US" sz="1600" i="1" dirty="0">
                <a:solidFill>
                  <a:srgbClr val="00B050"/>
                </a:solidFill>
              </a:rPr>
              <a:t>    code to be executed if condition is true</a:t>
            </a:r>
            <a:r>
              <a:rPr lang="en-MY" altLang="en-US" sz="1600" dirty="0">
                <a:solidFill>
                  <a:srgbClr val="00B050"/>
                </a:solidFill>
              </a:rPr>
              <a:t>;</a:t>
            </a:r>
            <a:br>
              <a:rPr lang="en-MY" altLang="en-US" sz="1600" dirty="0">
                <a:solidFill>
                  <a:srgbClr val="00B050"/>
                </a:solidFill>
              </a:rPr>
            </a:br>
            <a:r>
              <a:rPr lang="en-MY" altLang="en-US" sz="1600" dirty="0">
                <a:solidFill>
                  <a:srgbClr val="00B050"/>
                </a:solidFill>
              </a:rPr>
              <a:t>    }</a:t>
            </a:r>
          </a:p>
          <a:p>
            <a:pPr>
              <a:defRPr/>
            </a:pPr>
            <a:endParaRPr lang="en-MY" altLang="en-US" sz="16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MY" altLang="en-US" sz="1600" dirty="0">
                <a:solidFill>
                  <a:srgbClr val="FF0000"/>
                </a:solidFill>
              </a:rPr>
              <a:t>2. if (</a:t>
            </a:r>
            <a:r>
              <a:rPr lang="en-MY" altLang="en-US" sz="1600" i="1" dirty="0">
                <a:solidFill>
                  <a:srgbClr val="FF0000"/>
                </a:solidFill>
              </a:rPr>
              <a:t>condition</a:t>
            </a:r>
            <a:r>
              <a:rPr lang="en-MY" altLang="en-US" sz="1600" dirty="0">
                <a:solidFill>
                  <a:srgbClr val="FF0000"/>
                </a:solidFill>
              </a:rPr>
              <a:t>) {</a:t>
            </a:r>
            <a:br>
              <a:rPr lang="en-MY" altLang="en-US" sz="1600" dirty="0">
                <a:solidFill>
                  <a:srgbClr val="FF0000"/>
                </a:solidFill>
              </a:rPr>
            </a:br>
            <a:r>
              <a:rPr lang="en-MY" altLang="en-US" sz="1600" dirty="0">
                <a:solidFill>
                  <a:srgbClr val="FF0000"/>
                </a:solidFill>
              </a:rPr>
              <a:t>    </a:t>
            </a:r>
            <a:r>
              <a:rPr lang="en-MY" altLang="en-US" sz="1600" i="1" dirty="0">
                <a:solidFill>
                  <a:srgbClr val="FF0000"/>
                </a:solidFill>
              </a:rPr>
              <a:t>code to be executed if condition is true;</a:t>
            </a:r>
          </a:p>
          <a:p>
            <a:pPr marL="0" indent="0">
              <a:buFont typeface="Wingdings" pitchFamily="2" charset="2"/>
              <a:buNone/>
              <a:defRPr/>
            </a:pPr>
            <a:br>
              <a:rPr lang="en-MY" altLang="en-US" sz="1600" dirty="0">
                <a:solidFill>
                  <a:srgbClr val="FF0000"/>
                </a:solidFill>
              </a:rPr>
            </a:br>
            <a:r>
              <a:rPr lang="en-MY" altLang="en-US" sz="1600" dirty="0">
                <a:solidFill>
                  <a:srgbClr val="FF0000"/>
                </a:solidFill>
              </a:rPr>
              <a:t>    } else {</a:t>
            </a:r>
            <a:br>
              <a:rPr lang="en-MY" altLang="en-US" sz="1600" dirty="0">
                <a:solidFill>
                  <a:srgbClr val="FF0000"/>
                </a:solidFill>
              </a:rPr>
            </a:br>
            <a:r>
              <a:rPr lang="en-MY" altLang="en-US" sz="1600" dirty="0">
                <a:solidFill>
                  <a:srgbClr val="FF0000"/>
                </a:solidFill>
              </a:rPr>
              <a:t>    </a:t>
            </a:r>
            <a:r>
              <a:rPr lang="en-MY" altLang="en-US" sz="1600" i="1" dirty="0">
                <a:solidFill>
                  <a:srgbClr val="FF0000"/>
                </a:solidFill>
              </a:rPr>
              <a:t>code to be executed if condition is false;</a:t>
            </a:r>
            <a:br>
              <a:rPr lang="en-MY" altLang="en-US" sz="1600" i="1" dirty="0">
                <a:solidFill>
                  <a:srgbClr val="FF0000"/>
                </a:solidFill>
              </a:rPr>
            </a:br>
            <a:r>
              <a:rPr lang="en-MY" altLang="en-US" sz="1600" i="1" dirty="0">
                <a:solidFill>
                  <a:srgbClr val="FF0000"/>
                </a:solidFill>
              </a:rPr>
              <a:t>    </a:t>
            </a:r>
            <a:r>
              <a:rPr lang="en-MY" altLang="en-US" sz="1600" dirty="0">
                <a:solidFill>
                  <a:srgbClr val="FF0000"/>
                </a:solidFill>
              </a:rPr>
              <a:t>}</a:t>
            </a:r>
          </a:p>
          <a:p>
            <a:pPr>
              <a:defRPr/>
            </a:pPr>
            <a:endParaRPr lang="en-MY" altLang="en-US" sz="16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MY" altLang="en-US" sz="1600" dirty="0">
                <a:solidFill>
                  <a:srgbClr val="0070C0"/>
                </a:solidFill>
              </a:rPr>
              <a:t>3. if (</a:t>
            </a:r>
            <a:r>
              <a:rPr lang="en-MY" altLang="en-US" sz="1600" i="1" dirty="0">
                <a:solidFill>
                  <a:srgbClr val="0070C0"/>
                </a:solidFill>
              </a:rPr>
              <a:t>condition</a:t>
            </a:r>
            <a:r>
              <a:rPr lang="en-MY" altLang="en-US" sz="1600" dirty="0">
                <a:solidFill>
                  <a:srgbClr val="0070C0"/>
                </a:solidFill>
              </a:rPr>
              <a:t>) {</a:t>
            </a:r>
            <a:br>
              <a:rPr lang="en-MY" altLang="en-US" sz="1600" dirty="0">
                <a:solidFill>
                  <a:srgbClr val="0070C0"/>
                </a:solidFill>
              </a:rPr>
            </a:br>
            <a:r>
              <a:rPr lang="en-MY" altLang="en-US" sz="1600" dirty="0">
                <a:solidFill>
                  <a:srgbClr val="0070C0"/>
                </a:solidFill>
              </a:rPr>
              <a:t>    </a:t>
            </a:r>
            <a:r>
              <a:rPr lang="en-MY" altLang="en-US" sz="1600" i="1" dirty="0">
                <a:solidFill>
                  <a:srgbClr val="0070C0"/>
                </a:solidFill>
              </a:rPr>
              <a:t>code to be executed if this condition is true;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MY" altLang="en-US" sz="1600" i="1" dirty="0">
                <a:solidFill>
                  <a:srgbClr val="0070C0"/>
                </a:solidFill>
              </a:rPr>
              <a:t>  </a:t>
            </a:r>
            <a:br>
              <a:rPr lang="en-MY" altLang="en-US" sz="1600" i="1" dirty="0">
                <a:solidFill>
                  <a:srgbClr val="0070C0"/>
                </a:solidFill>
              </a:rPr>
            </a:br>
            <a:r>
              <a:rPr lang="en-MY" altLang="en-US" sz="1600" i="1" dirty="0">
                <a:solidFill>
                  <a:srgbClr val="0070C0"/>
                </a:solidFill>
              </a:rPr>
              <a:t>   </a:t>
            </a:r>
            <a:r>
              <a:rPr lang="en-MY" altLang="en-US" sz="1600" dirty="0">
                <a:solidFill>
                  <a:srgbClr val="0070C0"/>
                </a:solidFill>
              </a:rPr>
              <a:t>} elseif (</a:t>
            </a:r>
            <a:r>
              <a:rPr lang="en-MY" altLang="en-US" sz="1600" i="1" dirty="0">
                <a:solidFill>
                  <a:srgbClr val="0070C0"/>
                </a:solidFill>
              </a:rPr>
              <a:t>condition</a:t>
            </a:r>
            <a:r>
              <a:rPr lang="en-MY" altLang="en-US" sz="1600" dirty="0">
                <a:solidFill>
                  <a:srgbClr val="0070C0"/>
                </a:solidFill>
              </a:rPr>
              <a:t>) {</a:t>
            </a:r>
            <a:br>
              <a:rPr lang="en-MY" altLang="en-US" sz="1600" dirty="0">
                <a:solidFill>
                  <a:srgbClr val="0070C0"/>
                </a:solidFill>
              </a:rPr>
            </a:br>
            <a:r>
              <a:rPr lang="en-MY" altLang="en-US" sz="1600" dirty="0">
                <a:solidFill>
                  <a:srgbClr val="0070C0"/>
                </a:solidFill>
              </a:rPr>
              <a:t> </a:t>
            </a:r>
            <a:r>
              <a:rPr lang="en-MY" altLang="en-US" sz="1600" i="1" dirty="0">
                <a:solidFill>
                  <a:srgbClr val="0070C0"/>
                </a:solidFill>
              </a:rPr>
              <a:t>  code to be executed if first condition is false and this condition is      true;</a:t>
            </a:r>
          </a:p>
          <a:p>
            <a:pPr marL="0" indent="0">
              <a:buFont typeface="Wingdings" pitchFamily="2" charset="2"/>
              <a:buNone/>
              <a:defRPr/>
            </a:pPr>
            <a:br>
              <a:rPr lang="en-MY" altLang="en-US" sz="1600" i="1" dirty="0">
                <a:solidFill>
                  <a:srgbClr val="0070C0"/>
                </a:solidFill>
              </a:rPr>
            </a:br>
            <a:r>
              <a:rPr lang="en-MY" altLang="en-US" sz="1600" i="1" dirty="0">
                <a:solidFill>
                  <a:srgbClr val="0070C0"/>
                </a:solidFill>
              </a:rPr>
              <a:t>  </a:t>
            </a:r>
            <a:r>
              <a:rPr lang="en-MY" altLang="en-US" sz="1600" dirty="0">
                <a:solidFill>
                  <a:srgbClr val="0070C0"/>
                </a:solidFill>
              </a:rPr>
              <a:t>} else {</a:t>
            </a:r>
            <a:br>
              <a:rPr lang="en-MY" altLang="en-US" sz="1600" dirty="0">
                <a:solidFill>
                  <a:srgbClr val="0070C0"/>
                </a:solidFill>
              </a:rPr>
            </a:br>
            <a:r>
              <a:rPr lang="en-MY" altLang="en-US" sz="1600" dirty="0">
                <a:solidFill>
                  <a:srgbClr val="0070C0"/>
                </a:solidFill>
              </a:rPr>
              <a:t>  </a:t>
            </a:r>
            <a:r>
              <a:rPr lang="en-MY" altLang="en-US" sz="1600" i="1" dirty="0">
                <a:solidFill>
                  <a:srgbClr val="0070C0"/>
                </a:solidFill>
              </a:rPr>
              <a:t>code to be executed if all conditions are false;</a:t>
            </a:r>
            <a:br>
              <a:rPr lang="en-MY" altLang="en-US" sz="1600" i="1" dirty="0">
                <a:solidFill>
                  <a:srgbClr val="0070C0"/>
                </a:solidFill>
              </a:rPr>
            </a:br>
            <a:r>
              <a:rPr lang="en-MY" altLang="en-US" sz="1600" i="1" dirty="0">
                <a:solidFill>
                  <a:srgbClr val="0070C0"/>
                </a:solidFill>
              </a:rPr>
              <a:t>  </a:t>
            </a:r>
            <a:r>
              <a:rPr lang="en-MY" altLang="en-US" sz="1600" dirty="0">
                <a:solidFill>
                  <a:srgbClr val="0070C0"/>
                </a:solidFill>
              </a:rPr>
              <a:t>}</a:t>
            </a:r>
            <a:endParaRPr lang="en-US" altLang="en-US" sz="1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45725374-7D3B-881C-3C78-ECFB392482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The PHP switch Statement</a:t>
            </a:r>
            <a:endParaRPr lang="en-US" altLang="en-US"/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7A67C2CC-21A4-A9FC-E5AC-D71F731B98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MY" altLang="en-US" sz="1800">
                <a:solidFill>
                  <a:srgbClr val="FF0000"/>
                </a:solidFill>
              </a:rPr>
              <a:t>switch (</a:t>
            </a:r>
            <a:r>
              <a:rPr lang="en-MY" altLang="en-US" sz="1800" i="1">
                <a:solidFill>
                  <a:srgbClr val="FF0000"/>
                </a:solidFill>
              </a:rPr>
              <a:t>n</a:t>
            </a:r>
            <a:r>
              <a:rPr lang="en-MY" altLang="en-US" sz="1800">
                <a:solidFill>
                  <a:srgbClr val="FF0000"/>
                </a:solidFill>
              </a:rPr>
              <a:t>) </a:t>
            </a:r>
            <a:r>
              <a:rPr lang="en-MY" altLang="en-US" sz="1800"/>
              <a:t>{</a:t>
            </a:r>
            <a:br>
              <a:rPr lang="en-MY" altLang="en-US" sz="1800"/>
            </a:br>
            <a:r>
              <a:rPr lang="en-MY" altLang="en-US" sz="1800"/>
              <a:t>  case </a:t>
            </a:r>
            <a:r>
              <a:rPr lang="en-MY" altLang="en-US" sz="1800" i="1"/>
              <a:t>label1:</a:t>
            </a:r>
            <a:br>
              <a:rPr lang="en-MY" altLang="en-US" sz="1800"/>
            </a:br>
            <a:r>
              <a:rPr lang="en-MY" altLang="en-US" sz="1800"/>
              <a:t>  </a:t>
            </a:r>
            <a:r>
              <a:rPr lang="en-MY" altLang="en-US" sz="1800" i="1"/>
              <a:t>  code to be executed if n=label1;</a:t>
            </a:r>
            <a:br>
              <a:rPr lang="en-MY" altLang="en-US" sz="1800"/>
            </a:br>
            <a:r>
              <a:rPr lang="en-MY" altLang="en-US" sz="1800"/>
              <a:t>    </a:t>
            </a:r>
            <a:r>
              <a:rPr lang="en-MY" altLang="en-US" sz="1800">
                <a:solidFill>
                  <a:srgbClr val="FF0000"/>
                </a:solidFill>
              </a:rPr>
              <a:t>break</a:t>
            </a:r>
            <a:r>
              <a:rPr lang="en-MY" altLang="en-US" sz="1800"/>
              <a:t>;</a:t>
            </a:r>
          </a:p>
          <a:p>
            <a:pPr marL="0" indent="0">
              <a:buFont typeface="Wingdings" pitchFamily="2" charset="2"/>
              <a:buNone/>
            </a:pPr>
            <a:br>
              <a:rPr lang="en-MY" altLang="en-US" sz="1800"/>
            </a:br>
            <a:r>
              <a:rPr lang="en-MY" altLang="en-US" sz="1800"/>
              <a:t>  case </a:t>
            </a:r>
            <a:r>
              <a:rPr lang="en-MY" altLang="en-US" sz="1800" i="1"/>
              <a:t>label2:</a:t>
            </a:r>
            <a:br>
              <a:rPr lang="en-MY" altLang="en-US" sz="1800"/>
            </a:br>
            <a:r>
              <a:rPr lang="en-MY" altLang="en-US" sz="1800"/>
              <a:t>  </a:t>
            </a:r>
            <a:r>
              <a:rPr lang="en-MY" altLang="en-US" sz="1800" i="1"/>
              <a:t>  code to be executed if n=label2;</a:t>
            </a:r>
            <a:br>
              <a:rPr lang="en-MY" altLang="en-US" sz="1800"/>
            </a:br>
            <a:r>
              <a:rPr lang="en-MY" altLang="en-US" sz="1800"/>
              <a:t>    </a:t>
            </a:r>
            <a:r>
              <a:rPr lang="en-MY" altLang="en-US" sz="1800">
                <a:solidFill>
                  <a:srgbClr val="FF0000"/>
                </a:solidFill>
              </a:rPr>
              <a:t>break</a:t>
            </a:r>
            <a:r>
              <a:rPr lang="en-MY" altLang="en-US" sz="1800"/>
              <a:t>;</a:t>
            </a:r>
          </a:p>
          <a:p>
            <a:pPr marL="0" indent="0">
              <a:buFont typeface="Wingdings" pitchFamily="2" charset="2"/>
              <a:buNone/>
            </a:pPr>
            <a:br>
              <a:rPr lang="en-MY" altLang="en-US" sz="1800"/>
            </a:br>
            <a:r>
              <a:rPr lang="en-MY" altLang="en-US" sz="1800"/>
              <a:t>  case </a:t>
            </a:r>
            <a:r>
              <a:rPr lang="en-MY" altLang="en-US" sz="1800" i="1"/>
              <a:t>label3:</a:t>
            </a:r>
            <a:br>
              <a:rPr lang="en-MY" altLang="en-US" sz="1800"/>
            </a:br>
            <a:r>
              <a:rPr lang="en-MY" altLang="en-US" sz="1800"/>
              <a:t>  </a:t>
            </a:r>
            <a:r>
              <a:rPr lang="en-MY" altLang="en-US" sz="1800" i="1"/>
              <a:t>  code to be executed if n=label3;</a:t>
            </a:r>
            <a:br>
              <a:rPr lang="en-MY" altLang="en-US" sz="1800"/>
            </a:br>
            <a:r>
              <a:rPr lang="en-MY" altLang="en-US" sz="1800"/>
              <a:t>    </a:t>
            </a:r>
            <a:r>
              <a:rPr lang="en-MY" altLang="en-US" sz="1800">
                <a:solidFill>
                  <a:srgbClr val="FF0000"/>
                </a:solidFill>
              </a:rPr>
              <a:t>break</a:t>
            </a:r>
            <a:r>
              <a:rPr lang="en-MY" altLang="en-US" sz="1800"/>
              <a:t>;</a:t>
            </a:r>
            <a:br>
              <a:rPr lang="en-MY" altLang="en-US" sz="1800"/>
            </a:br>
            <a:r>
              <a:rPr lang="en-MY" altLang="en-US" sz="1800"/>
              <a:t>    ...</a:t>
            </a:r>
            <a:br>
              <a:rPr lang="en-MY" altLang="en-US" sz="1800"/>
            </a:br>
            <a:r>
              <a:rPr lang="en-MY" altLang="en-US" sz="1800"/>
              <a:t>  </a:t>
            </a:r>
            <a:r>
              <a:rPr lang="en-MY" altLang="en-US" sz="1800">
                <a:solidFill>
                  <a:srgbClr val="FF0000"/>
                </a:solidFill>
              </a:rPr>
              <a:t>default</a:t>
            </a:r>
            <a:r>
              <a:rPr lang="en-MY" altLang="en-US" sz="1800"/>
              <a:t>:</a:t>
            </a:r>
            <a:br>
              <a:rPr lang="en-MY" altLang="en-US" sz="1800"/>
            </a:br>
            <a:r>
              <a:rPr lang="en-MY" altLang="en-US" sz="1800"/>
              <a:t>  </a:t>
            </a:r>
            <a:r>
              <a:rPr lang="en-MY" altLang="en-US" sz="1800" i="1"/>
              <a:t>  code to be executed if n is different from all labels;</a:t>
            </a:r>
            <a:br>
              <a:rPr lang="en-MY" altLang="en-US" sz="1800"/>
            </a:br>
            <a:r>
              <a:rPr lang="en-MY" altLang="en-US" sz="1800"/>
              <a:t>}</a:t>
            </a:r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9BA77CEE-CFA1-A093-1F80-94645E74C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PHP Loops</a:t>
            </a:r>
            <a:endParaRPr lang="en-US" altLang="en-US"/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C8C2F1CE-124B-FB05-351F-28A04E19FE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 sz="2400">
                <a:solidFill>
                  <a:srgbClr val="FF0000"/>
                </a:solidFill>
              </a:rPr>
              <a:t>while</a:t>
            </a:r>
            <a:r>
              <a:rPr lang="en-MY" altLang="en-US" sz="2400"/>
              <a:t> - loops through a block of code as long as the specified condition is true</a:t>
            </a:r>
          </a:p>
          <a:p>
            <a:endParaRPr lang="en-MY" altLang="en-US" sz="2400"/>
          </a:p>
          <a:p>
            <a:r>
              <a:rPr lang="en-MY" altLang="en-US" sz="2400">
                <a:solidFill>
                  <a:srgbClr val="FF0000"/>
                </a:solidFill>
              </a:rPr>
              <a:t>do...while </a:t>
            </a:r>
            <a:r>
              <a:rPr lang="en-MY" altLang="en-US" sz="2400"/>
              <a:t>- loops through a block of code once, and then repeats the loop as long as the specified condition is true</a:t>
            </a:r>
          </a:p>
          <a:p>
            <a:endParaRPr lang="en-MY" altLang="en-US" sz="2400"/>
          </a:p>
          <a:p>
            <a:r>
              <a:rPr lang="en-MY" altLang="en-US" sz="2400">
                <a:solidFill>
                  <a:srgbClr val="FF0000"/>
                </a:solidFill>
              </a:rPr>
              <a:t>for - loops </a:t>
            </a:r>
            <a:r>
              <a:rPr lang="en-MY" altLang="en-US" sz="2400"/>
              <a:t>through a block of code a specified number of times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Content Placeholder 2">
            <a:extLst>
              <a:ext uri="{FF2B5EF4-FFF2-40B4-BE49-F238E27FC236}">
                <a16:creationId xmlns:a16="http://schemas.microsoft.com/office/drawing/2014/main" id="{D1350F61-25EC-D8B4-76F5-9FC609E022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MY" altLang="en-US" sz="2000" dirty="0"/>
              <a:t>1. </a:t>
            </a:r>
            <a:r>
              <a:rPr lang="en-MY" altLang="en-US" sz="2000" dirty="0">
                <a:solidFill>
                  <a:srgbClr val="00B050"/>
                </a:solidFill>
              </a:rPr>
              <a:t>while (</a:t>
            </a:r>
            <a:r>
              <a:rPr lang="en-MY" altLang="en-US" sz="2000" i="1" dirty="0">
                <a:solidFill>
                  <a:srgbClr val="00B050"/>
                </a:solidFill>
              </a:rPr>
              <a:t>condition is true</a:t>
            </a:r>
            <a:r>
              <a:rPr lang="en-MY" altLang="en-US" sz="2000" dirty="0">
                <a:solidFill>
                  <a:srgbClr val="00B050"/>
                </a:solidFill>
              </a:rPr>
              <a:t>) {</a:t>
            </a:r>
            <a:br>
              <a:rPr lang="en-MY" altLang="en-US" sz="2000" dirty="0">
                <a:solidFill>
                  <a:srgbClr val="00B050"/>
                </a:solidFill>
              </a:rPr>
            </a:br>
            <a:r>
              <a:rPr lang="en-MY" altLang="en-US" sz="2000" i="1" dirty="0">
                <a:solidFill>
                  <a:srgbClr val="00B050"/>
                </a:solidFill>
              </a:rPr>
              <a:t>    code to be executed</a:t>
            </a:r>
            <a:r>
              <a:rPr lang="en-MY" altLang="en-US" sz="2000" dirty="0">
                <a:solidFill>
                  <a:srgbClr val="00B050"/>
                </a:solidFill>
              </a:rPr>
              <a:t>;</a:t>
            </a:r>
            <a:br>
              <a:rPr lang="en-MY" altLang="en-US" sz="2000" dirty="0">
                <a:solidFill>
                  <a:srgbClr val="00B050"/>
                </a:solidFill>
              </a:rPr>
            </a:br>
            <a:r>
              <a:rPr lang="en-MY" altLang="en-US" sz="2000" dirty="0">
                <a:solidFill>
                  <a:srgbClr val="00B050"/>
                </a:solidFill>
              </a:rPr>
              <a:t>    }</a:t>
            </a:r>
          </a:p>
          <a:p>
            <a:pPr>
              <a:defRPr/>
            </a:pPr>
            <a:endParaRPr lang="en-MY" altLang="en-US" sz="20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MY" altLang="en-US" sz="2000" dirty="0"/>
              <a:t>2. </a:t>
            </a:r>
            <a:r>
              <a:rPr lang="en-MY" altLang="en-US" sz="2000" dirty="0">
                <a:solidFill>
                  <a:srgbClr val="FF0000"/>
                </a:solidFill>
              </a:rPr>
              <a:t>do {</a:t>
            </a:r>
            <a:br>
              <a:rPr lang="en-MY" altLang="en-US" sz="2000" dirty="0">
                <a:solidFill>
                  <a:srgbClr val="FF0000"/>
                </a:solidFill>
              </a:rPr>
            </a:br>
            <a:r>
              <a:rPr lang="en-MY" altLang="en-US" sz="2000" i="1" dirty="0">
                <a:solidFill>
                  <a:srgbClr val="FF0000"/>
                </a:solidFill>
              </a:rPr>
              <a:t>    code to be executed;</a:t>
            </a:r>
            <a:br>
              <a:rPr lang="en-MY" altLang="en-US" sz="2000" i="1" dirty="0">
                <a:solidFill>
                  <a:srgbClr val="FF0000"/>
                </a:solidFill>
              </a:rPr>
            </a:br>
            <a:r>
              <a:rPr lang="en-MY" altLang="en-US" sz="2000" i="1" dirty="0">
                <a:solidFill>
                  <a:srgbClr val="FF0000"/>
                </a:solidFill>
              </a:rPr>
              <a:t>    </a:t>
            </a:r>
            <a:r>
              <a:rPr lang="en-MY" altLang="en-US" sz="2000" dirty="0">
                <a:solidFill>
                  <a:srgbClr val="FF0000"/>
                </a:solidFill>
              </a:rPr>
              <a:t>} </a:t>
            </a:r>
            <a:r>
              <a:rPr lang="en-MY" altLang="en-US" sz="2000" dirty="0"/>
              <a:t>while (</a:t>
            </a:r>
            <a:r>
              <a:rPr lang="en-MY" altLang="en-US" sz="2000" i="1" dirty="0"/>
              <a:t>condition is true</a:t>
            </a:r>
            <a:r>
              <a:rPr lang="en-MY" altLang="en-US" sz="2000" dirty="0"/>
              <a:t>);</a:t>
            </a:r>
          </a:p>
          <a:p>
            <a:pPr>
              <a:defRPr/>
            </a:pPr>
            <a:endParaRPr lang="en-MY" altLang="en-US" sz="20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MY" altLang="en-US" sz="2000" dirty="0"/>
              <a:t>3. </a:t>
            </a:r>
            <a:r>
              <a:rPr lang="en-MY" altLang="en-US" sz="2000" dirty="0">
                <a:solidFill>
                  <a:srgbClr val="0070C0"/>
                </a:solidFill>
              </a:rPr>
              <a:t>for (</a:t>
            </a:r>
            <a:r>
              <a:rPr lang="en-MY" altLang="en-US" sz="2000" i="1" dirty="0" err="1">
                <a:solidFill>
                  <a:srgbClr val="0070C0"/>
                </a:solidFill>
              </a:rPr>
              <a:t>init</a:t>
            </a:r>
            <a:r>
              <a:rPr lang="en-MY" altLang="en-US" sz="2000" i="1" dirty="0">
                <a:solidFill>
                  <a:srgbClr val="0070C0"/>
                </a:solidFill>
              </a:rPr>
              <a:t> counter; test counter; increment counter</a:t>
            </a:r>
            <a:r>
              <a:rPr lang="en-MY" altLang="en-US" sz="2000" dirty="0">
                <a:solidFill>
                  <a:srgbClr val="0070C0"/>
                </a:solidFill>
              </a:rPr>
              <a:t>) {</a:t>
            </a:r>
            <a:br>
              <a:rPr lang="en-MY" altLang="en-US" sz="2000" dirty="0">
                <a:solidFill>
                  <a:srgbClr val="0070C0"/>
                </a:solidFill>
              </a:rPr>
            </a:br>
            <a:r>
              <a:rPr lang="en-MY" altLang="en-US" sz="2000" dirty="0">
                <a:solidFill>
                  <a:srgbClr val="0070C0"/>
                </a:solidFill>
              </a:rPr>
              <a:t>    </a:t>
            </a:r>
            <a:r>
              <a:rPr lang="en-MY" altLang="en-US" sz="2000" i="1" dirty="0">
                <a:solidFill>
                  <a:srgbClr val="0070C0"/>
                </a:solidFill>
              </a:rPr>
              <a:t>code to be executed for each iteration;</a:t>
            </a:r>
            <a:br>
              <a:rPr lang="en-MY" altLang="en-US" sz="2000" dirty="0">
                <a:solidFill>
                  <a:srgbClr val="0070C0"/>
                </a:solidFill>
              </a:rPr>
            </a:br>
            <a:r>
              <a:rPr lang="en-MY" altLang="en-US" sz="2000" dirty="0">
                <a:solidFill>
                  <a:srgbClr val="0070C0"/>
                </a:solidFill>
              </a:rPr>
              <a:t>   }</a:t>
            </a:r>
            <a:endParaRPr lang="en-US" altLang="en-US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22DC0D8B-ADBC-329F-34D8-E8F754920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/>
              <a:t>PHP Functions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FA1CE-48A9-4F59-87CF-065D1E259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MY" dirty="0"/>
              <a:t>1. </a:t>
            </a:r>
            <a:r>
              <a:rPr lang="en-MY" dirty="0">
                <a:solidFill>
                  <a:srgbClr val="FF0000"/>
                </a:solidFill>
              </a:rPr>
              <a:t>Predefine</a:t>
            </a:r>
            <a:r>
              <a:rPr lang="en-MY" dirty="0"/>
              <a:t> function such as:</a:t>
            </a:r>
          </a:p>
          <a:p>
            <a:pPr>
              <a:defRPr/>
            </a:pPr>
            <a:r>
              <a:rPr lang="en-MY" sz="2400" dirty="0"/>
              <a:t>pi() function</a:t>
            </a:r>
          </a:p>
          <a:p>
            <a:pPr>
              <a:defRPr/>
            </a:pPr>
            <a:r>
              <a:rPr lang="en-MY" sz="2400" dirty="0"/>
              <a:t>min() and max() Functions</a:t>
            </a:r>
          </a:p>
          <a:p>
            <a:pPr>
              <a:defRPr/>
            </a:pPr>
            <a:r>
              <a:rPr lang="en-MY" sz="2400" dirty="0"/>
              <a:t>abs() Function</a:t>
            </a:r>
          </a:p>
          <a:p>
            <a:pPr>
              <a:defRPr/>
            </a:pPr>
            <a:r>
              <a:rPr lang="en-MY" sz="2400" dirty="0"/>
              <a:t>sqrt() Function</a:t>
            </a:r>
          </a:p>
          <a:p>
            <a:pPr>
              <a:defRPr/>
            </a:pPr>
            <a:r>
              <a:rPr lang="en-MY" sz="2400" dirty="0"/>
              <a:t>round() Function</a:t>
            </a:r>
          </a:p>
          <a:p>
            <a:pPr>
              <a:defRPr/>
            </a:pPr>
            <a:r>
              <a:rPr lang="en-MY" sz="2400" dirty="0"/>
              <a:t>And so on..</a:t>
            </a:r>
          </a:p>
          <a:p>
            <a:pPr>
              <a:defRPr/>
            </a:pPr>
            <a:endParaRPr lang="en-MY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FDB48-F8B2-E0EA-4EF4-F296AD762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MY" b="1" dirty="0">
                <a:solidFill>
                  <a:srgbClr val="FF0000"/>
                </a:solidFill>
              </a:rPr>
              <a:t>2. User</a:t>
            </a:r>
            <a:r>
              <a:rPr lang="en-MY" b="1" dirty="0"/>
              <a:t> Defined Function</a:t>
            </a:r>
          </a:p>
          <a:p>
            <a:pPr>
              <a:defRPr/>
            </a:pPr>
            <a:endParaRPr lang="en-MY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MY" dirty="0">
                <a:solidFill>
                  <a:srgbClr val="FF0000"/>
                </a:solidFill>
              </a:rPr>
              <a:t>function</a:t>
            </a:r>
            <a:r>
              <a:rPr lang="en-MY" dirty="0"/>
              <a:t> </a:t>
            </a:r>
            <a:r>
              <a:rPr lang="en-MY" i="1" dirty="0" err="1"/>
              <a:t>functionName</a:t>
            </a:r>
            <a:r>
              <a:rPr lang="en-MY" dirty="0"/>
              <a:t>() {</a:t>
            </a:r>
            <a:br>
              <a:rPr lang="en-MY" dirty="0"/>
            </a:br>
            <a:r>
              <a:rPr lang="en-MY" i="1" dirty="0"/>
              <a:t>  code to be executed</a:t>
            </a:r>
            <a:r>
              <a:rPr lang="en-MY" dirty="0"/>
              <a:t>;</a:t>
            </a:r>
            <a:br>
              <a:rPr lang="en-MY" dirty="0"/>
            </a:br>
            <a:r>
              <a:rPr lang="en-MY" dirty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454610A4-505E-9675-073E-C93C3A0AA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dirty="0"/>
              <a:t>Apache Web</a:t>
            </a:r>
            <a:r>
              <a:rPr lang="en-US" altLang="en-US" dirty="0"/>
              <a:t> server 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5ACCDCB8-76BE-E53F-585B-5B2F921634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 sz="1800"/>
              <a:t>Apache is the most widely used web server software. Developed and maintained by Apache Software Foundation, </a:t>
            </a:r>
          </a:p>
          <a:p>
            <a:endParaRPr lang="en-MY" altLang="en-US" sz="1800"/>
          </a:p>
          <a:p>
            <a:r>
              <a:rPr lang="en-MY" altLang="en-US" sz="1800"/>
              <a:t>Apache is an open source software available for free. It runs on 67% of all webservers in the world. </a:t>
            </a:r>
          </a:p>
          <a:p>
            <a:endParaRPr lang="en-MY" altLang="en-US" sz="1800"/>
          </a:p>
          <a:p>
            <a:r>
              <a:rPr lang="en-MY" altLang="en-US" sz="1800"/>
              <a:t>It is fast, reliable, and secure. It can be highly customized to meet the needs of many different environments by using extensions and modules. </a:t>
            </a:r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FECE-A7E8-483A-16DC-F5A909B16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92E91-DC2D-61AF-9CA4-11F6CA42C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Sever installation and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57438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9A5C-AC6C-175E-D1AA-8228137A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C488D-89F6-55AE-ECED-3EA737DFA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60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624221285"/>
      </p:ext>
    </p:extLst>
  </p:cSld>
  <p:clrMapOvr>
    <a:masterClrMapping/>
  </p:clrMapOvr>
</p:sld>
</file>

<file path=ppt/theme/theme1.xml><?xml version="1.0" encoding="utf-8"?>
<a:theme xmlns:a="http://schemas.openxmlformats.org/drawingml/2006/main" name="Eclipse">
  <a:themeElements>
    <a:clrScheme name="Eclipse 2">
      <a:dk1>
        <a:srgbClr val="000000"/>
      </a:dk1>
      <a:lt1>
        <a:srgbClr val="FFFFFF"/>
      </a:lt1>
      <a:dk2>
        <a:srgbClr val="333366"/>
      </a:dk2>
      <a:lt2>
        <a:srgbClr val="5F5F5F"/>
      </a:lt2>
      <a:accent1>
        <a:srgbClr val="CC99FF"/>
      </a:accent1>
      <a:accent2>
        <a:srgbClr val="99CCCC"/>
      </a:accent2>
      <a:accent3>
        <a:srgbClr val="FFFFFF"/>
      </a:accent3>
      <a:accent4>
        <a:srgbClr val="000000"/>
      </a:accent4>
      <a:accent5>
        <a:srgbClr val="E2CAFF"/>
      </a:accent5>
      <a:accent6>
        <a:srgbClr val="8AB9B9"/>
      </a:accent6>
      <a:hlink>
        <a:srgbClr val="666699"/>
      </a:hlink>
      <a:folHlink>
        <a:srgbClr val="660066"/>
      </a:folHlink>
    </a:clrScheme>
    <a:fontScheme name="Eclipse">
      <a:majorFont>
        <a:latin typeface="Arial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  <a:ea typeface="ＭＳ Ｐゴシック" charset="0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Eclipse</Template>
  <TotalTime>11401</TotalTime>
  <Words>1078</Words>
  <Application>Microsoft Macintosh PowerPoint</Application>
  <PresentationFormat>On-screen Show (4:3)</PresentationFormat>
  <Paragraphs>170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StarSymbol</vt:lpstr>
      <vt:lpstr>Verdana</vt:lpstr>
      <vt:lpstr>Wingdings</vt:lpstr>
      <vt:lpstr>Eclipse</vt:lpstr>
      <vt:lpstr>INFO 3305 Web Application Development</vt:lpstr>
      <vt:lpstr>Introduction to PHP</vt:lpstr>
      <vt:lpstr>PHP History</vt:lpstr>
      <vt:lpstr>Alternatives to PHP</vt:lpstr>
      <vt:lpstr>(Good) Topics about PHP</vt:lpstr>
      <vt:lpstr>How PHP generates  HTML/JS Web pages</vt:lpstr>
      <vt:lpstr>Hello World! (web oriented)</vt:lpstr>
      <vt:lpstr>Variable declaration</vt:lpstr>
      <vt:lpstr>Comments in PHP</vt:lpstr>
      <vt:lpstr>PHP Data Types</vt:lpstr>
      <vt:lpstr>PHP Operators</vt:lpstr>
      <vt:lpstr>PHP if...else...elseif Statements</vt:lpstr>
      <vt:lpstr>PowerPoint Presentation</vt:lpstr>
      <vt:lpstr>The PHP switch Statement</vt:lpstr>
      <vt:lpstr>PHP Loops</vt:lpstr>
      <vt:lpstr>PowerPoint Presentation</vt:lpstr>
      <vt:lpstr>PHP Functions</vt:lpstr>
      <vt:lpstr>PowerPoint Presentation</vt:lpstr>
      <vt:lpstr>Apache Web server </vt:lpstr>
      <vt:lpstr>Next…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 3305 Web Application Development</dc:title>
  <dc:creator>Microsoft Office User</dc:creator>
  <cp:lastModifiedBy>NAJHAN MUHAMAD IBRAHIM</cp:lastModifiedBy>
  <cp:revision>68</cp:revision>
  <dcterms:created xsi:type="dcterms:W3CDTF">2019-09-12T03:00:44Z</dcterms:created>
  <dcterms:modified xsi:type="dcterms:W3CDTF">2023-09-25T01:18:02Z</dcterms:modified>
</cp:coreProperties>
</file>