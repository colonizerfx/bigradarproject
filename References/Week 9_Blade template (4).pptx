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notesMasterIdLst>
    <p:notesMasterId r:id="rId28"/>
  </p:notesMasterIdLst>
  <p:sldIdLst>
    <p:sldId id="257" r:id="rId2"/>
    <p:sldId id="274" r:id="rId3"/>
    <p:sldId id="290" r:id="rId4"/>
    <p:sldId id="307" r:id="rId5"/>
    <p:sldId id="289" r:id="rId6"/>
    <p:sldId id="296" r:id="rId7"/>
    <p:sldId id="291" r:id="rId8"/>
    <p:sldId id="292" r:id="rId9"/>
    <p:sldId id="297" r:id="rId10"/>
    <p:sldId id="298" r:id="rId11"/>
    <p:sldId id="293" r:id="rId12"/>
    <p:sldId id="299" r:id="rId13"/>
    <p:sldId id="294" r:id="rId14"/>
    <p:sldId id="310" r:id="rId15"/>
    <p:sldId id="311" r:id="rId16"/>
    <p:sldId id="300" r:id="rId17"/>
    <p:sldId id="312" r:id="rId18"/>
    <p:sldId id="301" r:id="rId19"/>
    <p:sldId id="302" r:id="rId20"/>
    <p:sldId id="304" r:id="rId21"/>
    <p:sldId id="309" r:id="rId22"/>
    <p:sldId id="313" r:id="rId23"/>
    <p:sldId id="305" r:id="rId24"/>
    <p:sldId id="306" r:id="rId25"/>
    <p:sldId id="308" r:id="rId26"/>
    <p:sldId id="30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1"/>
    <p:restoredTop sz="91575"/>
  </p:normalViewPr>
  <p:slideViewPr>
    <p:cSldViewPr snapToGrid="0" snapToObjects="1">
      <p:cViewPr varScale="1">
        <p:scale>
          <a:sx n="116" d="100"/>
          <a:sy n="116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10CCF-0B53-449A-9C46-A2E26537F5F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98A586E-7D69-4488-B753-760BB5C7AF96}">
      <dgm:prSet/>
      <dgm:spPr/>
      <dgm:t>
        <a:bodyPr/>
        <a:lstStyle/>
        <a:p>
          <a:r>
            <a:rPr lang="en-MY"/>
            <a:t>In addition to template inheritance and displaying data.</a:t>
          </a:r>
          <a:endParaRPr lang="en-US"/>
        </a:p>
      </dgm:t>
    </dgm:pt>
    <dgm:pt modelId="{47BECA3F-8154-4F8A-AE75-3234AD554445}" type="parTrans" cxnId="{07451E74-56FC-402F-831A-0553C0C965B8}">
      <dgm:prSet/>
      <dgm:spPr/>
      <dgm:t>
        <a:bodyPr/>
        <a:lstStyle/>
        <a:p>
          <a:endParaRPr lang="en-US"/>
        </a:p>
      </dgm:t>
    </dgm:pt>
    <dgm:pt modelId="{9C57549F-7F2D-449C-89CD-D04422FA6EDA}" type="sibTrans" cxnId="{07451E74-56FC-402F-831A-0553C0C965B8}">
      <dgm:prSet/>
      <dgm:spPr/>
      <dgm:t>
        <a:bodyPr/>
        <a:lstStyle/>
        <a:p>
          <a:endParaRPr lang="en-US"/>
        </a:p>
      </dgm:t>
    </dgm:pt>
    <dgm:pt modelId="{D3AA95ED-858A-47FC-8166-3C746D754B72}">
      <dgm:prSet/>
      <dgm:spPr/>
      <dgm:t>
        <a:bodyPr/>
        <a:lstStyle/>
        <a:p>
          <a:r>
            <a:rPr lang="en-MY"/>
            <a:t>Blade also provides convenient shortcuts for common PHP control structures, such as conditional statements and loops. </a:t>
          </a:r>
          <a:endParaRPr lang="en-US"/>
        </a:p>
      </dgm:t>
    </dgm:pt>
    <dgm:pt modelId="{8B83A070-CD71-42C3-BB6E-5222FC00E722}" type="parTrans" cxnId="{7F2D4FD1-1416-4F86-BD55-390398CE0D06}">
      <dgm:prSet/>
      <dgm:spPr/>
      <dgm:t>
        <a:bodyPr/>
        <a:lstStyle/>
        <a:p>
          <a:endParaRPr lang="en-US"/>
        </a:p>
      </dgm:t>
    </dgm:pt>
    <dgm:pt modelId="{021119AB-0005-4613-BA38-88D0609FF98E}" type="sibTrans" cxnId="{7F2D4FD1-1416-4F86-BD55-390398CE0D06}">
      <dgm:prSet/>
      <dgm:spPr/>
      <dgm:t>
        <a:bodyPr/>
        <a:lstStyle/>
        <a:p>
          <a:endParaRPr lang="en-US"/>
        </a:p>
      </dgm:t>
    </dgm:pt>
    <dgm:pt modelId="{D7630050-EEEC-4B34-8254-0C1B1021A938}">
      <dgm:prSet/>
      <dgm:spPr/>
      <dgm:t>
        <a:bodyPr/>
        <a:lstStyle/>
        <a:p>
          <a:r>
            <a:rPr lang="en-MY"/>
            <a:t>These shortcuts provide a very clean, easy way of working with PHP control structures while also remaining familiar to their PHP counterparts.</a:t>
          </a:r>
          <a:endParaRPr lang="en-US"/>
        </a:p>
      </dgm:t>
    </dgm:pt>
    <dgm:pt modelId="{D275A00E-8E62-44E9-BA31-1BFEC1E34ED5}" type="parTrans" cxnId="{78C66702-7E26-46F2-A9DD-1A3D5F7E06AB}">
      <dgm:prSet/>
      <dgm:spPr/>
      <dgm:t>
        <a:bodyPr/>
        <a:lstStyle/>
        <a:p>
          <a:endParaRPr lang="en-US"/>
        </a:p>
      </dgm:t>
    </dgm:pt>
    <dgm:pt modelId="{51F65ABE-4305-4B28-BB09-E1BA3EA5DC60}" type="sibTrans" cxnId="{78C66702-7E26-46F2-A9DD-1A3D5F7E06AB}">
      <dgm:prSet/>
      <dgm:spPr/>
      <dgm:t>
        <a:bodyPr/>
        <a:lstStyle/>
        <a:p>
          <a:endParaRPr lang="en-US"/>
        </a:p>
      </dgm:t>
    </dgm:pt>
    <dgm:pt modelId="{59101466-5AD5-8A4E-8DD8-A2DFFCBD0BFC}" type="pres">
      <dgm:prSet presAssocID="{D2B10CCF-0B53-449A-9C46-A2E26537F5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AB83DF-2720-2248-A9C0-CD93308A0DFC}" type="pres">
      <dgm:prSet presAssocID="{598A586E-7D69-4488-B753-760BB5C7AF96}" presName="hierRoot1" presStyleCnt="0"/>
      <dgm:spPr/>
    </dgm:pt>
    <dgm:pt modelId="{0C9FC6AE-3987-BA43-88DA-46D375461841}" type="pres">
      <dgm:prSet presAssocID="{598A586E-7D69-4488-B753-760BB5C7AF96}" presName="composite" presStyleCnt="0"/>
      <dgm:spPr/>
    </dgm:pt>
    <dgm:pt modelId="{6F5E4DA5-A886-7B48-AE85-69E4663EB248}" type="pres">
      <dgm:prSet presAssocID="{598A586E-7D69-4488-B753-760BB5C7AF96}" presName="background" presStyleLbl="node0" presStyleIdx="0" presStyleCnt="3"/>
      <dgm:spPr/>
    </dgm:pt>
    <dgm:pt modelId="{97B04ED5-6C8D-FF46-B45B-269A3090A65A}" type="pres">
      <dgm:prSet presAssocID="{598A586E-7D69-4488-B753-760BB5C7AF96}" presName="text" presStyleLbl="fgAcc0" presStyleIdx="0" presStyleCnt="3">
        <dgm:presLayoutVars>
          <dgm:chPref val="3"/>
        </dgm:presLayoutVars>
      </dgm:prSet>
      <dgm:spPr/>
    </dgm:pt>
    <dgm:pt modelId="{9E602793-8E24-B24B-99BE-7D1C27DDB4F5}" type="pres">
      <dgm:prSet presAssocID="{598A586E-7D69-4488-B753-760BB5C7AF96}" presName="hierChild2" presStyleCnt="0"/>
      <dgm:spPr/>
    </dgm:pt>
    <dgm:pt modelId="{ED03AF03-00C1-9140-AA01-3E416D40FA2C}" type="pres">
      <dgm:prSet presAssocID="{D3AA95ED-858A-47FC-8166-3C746D754B72}" presName="hierRoot1" presStyleCnt="0"/>
      <dgm:spPr/>
    </dgm:pt>
    <dgm:pt modelId="{821DD288-7BF1-DF4C-98EF-2D82191341FE}" type="pres">
      <dgm:prSet presAssocID="{D3AA95ED-858A-47FC-8166-3C746D754B72}" presName="composite" presStyleCnt="0"/>
      <dgm:spPr/>
    </dgm:pt>
    <dgm:pt modelId="{84065BF4-CABD-B347-9E87-61E0DFBE9B7D}" type="pres">
      <dgm:prSet presAssocID="{D3AA95ED-858A-47FC-8166-3C746D754B72}" presName="background" presStyleLbl="node0" presStyleIdx="1" presStyleCnt="3"/>
      <dgm:spPr/>
    </dgm:pt>
    <dgm:pt modelId="{B6C81A07-1DA2-514A-A717-A07EDE8F62EC}" type="pres">
      <dgm:prSet presAssocID="{D3AA95ED-858A-47FC-8166-3C746D754B72}" presName="text" presStyleLbl="fgAcc0" presStyleIdx="1" presStyleCnt="3">
        <dgm:presLayoutVars>
          <dgm:chPref val="3"/>
        </dgm:presLayoutVars>
      </dgm:prSet>
      <dgm:spPr/>
    </dgm:pt>
    <dgm:pt modelId="{C41C2E3E-9931-4044-A601-3127315EF813}" type="pres">
      <dgm:prSet presAssocID="{D3AA95ED-858A-47FC-8166-3C746D754B72}" presName="hierChild2" presStyleCnt="0"/>
      <dgm:spPr/>
    </dgm:pt>
    <dgm:pt modelId="{993A15D4-B854-7646-8A57-28F9121AFC25}" type="pres">
      <dgm:prSet presAssocID="{D7630050-EEEC-4B34-8254-0C1B1021A938}" presName="hierRoot1" presStyleCnt="0"/>
      <dgm:spPr/>
    </dgm:pt>
    <dgm:pt modelId="{AD5E9C42-B71A-3B4C-A3E7-90089AF3F60B}" type="pres">
      <dgm:prSet presAssocID="{D7630050-EEEC-4B34-8254-0C1B1021A938}" presName="composite" presStyleCnt="0"/>
      <dgm:spPr/>
    </dgm:pt>
    <dgm:pt modelId="{430FC3E9-71A7-1041-AC17-FE65FADF4586}" type="pres">
      <dgm:prSet presAssocID="{D7630050-EEEC-4B34-8254-0C1B1021A938}" presName="background" presStyleLbl="node0" presStyleIdx="2" presStyleCnt="3"/>
      <dgm:spPr/>
    </dgm:pt>
    <dgm:pt modelId="{E9B3A652-A890-C740-ADD8-9691DEB92F9B}" type="pres">
      <dgm:prSet presAssocID="{D7630050-EEEC-4B34-8254-0C1B1021A938}" presName="text" presStyleLbl="fgAcc0" presStyleIdx="2" presStyleCnt="3">
        <dgm:presLayoutVars>
          <dgm:chPref val="3"/>
        </dgm:presLayoutVars>
      </dgm:prSet>
      <dgm:spPr/>
    </dgm:pt>
    <dgm:pt modelId="{3B02F767-7A53-3E42-9C43-0F765CF269D5}" type="pres">
      <dgm:prSet presAssocID="{D7630050-EEEC-4B34-8254-0C1B1021A938}" presName="hierChild2" presStyleCnt="0"/>
      <dgm:spPr/>
    </dgm:pt>
  </dgm:ptLst>
  <dgm:cxnLst>
    <dgm:cxn modelId="{78C66702-7E26-46F2-A9DD-1A3D5F7E06AB}" srcId="{D2B10CCF-0B53-449A-9C46-A2E26537F5F5}" destId="{D7630050-EEEC-4B34-8254-0C1B1021A938}" srcOrd="2" destOrd="0" parTransId="{D275A00E-8E62-44E9-BA31-1BFEC1E34ED5}" sibTransId="{51F65ABE-4305-4B28-BB09-E1BA3EA5DC60}"/>
    <dgm:cxn modelId="{E52A8905-25D1-074E-B07E-04D507840146}" type="presOf" srcId="{D2B10CCF-0B53-449A-9C46-A2E26537F5F5}" destId="{59101466-5AD5-8A4E-8DD8-A2DFFCBD0BFC}" srcOrd="0" destOrd="0" presId="urn:microsoft.com/office/officeart/2005/8/layout/hierarchy1"/>
    <dgm:cxn modelId="{5964334B-D674-A546-A129-6FD6FFA8E21F}" type="presOf" srcId="{D7630050-EEEC-4B34-8254-0C1B1021A938}" destId="{E9B3A652-A890-C740-ADD8-9691DEB92F9B}" srcOrd="0" destOrd="0" presId="urn:microsoft.com/office/officeart/2005/8/layout/hierarchy1"/>
    <dgm:cxn modelId="{07451E74-56FC-402F-831A-0553C0C965B8}" srcId="{D2B10CCF-0B53-449A-9C46-A2E26537F5F5}" destId="{598A586E-7D69-4488-B753-760BB5C7AF96}" srcOrd="0" destOrd="0" parTransId="{47BECA3F-8154-4F8A-AE75-3234AD554445}" sibTransId="{9C57549F-7F2D-449C-89CD-D04422FA6EDA}"/>
    <dgm:cxn modelId="{583A3DCE-D2D7-0644-9A3E-9D221E2691AC}" type="presOf" srcId="{598A586E-7D69-4488-B753-760BB5C7AF96}" destId="{97B04ED5-6C8D-FF46-B45B-269A3090A65A}" srcOrd="0" destOrd="0" presId="urn:microsoft.com/office/officeart/2005/8/layout/hierarchy1"/>
    <dgm:cxn modelId="{7F2D4FD1-1416-4F86-BD55-390398CE0D06}" srcId="{D2B10CCF-0B53-449A-9C46-A2E26537F5F5}" destId="{D3AA95ED-858A-47FC-8166-3C746D754B72}" srcOrd="1" destOrd="0" parTransId="{8B83A070-CD71-42C3-BB6E-5222FC00E722}" sibTransId="{021119AB-0005-4613-BA38-88D0609FF98E}"/>
    <dgm:cxn modelId="{F612E3D1-5207-184D-9FCA-C17C0A241C8F}" type="presOf" srcId="{D3AA95ED-858A-47FC-8166-3C746D754B72}" destId="{B6C81A07-1DA2-514A-A717-A07EDE8F62EC}" srcOrd="0" destOrd="0" presId="urn:microsoft.com/office/officeart/2005/8/layout/hierarchy1"/>
    <dgm:cxn modelId="{9484CAAB-7050-4B43-9309-E15284DA70D7}" type="presParOf" srcId="{59101466-5AD5-8A4E-8DD8-A2DFFCBD0BFC}" destId="{AFAB83DF-2720-2248-A9C0-CD93308A0DFC}" srcOrd="0" destOrd="0" presId="urn:microsoft.com/office/officeart/2005/8/layout/hierarchy1"/>
    <dgm:cxn modelId="{7017393F-8CF9-A14F-9CE4-6C4C258B0A1F}" type="presParOf" srcId="{AFAB83DF-2720-2248-A9C0-CD93308A0DFC}" destId="{0C9FC6AE-3987-BA43-88DA-46D375461841}" srcOrd="0" destOrd="0" presId="urn:microsoft.com/office/officeart/2005/8/layout/hierarchy1"/>
    <dgm:cxn modelId="{29BB16C6-DA06-F941-83C9-0CB1D4E115A5}" type="presParOf" srcId="{0C9FC6AE-3987-BA43-88DA-46D375461841}" destId="{6F5E4DA5-A886-7B48-AE85-69E4663EB248}" srcOrd="0" destOrd="0" presId="urn:microsoft.com/office/officeart/2005/8/layout/hierarchy1"/>
    <dgm:cxn modelId="{85E629DA-A470-8A49-810D-3F065A9C604C}" type="presParOf" srcId="{0C9FC6AE-3987-BA43-88DA-46D375461841}" destId="{97B04ED5-6C8D-FF46-B45B-269A3090A65A}" srcOrd="1" destOrd="0" presId="urn:microsoft.com/office/officeart/2005/8/layout/hierarchy1"/>
    <dgm:cxn modelId="{D8DF6A48-B669-734C-876C-393E853BE1AA}" type="presParOf" srcId="{AFAB83DF-2720-2248-A9C0-CD93308A0DFC}" destId="{9E602793-8E24-B24B-99BE-7D1C27DDB4F5}" srcOrd="1" destOrd="0" presId="urn:microsoft.com/office/officeart/2005/8/layout/hierarchy1"/>
    <dgm:cxn modelId="{4FF3F792-991C-8648-BA68-9244364B4AB4}" type="presParOf" srcId="{59101466-5AD5-8A4E-8DD8-A2DFFCBD0BFC}" destId="{ED03AF03-00C1-9140-AA01-3E416D40FA2C}" srcOrd="1" destOrd="0" presId="urn:microsoft.com/office/officeart/2005/8/layout/hierarchy1"/>
    <dgm:cxn modelId="{BE7DEEC1-178F-0D45-9115-F45A5F4CF353}" type="presParOf" srcId="{ED03AF03-00C1-9140-AA01-3E416D40FA2C}" destId="{821DD288-7BF1-DF4C-98EF-2D82191341FE}" srcOrd="0" destOrd="0" presId="urn:microsoft.com/office/officeart/2005/8/layout/hierarchy1"/>
    <dgm:cxn modelId="{8661910A-B33C-3E44-91D5-893ED16985D0}" type="presParOf" srcId="{821DD288-7BF1-DF4C-98EF-2D82191341FE}" destId="{84065BF4-CABD-B347-9E87-61E0DFBE9B7D}" srcOrd="0" destOrd="0" presId="urn:microsoft.com/office/officeart/2005/8/layout/hierarchy1"/>
    <dgm:cxn modelId="{DEDB006B-644C-8C49-8123-B02D5CBD8311}" type="presParOf" srcId="{821DD288-7BF1-DF4C-98EF-2D82191341FE}" destId="{B6C81A07-1DA2-514A-A717-A07EDE8F62EC}" srcOrd="1" destOrd="0" presId="urn:microsoft.com/office/officeart/2005/8/layout/hierarchy1"/>
    <dgm:cxn modelId="{48C6600D-40C2-004A-BD02-EF0E44099350}" type="presParOf" srcId="{ED03AF03-00C1-9140-AA01-3E416D40FA2C}" destId="{C41C2E3E-9931-4044-A601-3127315EF813}" srcOrd="1" destOrd="0" presId="urn:microsoft.com/office/officeart/2005/8/layout/hierarchy1"/>
    <dgm:cxn modelId="{64E0291B-977C-7844-9E95-E333CFB5A849}" type="presParOf" srcId="{59101466-5AD5-8A4E-8DD8-A2DFFCBD0BFC}" destId="{993A15D4-B854-7646-8A57-28F9121AFC25}" srcOrd="2" destOrd="0" presId="urn:microsoft.com/office/officeart/2005/8/layout/hierarchy1"/>
    <dgm:cxn modelId="{C8DED0E0-D861-5B43-B7FB-C989FD1E6BA8}" type="presParOf" srcId="{993A15D4-B854-7646-8A57-28F9121AFC25}" destId="{AD5E9C42-B71A-3B4C-A3E7-90089AF3F60B}" srcOrd="0" destOrd="0" presId="urn:microsoft.com/office/officeart/2005/8/layout/hierarchy1"/>
    <dgm:cxn modelId="{D4E14D30-3A91-1E4D-9C6E-DCE1CB6F65E2}" type="presParOf" srcId="{AD5E9C42-B71A-3B4C-A3E7-90089AF3F60B}" destId="{430FC3E9-71A7-1041-AC17-FE65FADF4586}" srcOrd="0" destOrd="0" presId="urn:microsoft.com/office/officeart/2005/8/layout/hierarchy1"/>
    <dgm:cxn modelId="{F6CB2DFE-33D3-F147-A887-6ACA88EF0F51}" type="presParOf" srcId="{AD5E9C42-B71A-3B4C-A3E7-90089AF3F60B}" destId="{E9B3A652-A890-C740-ADD8-9691DEB92F9B}" srcOrd="1" destOrd="0" presId="urn:microsoft.com/office/officeart/2005/8/layout/hierarchy1"/>
    <dgm:cxn modelId="{525F2E11-DF81-1741-AA81-5B1269D3CA2F}" type="presParOf" srcId="{993A15D4-B854-7646-8A57-28F9121AFC25}" destId="{3B02F767-7A53-3E42-9C43-0F765CF269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496722-66D7-4B61-B38A-DE70E8AE09D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4CC6D87-817F-4A7E-AEC2-07B8F89D4816}">
      <dgm:prSet/>
      <dgm:spPr/>
      <dgm:t>
        <a:bodyPr/>
        <a:lstStyle/>
        <a:p>
          <a:r>
            <a:rPr lang="en-MY" b="1"/>
            <a:t>Use ==</a:t>
          </a:r>
          <a:r>
            <a:rPr lang="en-MY"/>
            <a:t>: When working with values that may come from loosely typed sources like user input, database queries, or APIs, and type doesn't matter.</a:t>
          </a:r>
          <a:endParaRPr lang="en-US"/>
        </a:p>
      </dgm:t>
    </dgm:pt>
    <dgm:pt modelId="{A618E623-5E41-4740-8924-A320E699FE78}" type="parTrans" cxnId="{F7123FE5-015D-4C3E-8268-2DD87B30075F}">
      <dgm:prSet/>
      <dgm:spPr/>
      <dgm:t>
        <a:bodyPr/>
        <a:lstStyle/>
        <a:p>
          <a:endParaRPr lang="en-US"/>
        </a:p>
      </dgm:t>
    </dgm:pt>
    <dgm:pt modelId="{06851E7F-5ECD-44F6-B4E9-06E6F7D6AAE4}" type="sibTrans" cxnId="{F7123FE5-015D-4C3E-8268-2DD87B30075F}">
      <dgm:prSet/>
      <dgm:spPr/>
      <dgm:t>
        <a:bodyPr/>
        <a:lstStyle/>
        <a:p>
          <a:endParaRPr lang="en-US"/>
        </a:p>
      </dgm:t>
    </dgm:pt>
    <dgm:pt modelId="{67CB41B4-6FCD-4284-9081-62526A8D2CF9}">
      <dgm:prSet/>
      <dgm:spPr/>
      <dgm:t>
        <a:bodyPr/>
        <a:lstStyle/>
        <a:p>
          <a:r>
            <a:rPr lang="en-MY" b="1"/>
            <a:t>Use ===</a:t>
          </a:r>
          <a:r>
            <a:rPr lang="en-MY"/>
            <a:t>: When you need precise, type-safe comparisons to avoid unexpected behavior.</a:t>
          </a:r>
          <a:endParaRPr lang="en-US"/>
        </a:p>
      </dgm:t>
    </dgm:pt>
    <dgm:pt modelId="{2A68C65F-2A14-48CF-8651-EEDD22A17CAC}" type="parTrans" cxnId="{2D16FE3D-064B-4FE2-9591-6DCB24A8FFE7}">
      <dgm:prSet/>
      <dgm:spPr/>
      <dgm:t>
        <a:bodyPr/>
        <a:lstStyle/>
        <a:p>
          <a:endParaRPr lang="en-US"/>
        </a:p>
      </dgm:t>
    </dgm:pt>
    <dgm:pt modelId="{BED526B7-D5DE-40DB-876D-E8A9E740764E}" type="sibTrans" cxnId="{2D16FE3D-064B-4FE2-9591-6DCB24A8FFE7}">
      <dgm:prSet/>
      <dgm:spPr/>
      <dgm:t>
        <a:bodyPr/>
        <a:lstStyle/>
        <a:p>
          <a:endParaRPr lang="en-US"/>
        </a:p>
      </dgm:t>
    </dgm:pt>
    <dgm:pt modelId="{BE53C29F-CDBF-4E2F-8CE0-93F262D32388}" type="pres">
      <dgm:prSet presAssocID="{E1496722-66D7-4B61-B38A-DE70E8AE09DE}" presName="root" presStyleCnt="0">
        <dgm:presLayoutVars>
          <dgm:dir/>
          <dgm:resizeHandles val="exact"/>
        </dgm:presLayoutVars>
      </dgm:prSet>
      <dgm:spPr/>
    </dgm:pt>
    <dgm:pt modelId="{AFE5FEC2-5B1B-4F36-BD63-233E78C2D531}" type="pres">
      <dgm:prSet presAssocID="{D4CC6D87-817F-4A7E-AEC2-07B8F89D4816}" presName="compNode" presStyleCnt="0"/>
      <dgm:spPr/>
    </dgm:pt>
    <dgm:pt modelId="{3E815EA5-A2E2-4D34-9D3E-58889CB774A6}" type="pres">
      <dgm:prSet presAssocID="{D4CC6D87-817F-4A7E-AEC2-07B8F89D48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A6AF7D7-3C8B-480C-B843-7D33D98A852C}" type="pres">
      <dgm:prSet presAssocID="{D4CC6D87-817F-4A7E-AEC2-07B8F89D4816}" presName="spaceRect" presStyleCnt="0"/>
      <dgm:spPr/>
    </dgm:pt>
    <dgm:pt modelId="{357F6BC6-4398-4542-84F4-2D603992EAA8}" type="pres">
      <dgm:prSet presAssocID="{D4CC6D87-817F-4A7E-AEC2-07B8F89D4816}" presName="textRect" presStyleLbl="revTx" presStyleIdx="0" presStyleCnt="2">
        <dgm:presLayoutVars>
          <dgm:chMax val="1"/>
          <dgm:chPref val="1"/>
        </dgm:presLayoutVars>
      </dgm:prSet>
      <dgm:spPr/>
    </dgm:pt>
    <dgm:pt modelId="{B805A24A-ED49-4E78-B52E-14EF7429845E}" type="pres">
      <dgm:prSet presAssocID="{06851E7F-5ECD-44F6-B4E9-06E6F7D6AAE4}" presName="sibTrans" presStyleCnt="0"/>
      <dgm:spPr/>
    </dgm:pt>
    <dgm:pt modelId="{4E3D2C51-DDD6-4D91-8830-4D28B9742DF0}" type="pres">
      <dgm:prSet presAssocID="{67CB41B4-6FCD-4284-9081-62526A8D2CF9}" presName="compNode" presStyleCnt="0"/>
      <dgm:spPr/>
    </dgm:pt>
    <dgm:pt modelId="{9B7EB00D-1E38-46B9-831D-73647A04D61A}" type="pres">
      <dgm:prSet presAssocID="{67CB41B4-6FCD-4284-9081-62526A8D2C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ABEA141-3FE5-4343-BD11-8E039794F2EE}" type="pres">
      <dgm:prSet presAssocID="{67CB41B4-6FCD-4284-9081-62526A8D2CF9}" presName="spaceRect" presStyleCnt="0"/>
      <dgm:spPr/>
    </dgm:pt>
    <dgm:pt modelId="{3387F0D8-F138-4B83-80CF-8404125C5488}" type="pres">
      <dgm:prSet presAssocID="{67CB41B4-6FCD-4284-9081-62526A8D2CF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D16FE3D-064B-4FE2-9591-6DCB24A8FFE7}" srcId="{E1496722-66D7-4B61-B38A-DE70E8AE09DE}" destId="{67CB41B4-6FCD-4284-9081-62526A8D2CF9}" srcOrd="1" destOrd="0" parTransId="{2A68C65F-2A14-48CF-8651-EEDD22A17CAC}" sibTransId="{BED526B7-D5DE-40DB-876D-E8A9E740764E}"/>
    <dgm:cxn modelId="{05DDAC91-9EE4-4416-B9AF-EB4137147C89}" type="presOf" srcId="{E1496722-66D7-4B61-B38A-DE70E8AE09DE}" destId="{BE53C29F-CDBF-4E2F-8CE0-93F262D32388}" srcOrd="0" destOrd="0" presId="urn:microsoft.com/office/officeart/2018/2/layout/IconLabelList"/>
    <dgm:cxn modelId="{A10789C9-5CBE-4BEA-B787-0999E1816A28}" type="presOf" srcId="{D4CC6D87-817F-4A7E-AEC2-07B8F89D4816}" destId="{357F6BC6-4398-4542-84F4-2D603992EAA8}" srcOrd="0" destOrd="0" presId="urn:microsoft.com/office/officeart/2018/2/layout/IconLabelList"/>
    <dgm:cxn modelId="{74D8EAD1-CE8D-461F-95CF-6E32B5E76DAB}" type="presOf" srcId="{67CB41B4-6FCD-4284-9081-62526A8D2CF9}" destId="{3387F0D8-F138-4B83-80CF-8404125C5488}" srcOrd="0" destOrd="0" presId="urn:microsoft.com/office/officeart/2018/2/layout/IconLabelList"/>
    <dgm:cxn modelId="{F7123FE5-015D-4C3E-8268-2DD87B30075F}" srcId="{E1496722-66D7-4B61-B38A-DE70E8AE09DE}" destId="{D4CC6D87-817F-4A7E-AEC2-07B8F89D4816}" srcOrd="0" destOrd="0" parTransId="{A618E623-5E41-4740-8924-A320E699FE78}" sibTransId="{06851E7F-5ECD-44F6-B4E9-06E6F7D6AAE4}"/>
    <dgm:cxn modelId="{C82778ED-9694-46B9-9768-A9E9621BFE7B}" type="presParOf" srcId="{BE53C29F-CDBF-4E2F-8CE0-93F262D32388}" destId="{AFE5FEC2-5B1B-4F36-BD63-233E78C2D531}" srcOrd="0" destOrd="0" presId="urn:microsoft.com/office/officeart/2018/2/layout/IconLabelList"/>
    <dgm:cxn modelId="{3AD74C30-C71D-4FBC-8055-D9A6FFE74159}" type="presParOf" srcId="{AFE5FEC2-5B1B-4F36-BD63-233E78C2D531}" destId="{3E815EA5-A2E2-4D34-9D3E-58889CB774A6}" srcOrd="0" destOrd="0" presId="urn:microsoft.com/office/officeart/2018/2/layout/IconLabelList"/>
    <dgm:cxn modelId="{02C124AF-D3EE-462C-A76F-91034385BD9F}" type="presParOf" srcId="{AFE5FEC2-5B1B-4F36-BD63-233E78C2D531}" destId="{3A6AF7D7-3C8B-480C-B843-7D33D98A852C}" srcOrd="1" destOrd="0" presId="urn:microsoft.com/office/officeart/2018/2/layout/IconLabelList"/>
    <dgm:cxn modelId="{5834AC49-6856-4FC8-A74F-E15AA1310129}" type="presParOf" srcId="{AFE5FEC2-5B1B-4F36-BD63-233E78C2D531}" destId="{357F6BC6-4398-4542-84F4-2D603992EAA8}" srcOrd="2" destOrd="0" presId="urn:microsoft.com/office/officeart/2018/2/layout/IconLabelList"/>
    <dgm:cxn modelId="{C9024382-C260-40E8-B180-56652978F4D6}" type="presParOf" srcId="{BE53C29F-CDBF-4E2F-8CE0-93F262D32388}" destId="{B805A24A-ED49-4E78-B52E-14EF7429845E}" srcOrd="1" destOrd="0" presId="urn:microsoft.com/office/officeart/2018/2/layout/IconLabelList"/>
    <dgm:cxn modelId="{E5E4726F-9AE8-4076-A19D-DDCA76EE62B2}" type="presParOf" srcId="{BE53C29F-CDBF-4E2F-8CE0-93F262D32388}" destId="{4E3D2C51-DDD6-4D91-8830-4D28B9742DF0}" srcOrd="2" destOrd="0" presId="urn:microsoft.com/office/officeart/2018/2/layout/IconLabelList"/>
    <dgm:cxn modelId="{F627CFDB-E395-4EC6-9F91-8BFF573C16EB}" type="presParOf" srcId="{4E3D2C51-DDD6-4D91-8830-4D28B9742DF0}" destId="{9B7EB00D-1E38-46B9-831D-73647A04D61A}" srcOrd="0" destOrd="0" presId="urn:microsoft.com/office/officeart/2018/2/layout/IconLabelList"/>
    <dgm:cxn modelId="{84F91D72-6846-41E3-ADA0-D2B0287B6AB0}" type="presParOf" srcId="{4E3D2C51-DDD6-4D91-8830-4D28B9742DF0}" destId="{2ABEA141-3FE5-4343-BD11-8E039794F2EE}" srcOrd="1" destOrd="0" presId="urn:microsoft.com/office/officeart/2018/2/layout/IconLabelList"/>
    <dgm:cxn modelId="{37EDC14B-077C-4141-8D51-F8D55D720841}" type="presParOf" srcId="{4E3D2C51-DDD6-4D91-8830-4D28B9742DF0}" destId="{3387F0D8-F138-4B83-80CF-8404125C54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E4DA5-A886-7B48-AE85-69E4663EB248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04ED5-6C8D-FF46-B45B-269A3090A65A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In addition to template inheritance and displaying data.</a:t>
          </a:r>
          <a:endParaRPr lang="en-US" sz="1900" kern="1200"/>
        </a:p>
      </dsp:txBody>
      <dsp:txXfrm>
        <a:off x="374352" y="843542"/>
        <a:ext cx="2778721" cy="1725303"/>
      </dsp:txXfrm>
    </dsp:sp>
    <dsp:sp modelId="{84065BF4-CABD-B347-9E87-61E0DFBE9B7D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81A07-1DA2-514A-A717-A07EDE8F62EC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Blade also provides convenient shortcuts for common PHP control structures, such as conditional statements and loops. </a:t>
          </a:r>
          <a:endParaRPr lang="en-US" sz="1900" kern="1200"/>
        </a:p>
      </dsp:txBody>
      <dsp:txXfrm>
        <a:off x="3901776" y="843542"/>
        <a:ext cx="2778721" cy="1725303"/>
      </dsp:txXfrm>
    </dsp:sp>
    <dsp:sp modelId="{430FC3E9-71A7-1041-AC17-FE65FADF4586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3A652-A890-C740-ADD8-9691DEB92F9B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These shortcuts provide a very clean, easy way of working with PHP control structures while also remaining familiar to their PHP counterparts.</a:t>
          </a:r>
          <a:endParaRPr lang="en-US" sz="1900" kern="1200"/>
        </a:p>
      </dsp:txBody>
      <dsp:txXfrm>
        <a:off x="7429201" y="843542"/>
        <a:ext cx="2778721" cy="1725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15EA5-A2E2-4D34-9D3E-58889CB774A6}">
      <dsp:nvSpPr>
        <dsp:cNvPr id="0" name=""/>
        <dsp:cNvSpPr/>
      </dsp:nvSpPr>
      <dsp:spPr>
        <a:xfrm>
          <a:off x="1684784" y="7604"/>
          <a:ext cx="1908562" cy="190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F6BC6-4398-4542-84F4-2D603992EAA8}">
      <dsp:nvSpPr>
        <dsp:cNvPr id="0" name=""/>
        <dsp:cNvSpPr/>
      </dsp:nvSpPr>
      <dsp:spPr>
        <a:xfrm>
          <a:off x="518440" y="2380143"/>
          <a:ext cx="424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Use ==</a:t>
          </a:r>
          <a:r>
            <a:rPr lang="en-MY" sz="1600" kern="1200"/>
            <a:t>: When working with values that may come from loosely typed sources like user input, database queries, or APIs, and type doesn't matter.</a:t>
          </a:r>
          <a:endParaRPr lang="en-US" sz="1600" kern="1200"/>
        </a:p>
      </dsp:txBody>
      <dsp:txXfrm>
        <a:off x="518440" y="2380143"/>
        <a:ext cx="4241250" cy="720000"/>
      </dsp:txXfrm>
    </dsp:sp>
    <dsp:sp modelId="{9B7EB00D-1E38-46B9-831D-73647A04D61A}">
      <dsp:nvSpPr>
        <dsp:cNvPr id="0" name=""/>
        <dsp:cNvSpPr/>
      </dsp:nvSpPr>
      <dsp:spPr>
        <a:xfrm>
          <a:off x="6668253" y="7604"/>
          <a:ext cx="1908562" cy="190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7F0D8-F138-4B83-80CF-8404125C5488}">
      <dsp:nvSpPr>
        <dsp:cNvPr id="0" name=""/>
        <dsp:cNvSpPr/>
      </dsp:nvSpPr>
      <dsp:spPr>
        <a:xfrm>
          <a:off x="5501909" y="2380143"/>
          <a:ext cx="424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/>
            <a:t>Use ===</a:t>
          </a:r>
          <a:r>
            <a:rPr lang="en-MY" sz="1600" kern="1200"/>
            <a:t>: When you need precise, type-safe comparisons to avoid unexpected behavior.</a:t>
          </a:r>
          <a:endParaRPr lang="en-US" sz="1600" kern="1200"/>
        </a:p>
      </dsp:txBody>
      <dsp:txXfrm>
        <a:off x="5501909" y="2380143"/>
        <a:ext cx="424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7DF32-92B2-C145-8421-B52AB363853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C646-93DD-6E4C-BE56-C2A6CA565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7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C646-93DD-6E4C-BE56-C2A6CA5654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8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such string, == int or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C646-93DD-6E4C-BE56-C2A6CA5654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07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78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3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2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0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3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6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1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24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4DA93AD-4AAB-354D-B39C-AA59DBCD400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0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2052" descr="Person being measured">
            <a:extLst>
              <a:ext uri="{FF2B5EF4-FFF2-40B4-BE49-F238E27FC236}">
                <a16:creationId xmlns:a16="http://schemas.microsoft.com/office/drawing/2014/main" id="{F14D4E1B-F7DE-A0E8-4EAA-050085868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" r="15867" b="2"/>
          <a:stretch>
            <a:fillRect/>
          </a:stretch>
        </p:blipFill>
        <p:spPr>
          <a:xfrm>
            <a:off x="-1" y="-1"/>
            <a:ext cx="7537704" cy="6858000"/>
          </a:xfrm>
          <a:prstGeom prst="rect">
            <a:avLst/>
          </a:prstGeom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2C1E13E7-E118-C847-89B9-C478B24A64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70604" y="2846350"/>
            <a:ext cx="5798419" cy="1165300"/>
          </a:xfrm>
          <a:solidFill>
            <a:schemeClr val="bg1">
              <a:alpha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sz="1300" dirty="0">
                <a:solidFill>
                  <a:schemeClr val="tx1"/>
                </a:solidFill>
              </a:rPr>
              <a:t>BIIT 2305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Web Application Development</a:t>
            </a:r>
            <a:br>
              <a:rPr lang="en-US" sz="1300" dirty="0">
                <a:solidFill>
                  <a:schemeClr val="tx1"/>
                </a:solidFill>
              </a:rPr>
            </a:b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Blade Template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22DE8B3-CCA4-DF4B-A7E7-BD5F9650A5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177784" y="2615986"/>
            <a:ext cx="3374136" cy="1626028"/>
          </a:xfrm>
        </p:spPr>
        <p:txBody>
          <a:bodyPr rtlCol="0" anchor="ctr">
            <a:normAutofit/>
          </a:bodyPr>
          <a:lstStyle/>
          <a:p>
            <a:pPr algn="l">
              <a:lnSpc>
                <a:spcPct val="90000"/>
              </a:lnSpc>
              <a:defRPr/>
            </a:pPr>
            <a:r>
              <a:rPr lang="en-US" sz="1600">
                <a:latin typeface="Arial" charset="0"/>
              </a:rPr>
              <a:t>Instructor :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600">
                <a:latin typeface="Arial" charset="0"/>
              </a:rPr>
              <a:t>Dr. </a:t>
            </a:r>
            <a:r>
              <a:rPr lang="en-US" sz="1600" err="1">
                <a:latin typeface="Arial" charset="0"/>
              </a:rPr>
              <a:t>Najhan</a:t>
            </a:r>
            <a:r>
              <a:rPr lang="en-US" sz="1600">
                <a:latin typeface="Arial" charset="0"/>
              </a:rPr>
              <a:t> M. Ibrahim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600">
                <a:latin typeface="Arial" charset="0"/>
              </a:rPr>
              <a:t>Department of Information Systems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600" err="1">
                <a:latin typeface="Arial" charset="0"/>
              </a:rPr>
              <a:t>Kulliyyah</a:t>
            </a:r>
            <a:r>
              <a:rPr lang="en-US" sz="1600">
                <a:latin typeface="Arial" charset="0"/>
              </a:rPr>
              <a:t> of ICT, IIUM.</a:t>
            </a:r>
          </a:p>
        </p:txBody>
      </p:sp>
    </p:spTree>
    <p:extLst>
      <p:ext uri="{BB962C8B-B14F-4D97-AF65-F5344CB8AC3E}">
        <p14:creationId xmlns:p14="http://schemas.microsoft.com/office/powerpoint/2010/main" val="232495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F99A6-7B0F-B74B-B782-F2A5BAEF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MVC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E655D-9C7C-2D40-8000-B6061186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310656"/>
            <a:ext cx="6257544" cy="392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4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08314-186B-844C-885C-E7A7D9AC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4C07-BEA4-0C4C-B6D0-BA142AF3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What is Blade Template (View)</a:t>
            </a:r>
          </a:p>
          <a:p>
            <a:endParaRPr lang="en-US" dirty="0"/>
          </a:p>
          <a:p>
            <a:r>
              <a:rPr lang="en-US" dirty="0"/>
              <a:t>Blade template expression</a:t>
            </a:r>
          </a:p>
          <a:p>
            <a:endParaRPr lang="en-US" dirty="0"/>
          </a:p>
          <a:p>
            <a:r>
              <a:rPr lang="en-US" dirty="0"/>
              <a:t>Passing data</a:t>
            </a:r>
          </a:p>
          <a:p>
            <a:endParaRPr lang="en-US" dirty="0"/>
          </a:p>
          <a:p>
            <a:r>
              <a:rPr lang="en-US" dirty="0"/>
              <a:t>Conditions</a:t>
            </a:r>
          </a:p>
          <a:p>
            <a:endParaRPr lang="en-US" dirty="0"/>
          </a:p>
          <a:p>
            <a:r>
              <a:rPr lang="en-US" dirty="0"/>
              <a:t>For and Foreach Loop</a:t>
            </a:r>
          </a:p>
        </p:txBody>
      </p:sp>
    </p:spTree>
    <p:extLst>
      <p:ext uri="{BB962C8B-B14F-4D97-AF65-F5344CB8AC3E}">
        <p14:creationId xmlns:p14="http://schemas.microsoft.com/office/powerpoint/2010/main" val="254227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614E3-8ACF-87D1-7F51-DB4D596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Blade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E993-9155-4690-D999-425EB4077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76271"/>
            <a:ext cx="5320696" cy="638978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The Blade is a powerful templating engine in a Laravel framework. 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The blade allows to use the templating engine easily, and it makes the syntax writing very simple. 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The blade templating engine provides its own structure such as conditional statements and loops. 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To create a blade template, you just need to create a view file and save it with a </a:t>
            </a:r>
            <a:r>
              <a:rPr lang="en-US" sz="1700" b="1" dirty="0"/>
              <a:t>.</a:t>
            </a:r>
            <a:r>
              <a:rPr lang="en-US" sz="1700" b="1" dirty="0" err="1"/>
              <a:t>blade.php</a:t>
            </a:r>
            <a:r>
              <a:rPr lang="en-US" sz="1700" b="1" dirty="0"/>
              <a:t> </a:t>
            </a:r>
            <a:r>
              <a:rPr lang="en-US" sz="1700" dirty="0"/>
              <a:t>extension instead of </a:t>
            </a:r>
            <a:r>
              <a:rPr lang="en-US" sz="1700" b="1" dirty="0"/>
              <a:t>.</a:t>
            </a:r>
            <a:r>
              <a:rPr lang="en-US" sz="1700" b="1" dirty="0" err="1"/>
              <a:t>php</a:t>
            </a:r>
            <a:r>
              <a:rPr lang="en-US" sz="1700" b="1" dirty="0"/>
              <a:t> </a:t>
            </a:r>
            <a:r>
              <a:rPr lang="en-US" sz="1700" dirty="0"/>
              <a:t>extension.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The blade templates are stored in the /resources/view directory.</a:t>
            </a:r>
          </a:p>
        </p:txBody>
      </p:sp>
    </p:spTree>
    <p:extLst>
      <p:ext uri="{BB962C8B-B14F-4D97-AF65-F5344CB8AC3E}">
        <p14:creationId xmlns:p14="http://schemas.microsoft.com/office/powerpoint/2010/main" val="136362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E2DF3-8242-4F4E-ABBE-686E7F67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Blade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4B96-CE40-5848-B2B8-51999BD72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Blade template that convert plain text to PHP code ( Some PHP tags are difficult to write and taking a lot of effort)</a:t>
            </a:r>
          </a:p>
          <a:p>
            <a:endParaRPr lang="en-US" dirty="0"/>
          </a:p>
          <a:p>
            <a:r>
              <a:rPr lang="en-MY" dirty="0"/>
              <a:t>Blade does not restrict you from using plain PHP code in your templates. </a:t>
            </a:r>
            <a:endParaRPr lang="en-US" dirty="0"/>
          </a:p>
          <a:p>
            <a:endParaRPr lang="en-US" dirty="0"/>
          </a:p>
          <a:p>
            <a:r>
              <a:rPr lang="en-MY" dirty="0"/>
              <a:t>Blade template files use the .</a:t>
            </a:r>
            <a:r>
              <a:rPr lang="en-MY" dirty="0" err="1"/>
              <a:t>blade.php</a:t>
            </a:r>
            <a:r>
              <a:rPr lang="en-MY" dirty="0"/>
              <a:t> </a:t>
            </a:r>
          </a:p>
          <a:p>
            <a:endParaRPr lang="en-MY" dirty="0"/>
          </a:p>
          <a:p>
            <a:r>
              <a:rPr lang="en-MY" dirty="0"/>
              <a:t>File extension are typically stored in the resources/views directory.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3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3E558-7CE4-8641-8E5F-1B198DAB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Passing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37BF3-1B1B-3747-8EE9-3273D4CA0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1500" dirty="0"/>
              <a:t>You may passed and display data  to your Blade views by wrapping the variable in curly braces </a:t>
            </a:r>
            <a:r>
              <a:rPr lang="en-MY" sz="1500" dirty="0">
                <a:highlight>
                  <a:srgbClr val="FFFF00"/>
                </a:highlight>
              </a:rPr>
              <a:t>{{ }}.  </a:t>
            </a:r>
          </a:p>
          <a:p>
            <a:pPr>
              <a:lnSpc>
                <a:spcPct val="90000"/>
              </a:lnSpc>
            </a:pPr>
            <a:endParaRPr lang="en-MY" sz="1500" dirty="0"/>
          </a:p>
          <a:p>
            <a:pPr>
              <a:lnSpc>
                <a:spcPct val="90000"/>
              </a:lnSpc>
            </a:pPr>
            <a:r>
              <a:rPr lang="en-MY" sz="1500" dirty="0"/>
              <a:t>For example, given the following route:</a:t>
            </a:r>
          </a:p>
          <a:p>
            <a:pPr>
              <a:lnSpc>
                <a:spcPct val="90000"/>
              </a:lnSpc>
            </a:pPr>
            <a:endParaRPr lang="en-MY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MY" sz="1500" dirty="0"/>
              <a:t>Route::get('/', function () {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 dirty="0"/>
              <a:t>return view('welcome’, </a:t>
            </a:r>
            <a:r>
              <a:rPr lang="en-MY" sz="1500" dirty="0">
                <a:highlight>
                  <a:srgbClr val="FFFF00"/>
                </a:highlight>
              </a:rPr>
              <a:t>[ ‘name' =&gt; ‘Ahmad’ ] </a:t>
            </a:r>
            <a:r>
              <a:rPr lang="en-MY" sz="1500" dirty="0"/>
              <a:t>) 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 dirty="0"/>
              <a:t>});</a:t>
            </a:r>
          </a:p>
          <a:p>
            <a:pPr marL="0" indent="0">
              <a:lnSpc>
                <a:spcPct val="90000"/>
              </a:lnSpc>
              <a:buNone/>
            </a:pPr>
            <a:endParaRPr lang="en-MY" sz="1500" dirty="0"/>
          </a:p>
          <a:p>
            <a:pPr>
              <a:lnSpc>
                <a:spcPct val="90000"/>
              </a:lnSpc>
            </a:pPr>
            <a:r>
              <a:rPr lang="en-MY" sz="1500" dirty="0"/>
              <a:t>You may display the contents of the name variable like so:</a:t>
            </a:r>
          </a:p>
          <a:p>
            <a:pPr>
              <a:lnSpc>
                <a:spcPct val="90000"/>
              </a:lnSpc>
            </a:pPr>
            <a:endParaRPr lang="en-MY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MY" sz="1500" dirty="0"/>
              <a:t>Hello, </a:t>
            </a:r>
            <a:r>
              <a:rPr lang="en-MY" sz="1500" dirty="0">
                <a:highlight>
                  <a:srgbClr val="FFFF00"/>
                </a:highlight>
              </a:rPr>
              <a:t>{{ $name }}.</a:t>
            </a:r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932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B2706-2B3D-4B4D-B1AD-F731A18E9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1B1B-3806-C84C-A965-E2B7A375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In PHP: to display some thing you need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&lt;? </a:t>
            </a:r>
            <a:r>
              <a:rPr lang="en-US" dirty="0" err="1">
                <a:highlight>
                  <a:srgbClr val="FFFF00"/>
                </a:highlight>
              </a:rPr>
              <a:t>Php</a:t>
            </a:r>
            <a:r>
              <a:rPr lang="en-US" dirty="0">
                <a:highlight>
                  <a:srgbClr val="FFFF00"/>
                </a:highlight>
              </a:rPr>
              <a:t> echo 10 + 10 * 10 ?&gt;</a:t>
            </a:r>
          </a:p>
          <a:p>
            <a:endParaRPr lang="en-US" dirty="0"/>
          </a:p>
          <a:p>
            <a:r>
              <a:rPr lang="en-US" dirty="0"/>
              <a:t>In Blade template: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{{ 10 + 10 * 10 }}</a:t>
            </a:r>
          </a:p>
        </p:txBody>
      </p:sp>
    </p:spTree>
    <p:extLst>
      <p:ext uri="{BB962C8B-B14F-4D97-AF65-F5344CB8AC3E}">
        <p14:creationId xmlns:p14="http://schemas.microsoft.com/office/powerpoint/2010/main" val="80075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D89C2-D5A0-0545-AC1C-B0D4741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>
                <a:highlight>
                  <a:srgbClr val="FFFF00"/>
                </a:highlight>
              </a:rPr>
              <a:t>Blade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8DE7-677E-B343-86DA-85066FDE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</a:rPr>
              <a:t>Example:</a:t>
            </a:r>
          </a:p>
          <a:p>
            <a:endParaRPr lang="en-US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404040"/>
                </a:solidFill>
              </a:rPr>
              <a:t>&lt;h1&gt; {{ $users + 2 * 2 }} &lt;/h1&gt;</a:t>
            </a:r>
          </a:p>
        </p:txBody>
      </p:sp>
    </p:spTree>
    <p:extLst>
      <p:ext uri="{BB962C8B-B14F-4D97-AF65-F5344CB8AC3E}">
        <p14:creationId xmlns:p14="http://schemas.microsoft.com/office/powerpoint/2010/main" val="3859050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50AB3-B437-374C-92D9-196E6F62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Blade Directives @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F44F40-1966-B1BB-B519-E344504E8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38882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45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B2619-9793-CB4F-9983-0C28AC77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26B9-0403-2946-9ABF-10F8CAB56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en-MY" dirty="0">
                <a:solidFill>
                  <a:srgbClr val="404040"/>
                </a:solidFill>
              </a:rPr>
              <a:t>You may construct if statements using the </a:t>
            </a:r>
          </a:p>
          <a:p>
            <a:r>
              <a:rPr lang="en-MY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MY" dirty="0">
                <a:solidFill>
                  <a:srgbClr val="404040"/>
                </a:solidFill>
              </a:rPr>
              <a:t>if, </a:t>
            </a:r>
          </a:p>
          <a:p>
            <a:r>
              <a:rPr lang="en-MY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MY" dirty="0">
                <a:solidFill>
                  <a:srgbClr val="404040"/>
                </a:solidFill>
              </a:rPr>
              <a:t>elseif, </a:t>
            </a:r>
          </a:p>
          <a:p>
            <a:r>
              <a:rPr lang="en-MY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MY" dirty="0">
                <a:solidFill>
                  <a:srgbClr val="404040"/>
                </a:solidFill>
              </a:rPr>
              <a:t>else, and </a:t>
            </a:r>
          </a:p>
          <a:p>
            <a:r>
              <a:rPr lang="en-MY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MY" dirty="0">
                <a:solidFill>
                  <a:srgbClr val="404040"/>
                </a:solidFill>
              </a:rPr>
              <a:t>endif directives. </a:t>
            </a:r>
          </a:p>
          <a:p>
            <a:endParaRPr lang="en-MY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950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37340-66AD-A04C-A14A-05259467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Blade </a:t>
            </a:r>
            <a:r>
              <a:rPr lang="en-MY" dirty="0">
                <a:highlight>
                  <a:srgbClr val="FFFF00"/>
                </a:highlight>
              </a:rPr>
              <a:t>directives</a:t>
            </a:r>
            <a:r>
              <a:rPr lang="en-US" dirty="0">
                <a:highlight>
                  <a:srgbClr val="FFFF00"/>
                </a:highlight>
              </a:rPr>
              <a:t> (If condition)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898-CD3A-C444-A31D-CF6F15164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404040"/>
                </a:solidFill>
              </a:rPr>
              <a:t>Example: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US" sz="1700" dirty="0">
                <a:solidFill>
                  <a:srgbClr val="404040"/>
                </a:solidFill>
              </a:rPr>
              <a:t>if ($name==="</a:t>
            </a:r>
            <a:r>
              <a:rPr lang="en-US" sz="1700" dirty="0" err="1">
                <a:solidFill>
                  <a:srgbClr val="404040"/>
                </a:solidFill>
              </a:rPr>
              <a:t>ali</a:t>
            </a:r>
            <a:r>
              <a:rPr lang="en-US" sz="1700" dirty="0">
                <a:solidFill>
                  <a:srgbClr val="404040"/>
                </a:solidFill>
              </a:rPr>
              <a:t>")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404040"/>
                </a:solidFill>
              </a:rPr>
              <a:t>&lt;h2&gt; Hi {{$name}} &lt;/h2&gt;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404040"/>
                </a:solidFill>
                <a:highlight>
                  <a:srgbClr val="FFFF00"/>
                </a:highlight>
              </a:rPr>
              <a:t>@</a:t>
            </a:r>
            <a:r>
              <a:rPr lang="en-US" sz="1700" dirty="0">
                <a:solidFill>
                  <a:srgbClr val="404040"/>
                </a:solidFill>
              </a:rPr>
              <a:t>endif</a:t>
            </a:r>
          </a:p>
        </p:txBody>
      </p:sp>
    </p:spTree>
    <p:extLst>
      <p:ext uri="{BB962C8B-B14F-4D97-AF65-F5344CB8AC3E}">
        <p14:creationId xmlns:p14="http://schemas.microsoft.com/office/powerpoint/2010/main" val="2317485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91BE7-FFCF-2F43-9E75-F92E5837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If Statements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B313A-0105-7B41-9F29-A58678FF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@if (count($records) === 1)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I have one record!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@elseif (count($records) &gt; 1)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I have multiple records!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@else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I don't have any records! </a:t>
            </a:r>
          </a:p>
          <a:p>
            <a:pPr marL="0" indent="0">
              <a:buNone/>
            </a:pPr>
            <a:r>
              <a:rPr lang="en-MY" dirty="0">
                <a:solidFill>
                  <a:srgbClr val="404040"/>
                </a:solidFill>
              </a:rPr>
              <a:t>@endif</a:t>
            </a: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30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CFACF-4F5E-9D45-8411-5050CA72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EE68E-6FA4-994B-AEB6-F5809EAE8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@if ($user === "</a:t>
            </a:r>
            <a:r>
              <a:rPr lang="en-US" sz="1300" b="1" dirty="0" err="1"/>
              <a:t>ali</a:t>
            </a:r>
            <a:r>
              <a:rPr lang="en-US" sz="1300" b="1" dirty="0"/>
              <a:t>")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&lt;h2&gt; Hi {{$user}} &lt;/h2&gt;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@elseif ($user ==='</a:t>
            </a:r>
            <a:r>
              <a:rPr lang="en-US" sz="1300" b="1" dirty="0" err="1"/>
              <a:t>ahmad</a:t>
            </a:r>
            <a:r>
              <a:rPr lang="en-US" sz="1300" b="1" dirty="0"/>
              <a:t>’)</a:t>
            </a:r>
          </a:p>
          <a:p>
            <a:pPr>
              <a:lnSpc>
                <a:spcPct val="90000"/>
              </a:lnSpc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&lt;h3&gt;Hi {{$user}}&lt;/h3&gt;</a:t>
            </a:r>
          </a:p>
          <a:p>
            <a:pPr>
              <a:lnSpc>
                <a:spcPct val="90000"/>
              </a:lnSpc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@else</a:t>
            </a:r>
          </a:p>
          <a:p>
            <a:pPr>
              <a:lnSpc>
                <a:spcPct val="90000"/>
              </a:lnSpc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&lt;h3&gt; Unknown User&lt;/h3&gt;</a:t>
            </a:r>
          </a:p>
          <a:p>
            <a:pPr>
              <a:lnSpc>
                <a:spcPct val="90000"/>
              </a:lnSpc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@endif</a:t>
            </a:r>
          </a:p>
        </p:txBody>
      </p:sp>
    </p:spTree>
    <p:extLst>
      <p:ext uri="{BB962C8B-B14F-4D97-AF65-F5344CB8AC3E}">
        <p14:creationId xmlns:p14="http://schemas.microsoft.com/office/powerpoint/2010/main" val="136270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07C4-0DF0-743C-32CF-E0C28AA1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== vs 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7E9C-D04E-8B5B-543F-8AB531BF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164" y="132202"/>
            <a:ext cx="6665205" cy="644486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MY" sz="1400" b="1" dirty="0"/>
              <a:t>== (Equality Operator)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Type Coercion</a:t>
            </a:r>
            <a:r>
              <a:rPr lang="en-MY" sz="1400" dirty="0"/>
              <a:t>: The == operator compares two values for equality </a:t>
            </a:r>
            <a:r>
              <a:rPr lang="en-MY" sz="1400" b="1" dirty="0"/>
              <a:t>after converting them to a common type</a:t>
            </a:r>
            <a:r>
              <a:rPr lang="en-MY" sz="1400" dirty="0"/>
              <a:t>, if needed. This is called </a:t>
            </a:r>
            <a:r>
              <a:rPr lang="en-MY" sz="1400" i="1" dirty="0"/>
              <a:t>type coercion</a:t>
            </a:r>
            <a:r>
              <a:rPr lang="en-MY" sz="1400" dirty="0"/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MY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 dirty="0" err="1"/>
              <a:t>Examples</a:t>
            </a:r>
            <a:r>
              <a:rPr lang="en-MY" sz="1400" dirty="0" err="1"/>
              <a:t>:php</a:t>
            </a:r>
            <a:endParaRPr lang="en-MY" sz="1400" dirty="0"/>
          </a:p>
          <a:p>
            <a:pPr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dirty="0"/>
              <a:t>42 == "42"; // true (string "42" is converted to integer 42) null == false; // true (both are treated as </a:t>
            </a:r>
            <a:r>
              <a:rPr lang="en-MY" sz="1400" dirty="0" err="1"/>
              <a:t>falsy</a:t>
            </a:r>
            <a:r>
              <a:rPr lang="en-MY" sz="1400" dirty="0"/>
              <a:t> values)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Use Case</a:t>
            </a:r>
            <a:r>
              <a:rPr lang="en-MY" sz="1400" dirty="0"/>
              <a:t>: When you don't care about the type of the variables being compared, only their values.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MY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 dirty="0"/>
              <a:t>=== (Strict Equality Operator)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No Type Coercion</a:t>
            </a:r>
            <a:r>
              <a:rPr lang="en-MY" sz="1400" dirty="0"/>
              <a:t>: The === operator checks for </a:t>
            </a:r>
            <a:r>
              <a:rPr lang="en-MY" sz="1400" b="1" dirty="0"/>
              <a:t>both value and type</a:t>
            </a:r>
            <a:r>
              <a:rPr lang="en-MY" sz="1400" dirty="0"/>
              <a:t>. The comparison only evaluates to true if the values are identical and of the same type.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 dirty="0" err="1"/>
              <a:t>Examples</a:t>
            </a:r>
            <a:r>
              <a:rPr lang="en-MY" sz="1400" dirty="0" err="1"/>
              <a:t>:php</a:t>
            </a:r>
            <a:endParaRPr lang="en-MY" sz="14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dirty="0"/>
              <a:t>Copy code</a:t>
            </a:r>
          </a:p>
          <a:p>
            <a:pPr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dirty="0"/>
              <a:t>42 === "42"; // false (different types: integer and string) null === false; // false (null is not the same as false)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Use Case</a:t>
            </a:r>
            <a:r>
              <a:rPr lang="en-MY" sz="1400" dirty="0"/>
              <a:t>: When type safety is critical, such as validating input or ensuring data integrity.</a:t>
            </a:r>
          </a:p>
          <a:p>
            <a:pPr>
              <a:lnSpc>
                <a:spcPct val="90000"/>
              </a:lnSpc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19953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082B-C7C7-04E8-0FCF-CCE911FB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MY" b="1" dirty="0"/>
              <a:t>When to Use Which?</a:t>
            </a:r>
            <a:br>
              <a:rPr lang="en-MY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74B47D-1AD7-36D5-1E81-B847DC8B9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662866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2921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F460BB-FB87-45F2-BD48-0F23BCD24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7140A-4BC0-E7D6-7AE0-96B4B1000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8" r="33097"/>
          <a:stretch>
            <a:fillRect/>
          </a:stretch>
        </p:blipFill>
        <p:spPr>
          <a:xfrm>
            <a:off x="4654296" y="10"/>
            <a:ext cx="753770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6F07A3-5698-534F-B77D-D67FB201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8" y="2834640"/>
            <a:ext cx="592836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06ED-86CE-4040-8DE0-3194B5A7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973600"/>
            <a:ext cx="3374136" cy="492428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MY" sz="1500" b="1">
                <a:solidFill>
                  <a:srgbClr val="FFFFFF"/>
                </a:solidFill>
              </a:rPr>
              <a:t>Switch statements can be constructed using</a:t>
            </a:r>
          </a:p>
          <a:p>
            <a:pPr>
              <a:lnSpc>
                <a:spcPct val="90000"/>
              </a:lnSpc>
            </a:pPr>
            <a:r>
              <a:rPr lang="en-MY" sz="1500">
                <a:solidFill>
                  <a:srgbClr val="FFFFFF"/>
                </a:solidFill>
              </a:rPr>
              <a:t> the @switch, @case, @break, @default and @endswitch directives:</a:t>
            </a:r>
          </a:p>
          <a:p>
            <a:pPr>
              <a:lnSpc>
                <a:spcPct val="90000"/>
              </a:lnSpc>
            </a:pPr>
            <a:endParaRPr lang="en-MY" sz="15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@switch($i)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@case(1)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        First case...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       @break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@case(2)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       Second case...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       @break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@default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                   Default case...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MY" sz="1500">
                <a:solidFill>
                  <a:srgbClr val="FFFFFF"/>
                </a:solidFill>
              </a:rPr>
              <a:t>@endswitch</a:t>
            </a:r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457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529D-35AC-B205-B978-998B4AF1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692" y="97926"/>
            <a:ext cx="7729728" cy="118872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A53C-F0E4-E7D6-63D8-99890C055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862" y="1524501"/>
            <a:ext cx="3864864" cy="3101983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solidFill>
                  <a:srgbClr val="0070C0"/>
                </a:solidFill>
              </a:rPr>
              <a:t>// </a:t>
            </a:r>
            <a:r>
              <a:rPr lang="en-US" sz="8000" dirty="0" err="1">
                <a:solidFill>
                  <a:srgbClr val="0070C0"/>
                </a:solidFill>
              </a:rPr>
              <a:t>switch.blade.php</a:t>
            </a:r>
            <a:endParaRPr lang="en-US" sz="8000" dirty="0">
              <a:solidFill>
                <a:srgbClr val="0070C0"/>
              </a:solidFill>
            </a:endParaRPr>
          </a:p>
          <a:p>
            <a:endParaRPr lang="en-US" sz="8000" dirty="0">
              <a:solidFill>
                <a:srgbClr val="0070C0"/>
              </a:solidFill>
            </a:endParaRP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@switch($status)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@case('approved')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&lt;p&gt;Status: Approved ✅&lt;/p&gt;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@break</a:t>
            </a:r>
          </a:p>
          <a:p>
            <a:pPr>
              <a:lnSpc>
                <a:spcPts val="1350"/>
              </a:lnSpc>
            </a:pPr>
            <a:b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@case('pending')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&lt;p&gt;Status: Pending ⏳&lt;/p&gt;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@break</a:t>
            </a:r>
          </a:p>
          <a:p>
            <a:pPr>
              <a:lnSpc>
                <a:spcPts val="1350"/>
              </a:lnSpc>
            </a:pPr>
            <a:b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@case('rejected')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&lt;p&gt;Status: Rejected ❌&lt;/p&gt;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@break</a:t>
            </a:r>
          </a:p>
          <a:p>
            <a:pPr>
              <a:lnSpc>
                <a:spcPts val="1350"/>
              </a:lnSpc>
            </a:pPr>
            <a:b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@default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&lt;p&gt;Status: Unknown ❓&lt;/p&gt;</a:t>
            </a:r>
          </a:p>
          <a:p>
            <a:pPr>
              <a:lnSpc>
                <a:spcPts val="1350"/>
              </a:lnSpc>
            </a:pPr>
            <a:r>
              <a:rPr lang="en-US" sz="5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5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endswitch</a:t>
            </a:r>
            <a:endParaRPr lang="en-US" sz="5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C26C50-D950-B5B7-4A43-0680B4955318}"/>
              </a:ext>
            </a:extLst>
          </p:cNvPr>
          <p:cNvSpPr txBox="1">
            <a:spLocks/>
          </p:cNvSpPr>
          <p:nvPr/>
        </p:nvSpPr>
        <p:spPr>
          <a:xfrm>
            <a:off x="5123726" y="1724271"/>
            <a:ext cx="697181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70C0"/>
                </a:solidFill>
              </a:rPr>
              <a:t>// </a:t>
            </a:r>
            <a:r>
              <a:rPr lang="en-US" dirty="0" err="1">
                <a:solidFill>
                  <a:srgbClr val="0070C0"/>
                </a:solidFill>
              </a:rPr>
              <a:t>web.php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Route::get('/switch', function () { 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return view('switch', [ 'status' =&gt; 'approved' ] ) ; 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});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475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16379-D68A-EA48-BCFB-77C7D6D6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56419-C20B-9441-AF3F-F8F352D79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404040"/>
                </a:solidFill>
              </a:rPr>
              <a:t>In addition to conditional statements, </a:t>
            </a:r>
          </a:p>
          <a:p>
            <a:endParaRPr lang="en-MY">
              <a:solidFill>
                <a:srgbClr val="404040"/>
              </a:solidFill>
            </a:endParaRPr>
          </a:p>
          <a:p>
            <a:r>
              <a:rPr lang="en-MY">
                <a:solidFill>
                  <a:srgbClr val="404040"/>
                </a:solidFill>
              </a:rPr>
              <a:t>Blade provides simple directives for working with PHP's loop structures. </a:t>
            </a:r>
          </a:p>
          <a:p>
            <a:endParaRPr lang="en-MY">
              <a:solidFill>
                <a:srgbClr val="404040"/>
              </a:solidFill>
            </a:endParaRPr>
          </a:p>
          <a:p>
            <a:r>
              <a:rPr lang="en-MY">
                <a:solidFill>
                  <a:srgbClr val="404040"/>
                </a:solidFill>
              </a:rPr>
              <a:t>Again, each of these directives functions identically to their PHP counterparts:</a:t>
            </a:r>
            <a:endParaRPr lang="en-US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478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A52FE-48A4-9446-9A4D-F8C7540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3FDF-F53C-E546-985F-40862692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MY" sz="1700">
                <a:solidFill>
                  <a:srgbClr val="404040"/>
                </a:solidFill>
              </a:rPr>
              <a:t>In addition to conditional statements, Blade provides simple directives for working with PHP's loop structures. Again, each of these directives functions identically to their PHP counterparts:</a:t>
            </a:r>
          </a:p>
          <a:p>
            <a:pPr marL="0" indent="0">
              <a:lnSpc>
                <a:spcPct val="90000"/>
              </a:lnSpc>
              <a:buNone/>
            </a:pPr>
            <a:endParaRPr lang="en-MY" sz="170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MY" sz="1700">
                <a:solidFill>
                  <a:srgbClr val="404040"/>
                </a:solidFill>
              </a:rPr>
              <a:t>@for ($i = 0; $i &lt; 10; $i++) </a:t>
            </a:r>
          </a:p>
          <a:p>
            <a:pPr>
              <a:lnSpc>
                <a:spcPct val="90000"/>
              </a:lnSpc>
            </a:pPr>
            <a:endParaRPr lang="en-MY" sz="170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MY" sz="1700">
                <a:solidFill>
                  <a:srgbClr val="404040"/>
                </a:solidFill>
              </a:rPr>
              <a:t>The current value is {{ $i }} </a:t>
            </a:r>
          </a:p>
          <a:p>
            <a:pPr>
              <a:lnSpc>
                <a:spcPct val="90000"/>
              </a:lnSpc>
            </a:pPr>
            <a:endParaRPr lang="en-MY" sz="170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MY" sz="1700">
                <a:solidFill>
                  <a:srgbClr val="404040"/>
                </a:solidFill>
              </a:rPr>
              <a:t>@endfor</a:t>
            </a:r>
          </a:p>
          <a:p>
            <a:pPr>
              <a:lnSpc>
                <a:spcPct val="90000"/>
              </a:lnSpc>
            </a:pPr>
            <a:endParaRPr lang="en-MY" sz="17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014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67FE4-0EAC-1DE2-039F-EE0639BC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Foreach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D821F-4DBF-8F79-B80D-EF3D3C990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@foreach ($users as $user)</a:t>
            </a:r>
          </a:p>
          <a:p>
            <a:endParaRPr lang="en-MY" b="0" i="0" u="none" strike="noStrike">
              <a:solidFill>
                <a:srgbClr val="404040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&lt;p&gt;This is user {{ $user-&gt;id }}&lt;/p&gt;</a:t>
            </a:r>
          </a:p>
          <a:p>
            <a:endParaRPr lang="en-MY" b="0" i="0" u="none" strike="noStrike">
              <a:solidFill>
                <a:srgbClr val="404040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@endforeach</a:t>
            </a:r>
          </a:p>
          <a:p>
            <a:pPr marL="0" indent="0">
              <a:buNone/>
            </a:pPr>
            <a:endParaRPr lang="en-MY" b="0" i="0" u="none" strike="noStrike">
              <a:solidFill>
                <a:srgbClr val="404040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393204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4A4F9-69DC-F387-9FBA-F6754133C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579A4-107B-D565-B1BA-951342DB2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MY" b="0" i="0" u="none" strike="noStrike">
                <a:effectLst/>
                <a:highlight>
                  <a:srgbClr val="FFFF00"/>
                </a:highlight>
                <a:latin typeface="source-code-pro"/>
              </a:rPr>
              <a:t>// Assume we have a collection of users</a:t>
            </a:r>
          </a:p>
          <a:p>
            <a:r>
              <a:rPr lang="en-MY" b="0" i="0" u="none" strike="noStrike">
                <a:effectLst/>
                <a:latin typeface="source-code-pro"/>
              </a:rPr>
              <a:t> $users = App\Models\User::all(); </a:t>
            </a:r>
          </a:p>
          <a:p>
            <a:endParaRPr lang="en-MY">
              <a:latin typeface="source-code-pro"/>
            </a:endParaRPr>
          </a:p>
          <a:p>
            <a:r>
              <a:rPr lang="en-MY" b="0" i="0" u="none" strike="noStrike">
                <a:effectLst/>
                <a:highlight>
                  <a:srgbClr val="FFFF00"/>
                </a:highlight>
                <a:latin typeface="source-code-pro"/>
              </a:rPr>
              <a:t>// Iterate over each user and display their name </a:t>
            </a:r>
          </a:p>
          <a:p>
            <a:endParaRPr lang="en-MY" b="0" i="0" u="none" strike="noStrike">
              <a:effectLst/>
              <a:highlight>
                <a:srgbClr val="FFFF00"/>
              </a:highlight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effectLst/>
                <a:latin typeface="source-code-pro"/>
              </a:rPr>
              <a:t>@foreach($users as $user) </a:t>
            </a:r>
          </a:p>
          <a:p>
            <a:pPr marL="0" indent="0">
              <a:buNone/>
            </a:pPr>
            <a:endParaRPr lang="en-MY" b="0" i="0" u="none" strike="noStrike"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effectLst/>
                <a:latin typeface="source-code-pro"/>
              </a:rPr>
              <a:t>&lt;p&gt;{{ $user-&gt;name }}&lt;/p&gt; </a:t>
            </a:r>
          </a:p>
          <a:p>
            <a:pPr marL="0" indent="0">
              <a:buNone/>
            </a:pPr>
            <a:endParaRPr lang="en-MY" b="0" i="0" u="none" strike="noStrike"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effectLst/>
                <a:latin typeface="source-code-pro"/>
              </a:rPr>
              <a:t>@</a:t>
            </a:r>
            <a:r>
              <a:rPr lang="en-MY" b="0" i="0" u="none" strike="noStrike" err="1">
                <a:effectLst/>
                <a:latin typeface="source-code-pro"/>
              </a:rPr>
              <a:t>endforeach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94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8DA3-3CEB-0387-A457-E65FAAEC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817" y="189188"/>
            <a:ext cx="7729728" cy="778314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9EF93-7E62-AFF3-3B30-1012CD0AB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82" y="1677345"/>
            <a:ext cx="5986889" cy="3716457"/>
          </a:xfrm>
        </p:spPr>
        <p:txBody>
          <a:bodyPr>
            <a:noAutofit/>
          </a:bodyPr>
          <a:lstStyle/>
          <a:p>
            <a:pPr>
              <a:lnSpc>
                <a:spcPts val="1350"/>
              </a:lnSpc>
            </a:pPr>
            <a:r>
              <a:rPr lang="en-US" sz="1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US" sz="16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web.php</a:t>
            </a:r>
            <a:endParaRPr lang="en-US" sz="1600" b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600" dirty="0">
              <a:solidFill>
                <a:srgbClr val="0070C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Route::get('/products', function () {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$products = [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['name' =&gt; 'Laptop', 'price' =&gt; 1200],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['name' =&gt; 'Phone', 'price' =&gt; 800],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['name' =&gt; 'Tablet', 'price' =&gt; 600],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return view('products', ['products' =&gt; $products]);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});</a:t>
            </a:r>
          </a:p>
          <a:p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CBE49C-8C99-65E1-B4F7-6F44FFFD9A1E}"/>
              </a:ext>
            </a:extLst>
          </p:cNvPr>
          <p:cNvSpPr txBox="1">
            <a:spLocks/>
          </p:cNvSpPr>
          <p:nvPr/>
        </p:nvSpPr>
        <p:spPr>
          <a:xfrm>
            <a:off x="6832922" y="1459355"/>
            <a:ext cx="4632651" cy="31019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50"/>
              </a:lnSpc>
            </a:pP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</a:rPr>
              <a:t>//</a:t>
            </a:r>
            <a:r>
              <a:rPr lang="en-US" sz="1600" dirty="0" err="1">
                <a:solidFill>
                  <a:schemeClr val="tx1"/>
                </a:solidFill>
                <a:latin typeface="Menlo" panose="020B0609030804020204" pitchFamily="49" charset="0"/>
              </a:rPr>
              <a:t>products.blade.php</a:t>
            </a:r>
            <a:endParaRPr lang="en-US" sz="1600" dirty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600" dirty="0">
              <a:solidFill>
                <a:srgbClr val="0070C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&lt;!DOCTYPE html&gt;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&lt;html&gt;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&lt;head&gt;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&lt;title&gt;Products List&lt;/title&gt;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&lt;/head&gt;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&lt;body&gt;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&lt;h1&gt;Products&lt;/h1&gt;</a:t>
            </a:r>
          </a:p>
          <a:p>
            <a:pPr>
              <a:lnSpc>
                <a:spcPts val="1350"/>
              </a:lnSpc>
            </a:pPr>
            <a:b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</a:b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0070C0"/>
                </a:solidFill>
                <a:latin typeface="Menlo" panose="020B0609030804020204" pitchFamily="49" charset="0"/>
              </a:rPr>
              <a:t>ul</a:t>
            </a: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@foreach ($products as $product)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&lt;li&gt;{{ $product['name'] }} - ${{ $product['price'] }}&lt;/li&gt;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@</a:t>
            </a:r>
            <a:r>
              <a:rPr lang="en-US" sz="1600" dirty="0" err="1">
                <a:solidFill>
                  <a:srgbClr val="0070C0"/>
                </a:solidFill>
                <a:latin typeface="Menlo" panose="020B0609030804020204" pitchFamily="49" charset="0"/>
              </a:rPr>
              <a:t>endforeach</a:t>
            </a:r>
            <a:endParaRPr lang="en-US" sz="1600" dirty="0">
              <a:solidFill>
                <a:srgbClr val="0070C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 err="1">
                <a:solidFill>
                  <a:srgbClr val="0070C0"/>
                </a:solidFill>
                <a:latin typeface="Menlo" panose="020B0609030804020204" pitchFamily="49" charset="0"/>
              </a:rPr>
              <a:t>ul</a:t>
            </a: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&gt;</a:t>
            </a:r>
          </a:p>
          <a:p>
            <a:pPr>
              <a:lnSpc>
                <a:spcPts val="1350"/>
              </a:lnSpc>
            </a:pPr>
            <a:b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</a:b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&lt;/body&gt;</a:t>
            </a:r>
          </a:p>
          <a:p>
            <a:pPr>
              <a:lnSpc>
                <a:spcPts val="1350"/>
              </a:lnSpc>
            </a:pP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&lt;/html&gt;</a:t>
            </a:r>
          </a:p>
          <a:p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894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3C31A-6E22-06B8-8243-B9041A57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 err="1"/>
              <a:t>Forelse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4D49D-3F14-3DE1-3B6F-9E889731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@forelse ($users as $user)</a:t>
            </a: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&lt;li&gt;{{ $user-&gt;name }}&lt;/li&gt;</a:t>
            </a:r>
          </a:p>
          <a:p>
            <a:endParaRPr lang="en-MY" b="0" i="0" u="none" strike="noStrike">
              <a:solidFill>
                <a:srgbClr val="404040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//</a:t>
            </a:r>
            <a:r>
              <a:rPr lang="en-MY">
                <a:solidFill>
                  <a:srgbClr val="404040"/>
                </a:solidFill>
                <a:latin typeface="source-code-pro"/>
              </a:rPr>
              <a:t>in case of no data will this play this</a:t>
            </a:r>
            <a:endParaRPr lang="en-MY" b="0" i="0" u="none" strike="noStrike">
              <a:solidFill>
                <a:srgbClr val="404040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@empty</a:t>
            </a: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&lt;p&gt;No users&lt;/p&gt;</a:t>
            </a:r>
          </a:p>
          <a:p>
            <a:pPr marL="0" indent="0">
              <a:buNone/>
            </a:pPr>
            <a:r>
              <a:rPr lang="en-MY" b="0" i="0" u="none" strike="noStrike">
                <a:solidFill>
                  <a:srgbClr val="404040"/>
                </a:solidFill>
                <a:effectLst/>
                <a:latin typeface="source-code-pro"/>
              </a:rPr>
              <a:t>@endforelse</a:t>
            </a:r>
          </a:p>
          <a:p>
            <a:endParaRPr lang="en-US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75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F4AE-F835-AF2C-342E-37FE3558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3050F-9E32-C3F2-2A75-8F0A1F480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MY" sz="3200" b="0" i="0" u="none" strike="noStrike">
                <a:solidFill>
                  <a:srgbClr val="C792EA"/>
                </a:solidFill>
                <a:effectLst/>
                <a:latin typeface="source-code-pro"/>
              </a:rPr>
              <a:t>@while </a:t>
            </a:r>
            <a:r>
              <a:rPr lang="en-MY" sz="3200" b="0" i="0" u="none" strike="noStrike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MY" sz="3200" b="0" i="0" u="none" strike="noStrike">
                <a:solidFill>
                  <a:srgbClr val="82AAFF"/>
                </a:solidFill>
                <a:effectLst/>
                <a:latin typeface="source-code-pro"/>
              </a:rPr>
              <a:t>true</a:t>
            </a:r>
            <a:r>
              <a:rPr lang="en-MY" sz="3200" b="0" i="0" u="none" strike="noStrike">
                <a:solidFill>
                  <a:srgbClr val="BFC7D5"/>
                </a:solidFill>
                <a:effectLst/>
                <a:latin typeface="source-code-pro"/>
              </a:rPr>
              <a:t>)</a:t>
            </a:r>
          </a:p>
          <a:p>
            <a:pPr algn="l"/>
            <a:endParaRPr lang="en-MY" sz="3200" b="0" i="0" u="none" strike="noStrike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MY" sz="3200" b="0" i="0" u="none" strike="noStrike">
                <a:solidFill>
                  <a:srgbClr val="89DDFF"/>
                </a:solidFill>
                <a:effectLst/>
                <a:latin typeface="source-code-pro"/>
              </a:rPr>
              <a:t>&lt;</a:t>
            </a:r>
            <a:r>
              <a:rPr lang="en-MY" sz="3200" b="0" i="0" u="none" strike="noStrike">
                <a:solidFill>
                  <a:srgbClr val="FF5572"/>
                </a:solidFill>
                <a:effectLst/>
                <a:latin typeface="source-code-pro"/>
              </a:rPr>
              <a:t>p</a:t>
            </a:r>
            <a:r>
              <a:rPr lang="en-MY" sz="3200" b="0" i="0" u="none" strike="noStrike">
                <a:solidFill>
                  <a:srgbClr val="89DDFF"/>
                </a:solidFill>
                <a:effectLst/>
                <a:latin typeface="source-code-pro"/>
              </a:rPr>
              <a:t>&gt;</a:t>
            </a:r>
            <a:r>
              <a:rPr lang="en-MY" sz="3200" b="0" i="0" u="none" strike="noStrike">
                <a:solidFill>
                  <a:schemeClr val="tx1"/>
                </a:solidFill>
                <a:effectLst/>
                <a:latin typeface="source-code-pro"/>
              </a:rPr>
              <a:t>I'm looping forever.</a:t>
            </a:r>
            <a:r>
              <a:rPr lang="en-MY" sz="3200" b="0" i="0" u="none" strike="noStrike">
                <a:solidFill>
                  <a:srgbClr val="89DDFF"/>
                </a:solidFill>
                <a:effectLst/>
                <a:latin typeface="source-code-pro"/>
              </a:rPr>
              <a:t>&lt;/</a:t>
            </a:r>
            <a:r>
              <a:rPr lang="en-MY" sz="3200" b="0" i="0" u="none" strike="noStrike">
                <a:solidFill>
                  <a:srgbClr val="FF5572"/>
                </a:solidFill>
                <a:effectLst/>
                <a:latin typeface="source-code-pro"/>
              </a:rPr>
              <a:t>p</a:t>
            </a:r>
            <a:r>
              <a:rPr lang="en-MY" sz="3200" b="0" i="0" u="none" strike="noStrike">
                <a:solidFill>
                  <a:srgbClr val="89DDFF"/>
                </a:solidFill>
                <a:effectLst/>
                <a:latin typeface="source-code-pro"/>
              </a:rPr>
              <a:t>&gt;</a:t>
            </a:r>
          </a:p>
          <a:p>
            <a:pPr algn="l"/>
            <a:endParaRPr lang="en-MY" sz="3200" b="0" i="0" u="none" strike="noStrike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MY" sz="3200" b="0" i="0" u="none" strike="noStrike">
                <a:solidFill>
                  <a:srgbClr val="C792EA"/>
                </a:solidFill>
                <a:effectLst/>
                <a:latin typeface="source-code-pro"/>
              </a:rPr>
              <a:t>@endwhile</a:t>
            </a:r>
            <a:endParaRPr lang="en-MY" sz="3200" b="0" i="0" u="none" strike="noStrike">
              <a:solidFill>
                <a:srgbClr val="232323"/>
              </a:solidFill>
              <a:effectLst/>
              <a:latin typeface="source-code-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32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69A5-A7B8-8319-F219-57F90E6D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ED94B-1D2E-A71D-7EB9-B9D2111E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414" y="2638044"/>
            <a:ext cx="8323450" cy="40675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MY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form action=” " method="POST" </a:t>
            </a:r>
            <a:r>
              <a:rPr lang="en-MY" sz="25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enctype</a:t>
            </a: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="multipart/form-data"&gt;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MY" sz="2500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csrf</a:t>
            </a:r>
            <a:r>
              <a:rPr lang="en-MY" sz="2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b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&lt;div&gt;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MY" sz="25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lable</a:t>
            </a: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&gt;Post Description&lt;/</a:t>
            </a:r>
            <a:r>
              <a:rPr lang="en-MY" sz="25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lable</a:t>
            </a: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&lt;input type="text" name="description" value="{{$data-&gt;description}}"&gt;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MY" sz="25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br</a:t>
            </a:r>
            <a:r>
              <a:rPr lang="en-MY" sz="25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MY" sz="2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MY" sz="2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MY" sz="2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MY" sz="2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MY" sz="25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"submit"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MY" sz="2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MY" sz="25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"Update Post"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MY" sz="2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style</a:t>
            </a:r>
            <a:r>
              <a:rPr lang="en-MY" sz="2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MY" sz="25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"background: </a:t>
            </a:r>
            <a:r>
              <a:rPr lang="en-MY" sz="25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greenyellow</a:t>
            </a:r>
            <a:r>
              <a:rPr lang="en-MY" sz="25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; cursor: pointer; padding: 10px; border-radius: 10px;"</a:t>
            </a: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MY" sz="2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MY" sz="2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MY" sz="25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MY" sz="2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</a:rPr>
              <a:t>&lt;/form&gt;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8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191862-5458-774D-943A-381E18616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57" y="1465668"/>
            <a:ext cx="7903029" cy="392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537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{782F27AD-D757-734A-9427-111EA8F79CC3}tf10001120</Template>
  <TotalTime>11491</TotalTime>
  <Words>1386</Words>
  <Application>Microsoft Macintosh PowerPoint</Application>
  <PresentationFormat>Widescreen</PresentationFormat>
  <Paragraphs>238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Gill Sans MT</vt:lpstr>
      <vt:lpstr>Menlo</vt:lpstr>
      <vt:lpstr>source-code-pro</vt:lpstr>
      <vt:lpstr>Parcel</vt:lpstr>
      <vt:lpstr>BIIT 2305 Web Application Development  Blade Template</vt:lpstr>
      <vt:lpstr>MVC</vt:lpstr>
      <vt:lpstr>outline</vt:lpstr>
      <vt:lpstr>Blade template</vt:lpstr>
      <vt:lpstr>Blade template</vt:lpstr>
      <vt:lpstr>Passing Data</vt:lpstr>
      <vt:lpstr>Example</vt:lpstr>
      <vt:lpstr>Blade expression</vt:lpstr>
      <vt:lpstr>Blade Directives @</vt:lpstr>
      <vt:lpstr>If Statements</vt:lpstr>
      <vt:lpstr>Blade directives (If condition)</vt:lpstr>
      <vt:lpstr>If Statements cont..</vt:lpstr>
      <vt:lpstr>Example:</vt:lpstr>
      <vt:lpstr>== vs ===</vt:lpstr>
      <vt:lpstr>When to Use Which? </vt:lpstr>
      <vt:lpstr>Switch Statements</vt:lpstr>
      <vt:lpstr>Example</vt:lpstr>
      <vt:lpstr>Loops</vt:lpstr>
      <vt:lpstr>For loops</vt:lpstr>
      <vt:lpstr>Foreach loop</vt:lpstr>
      <vt:lpstr>Example</vt:lpstr>
      <vt:lpstr>Example</vt:lpstr>
      <vt:lpstr>Forelse</vt:lpstr>
      <vt:lpstr>While loop</vt:lpstr>
      <vt:lpstr>Create 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3305 Web Application Development</dc:title>
  <dc:creator>Microsoft Office User</dc:creator>
  <cp:lastModifiedBy>NAJHAN BIN MUHAMAD IBRAHIM</cp:lastModifiedBy>
  <cp:revision>143</cp:revision>
  <dcterms:created xsi:type="dcterms:W3CDTF">2020-10-08T03:38:21Z</dcterms:created>
  <dcterms:modified xsi:type="dcterms:W3CDTF">2026-04-27T01:54:53Z</dcterms:modified>
</cp:coreProperties>
</file>